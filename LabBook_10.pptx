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95" r:id="rId3"/>
    <p:sldId id="290" r:id="rId4"/>
    <p:sldId id="298" r:id="rId5"/>
    <p:sldId id="299" r:id="rId6"/>
    <p:sldId id="300" r:id="rId7"/>
    <p:sldId id="301" r:id="rId8"/>
    <p:sldId id="302" r:id="rId9"/>
    <p:sldId id="291" r:id="rId10"/>
    <p:sldId id="292" r:id="rId11"/>
    <p:sldId id="297" r:id="rId12"/>
    <p:sldId id="304" r:id="rId13"/>
    <p:sldId id="293" r:id="rId14"/>
    <p:sldId id="288" r:id="rId15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5033" autoAdjust="0"/>
  </p:normalViewPr>
  <p:slideViewPr>
    <p:cSldViewPr>
      <p:cViewPr varScale="1">
        <p:scale>
          <a:sx n="70" d="100"/>
          <a:sy n="70" d="100"/>
        </p:scale>
        <p:origin x="84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3FB40-1E40-22EB-93C1-6B835D98F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8030589-A145-40EE-9064-91666B27A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082170F-A37E-FA6B-ABDE-2A7351CC7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E3B59B-276F-1CDF-B1E7-F7A562B923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8651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1E47B-D8E8-6A83-BFC1-78B5DC0BD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493F0E0-6DE5-ACC0-89BA-EEC5FC552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74D3571-FAFB-BEF0-F218-5210CF166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01A887D-C730-2194-1E98-D0A3902965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4097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9E0E1-889B-5C31-0C72-2CA2F7F41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4D06B5C-5C99-F1F4-62F1-C291F47681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8F30995-289D-3AA2-B146-DBD529C8B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675D2F-4746-AE29-56AE-6591D9E83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5134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B3C21-9081-6A43-F58D-5C187040A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121EA58-25DA-0A30-A173-19783DF3C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F6F8406-36E8-3C32-4A86-A739B9DED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0649894-7D32-937A-FA0C-55F9E9B96F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8979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9D0C2-397E-8105-E3E1-2BC3768F0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1C6296F-5448-1FF8-82DA-92CC1A2E1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F94986B-99B0-FBA5-1B73-63632D859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365D35-8DC0-5504-6D4A-917264320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75785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C5711-C157-AA5E-1EA1-9F4C3F40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FA117F6-F66D-FFD4-422F-EBD94B31F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B512FE-9F6C-4ABD-23FA-CA518B458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24E7A5-CBFC-658B-8E88-8AF8084D5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29614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3BBE-3704-D894-1C10-5488EE61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BB04E2-F70F-42F7-9964-3D274C49F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664AEC-7D1D-9DDC-3B94-3AE8450C7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F62EEB-2D30-2026-D252-4267AF688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60790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9AA65-166B-474B-A6C9-9858D86A9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158223-A8BA-05F6-464C-EC03A9FB8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ECB4DF-C329-8F47-9ECE-661B5B2BF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1B2276-A4E2-DFBF-0088-6997E86C9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23159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150C5-15DF-CD6C-3007-DD3E19C29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93A849B-ACED-18DD-C528-E2302D5086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0C81D8D-46BE-AE7D-B72D-C1D365571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96256BB-09F9-C1A4-E637-8A0333BBEC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31837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3B86-D15F-9CD8-C5EA-3EAAD8BAC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73881A-26A5-ECF9-C6F2-3DEFA77AE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7AFC79-4973-3930-959B-AEF8810CF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45D0F3-6273-0338-FCDA-175B73D7C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7382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 WAVEGUIDES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 WAVEGUIDES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 WAVEGUIDES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1.0. </a:t>
            </a:r>
            <a:r>
              <a:rPr lang="es-ES" sz="3200" b="1" dirty="0" err="1">
                <a:latin typeface="Lucida Sans"/>
                <a:cs typeface="Lucida Sans"/>
              </a:rPr>
              <a:t>Waveguides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https://github.com/cccanvas-upv/cifoin-lab1.git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 err="1">
                <a:solidFill>
                  <a:sysClr val="windowText" lastClr="000000"/>
                </a:solidFill>
              </a:rPr>
              <a:t>WAVEGUIDES_Student.ipynb</a:t>
            </a:r>
            <a:r>
              <a:rPr lang="en-US" kern="0" dirty="0">
                <a:solidFill>
                  <a:sysClr val="windowText" lastClr="000000"/>
                </a:solidFill>
              </a:rPr>
              <a:t> </a:t>
            </a:r>
          </a:p>
          <a:p>
            <a:pPr algn="just"/>
            <a:endParaRPr lang="en-US" sz="2000" b="1" i="1" u="sng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902765" y="3422925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1747061" y="3983757"/>
            <a:ext cx="76200" cy="986155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1091131" y="4210910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  <a:endParaRPr sz="140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1984805" y="3773445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2504743" y="3532730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1984805" y="3983757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3983988" y="4338253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391400" y="3422925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8473440" y="3773445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8993378" y="3532730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8473440" y="3983757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10472623" y="4338253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0" name="object 73">
            <a:extLst>
              <a:ext uri="{FF2B5EF4-FFF2-40B4-BE49-F238E27FC236}">
                <a16:creationId xmlns:a16="http://schemas.microsoft.com/office/drawing/2014/main" id="{C699977C-9138-F9B9-E43D-0CCB01AEB75F}"/>
              </a:ext>
            </a:extLst>
          </p:cNvPr>
          <p:cNvSpPr txBox="1"/>
          <p:nvPr/>
        </p:nvSpPr>
        <p:spPr>
          <a:xfrm>
            <a:off x="7391400" y="4690819"/>
            <a:ext cx="39061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lang="es-ES" sz="2350" dirty="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</a:pPr>
            <a:r>
              <a:rPr lang="es-ES" sz="1600" b="1" spc="-10" dirty="0" err="1">
                <a:latin typeface="Calibri"/>
                <a:cs typeface="Calibri"/>
              </a:rPr>
              <a:t>Slab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2" name="object 62">
            <a:extLst>
              <a:ext uri="{FF2B5EF4-FFF2-40B4-BE49-F238E27FC236}">
                <a16:creationId xmlns:a16="http://schemas.microsoft.com/office/drawing/2014/main" id="{04561701-4B4F-F208-98F6-2DAB5C1138D3}"/>
              </a:ext>
            </a:extLst>
          </p:cNvPr>
          <p:cNvSpPr/>
          <p:nvPr/>
        </p:nvSpPr>
        <p:spPr>
          <a:xfrm>
            <a:off x="8575910" y="3994221"/>
            <a:ext cx="56259" cy="694989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62">
            <a:extLst>
              <a:ext uri="{FF2B5EF4-FFF2-40B4-BE49-F238E27FC236}">
                <a16:creationId xmlns:a16="http://schemas.microsoft.com/office/drawing/2014/main" id="{CCA3B0D6-0C9E-B4A6-FA43-1AB5F1821674}"/>
              </a:ext>
            </a:extLst>
          </p:cNvPr>
          <p:cNvSpPr/>
          <p:nvPr/>
        </p:nvSpPr>
        <p:spPr>
          <a:xfrm>
            <a:off x="8233207" y="4689210"/>
            <a:ext cx="55008" cy="613272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63">
            <a:extLst>
              <a:ext uri="{FF2B5EF4-FFF2-40B4-BE49-F238E27FC236}">
                <a16:creationId xmlns:a16="http://schemas.microsoft.com/office/drawing/2014/main" id="{6394166D-0522-24AD-E666-39FE8A3FDC24}"/>
              </a:ext>
            </a:extLst>
          </p:cNvPr>
          <p:cNvSpPr txBox="1"/>
          <p:nvPr/>
        </p:nvSpPr>
        <p:spPr>
          <a:xfrm>
            <a:off x="8351994" y="4887127"/>
            <a:ext cx="674053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dirty="0" err="1">
                <a:latin typeface="Calibri"/>
                <a:cs typeface="Calibri"/>
              </a:rPr>
              <a:t>h_slab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2" name="object 63">
            <a:extLst>
              <a:ext uri="{FF2B5EF4-FFF2-40B4-BE49-F238E27FC236}">
                <a16:creationId xmlns:a16="http://schemas.microsoft.com/office/drawing/2014/main" id="{B589EB7D-B26E-4239-A5C2-F96DBBE82162}"/>
              </a:ext>
            </a:extLst>
          </p:cNvPr>
          <p:cNvSpPr txBox="1"/>
          <p:nvPr/>
        </p:nvSpPr>
        <p:spPr>
          <a:xfrm>
            <a:off x="8706378" y="3990085"/>
            <a:ext cx="138017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spc="-10" dirty="0" err="1">
                <a:latin typeface="Calibri"/>
                <a:cs typeface="Calibri"/>
              </a:rPr>
              <a:t>h_core</a:t>
            </a:r>
            <a:r>
              <a:rPr lang="es-ES" sz="1400" spc="-10" dirty="0">
                <a:latin typeface="Calibri"/>
                <a:cs typeface="Calibri"/>
              </a:rPr>
              <a:t> 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9306491" y="5257071"/>
            <a:ext cx="198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shallow</a:t>
            </a:r>
            <a:r>
              <a:rPr lang="en-US" dirty="0"/>
              <a:t> waveguide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2969899" y="5257071"/>
            <a:ext cx="215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</p:txBody>
      </p:sp>
    </p:spTree>
    <p:extLst>
      <p:ext uri="{BB962C8B-B14F-4D97-AF65-F5344CB8AC3E}">
        <p14:creationId xmlns:p14="http://schemas.microsoft.com/office/powerpoint/2010/main" val="473922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Effective index of a waveguide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AA9E72FF-B948-6B7A-8909-97C6BE95D6FB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INSTRUCTOR: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Present Python and </a:t>
            </a:r>
            <a:r>
              <a:rPr lang="en-US" sz="2000" dirty="0" err="1"/>
              <a:t>GDSFactory</a:t>
            </a:r>
            <a:r>
              <a:rPr lang="en-US" sz="2000" dirty="0"/>
              <a:t>: materials, output, results.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Explain how to run a simulation for a particular cross-section.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Showcase how to change between shallow and deep waveguide.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Describe how to change the wavelength and width for the waveguide analysis.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Describe the outputs.</a:t>
            </a:r>
          </a:p>
          <a:p>
            <a:pPr marL="0" indent="0" algn="just">
              <a:buNone/>
            </a:pPr>
            <a:r>
              <a:rPr lang="en-US" sz="2000" b="1" dirty="0"/>
              <a:t>ALL EXAMPLE #1: </a:t>
            </a:r>
            <a:r>
              <a:rPr lang="en-US" sz="2000" dirty="0"/>
              <a:t>waveguide width 1.2 µm, deep </a:t>
            </a:r>
            <a:r>
              <a:rPr lang="en-US" sz="2000" dirty="0" err="1"/>
              <a:t>wvg</a:t>
            </a:r>
            <a:r>
              <a:rPr lang="en-US" sz="2000" dirty="0"/>
              <a:t>, wavelength start and end same 1.55 µm </a:t>
            </a:r>
            <a:r>
              <a:rPr lang="en-US" sz="2000" dirty="0">
                <a:sym typeface="Wingdings" pitchFamily="2" charset="2"/>
              </a:rPr>
              <a:t> all ”Run”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b="1" dirty="0"/>
              <a:t>ALL: </a:t>
            </a:r>
            <a:r>
              <a:rPr lang="en-US" sz="2000" dirty="0"/>
              <a:t>Follow</a:t>
            </a:r>
            <a:r>
              <a:rPr lang="en-US" sz="2000" b="1" dirty="0"/>
              <a:t> </a:t>
            </a:r>
            <a:r>
              <a:rPr lang="en-US" sz="2000" dirty="0"/>
              <a:t>instructor, that will show how to 1) plot mode, 2) explore the results (neff …)</a:t>
            </a:r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F8CF3B-B920-DBFC-F825-0C87B51EADA7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(neff, plot fields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of different modes,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comparison between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different polarizations…)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BF646-428F-0B96-C2BC-97328078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2C975037-73EF-4A30-10D7-D4F0AE8B4A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500" spc="-5" dirty="0" err="1">
                <a:latin typeface="+mj-lt"/>
                <a:cs typeface="Lucida Sans"/>
              </a:rPr>
              <a:t>Índice</a:t>
            </a:r>
            <a:r>
              <a:rPr lang="en-US" sz="2500" spc="-5" dirty="0">
                <a:latin typeface="+mj-lt"/>
                <a:cs typeface="Lucida Sans"/>
              </a:rPr>
              <a:t> de </a:t>
            </a:r>
            <a:r>
              <a:rPr lang="en-US" sz="2500" spc="-5" dirty="0" err="1">
                <a:latin typeface="+mj-lt"/>
                <a:cs typeface="Lucida Sans"/>
              </a:rPr>
              <a:t>refracción</a:t>
            </a:r>
            <a:r>
              <a:rPr lang="en-US" sz="2500" spc="-5" dirty="0">
                <a:latin typeface="+mj-lt"/>
                <a:cs typeface="Lucida Sans"/>
              </a:rPr>
              <a:t> de </a:t>
            </a:r>
            <a:r>
              <a:rPr lang="en-US" sz="2500" spc="-5" dirty="0" err="1">
                <a:latin typeface="+mj-lt"/>
                <a:cs typeface="Lucida Sans"/>
              </a:rPr>
              <a:t>los</a:t>
            </a:r>
            <a:r>
              <a:rPr lang="en-US" sz="2500" spc="-5" dirty="0">
                <a:latin typeface="+mj-lt"/>
                <a:cs typeface="Lucida Sans"/>
              </a:rPr>
              <a:t> </a:t>
            </a:r>
            <a:r>
              <a:rPr lang="en-US" sz="2500" spc="-5" dirty="0" err="1">
                <a:latin typeface="+mj-lt"/>
                <a:cs typeface="Lucida Sans"/>
              </a:rPr>
              <a:t>materiales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it-IT" b="0" dirty="0"/>
              <a:t>silicon (Si), silicon nitride (SiNx) and silicon dioxide (SiO2)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1695E241-0043-12E0-F5F8-CB1C4BB874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E81D7E26-0733-FC35-33D6-66E68C5469C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A56B824-BD40-5330-6EA0-6B5661E9ABB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5345749-E655-9D88-0D90-86C338DED85A}"/>
              </a:ext>
            </a:extLst>
          </p:cNvPr>
          <p:cNvSpPr/>
          <p:nvPr/>
        </p:nvSpPr>
        <p:spPr>
          <a:xfrm>
            <a:off x="648869" y="1946357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28B2D1C-40DE-A250-24D8-2ED7FFA107A9}"/>
              </a:ext>
            </a:extLst>
          </p:cNvPr>
          <p:cNvSpPr/>
          <p:nvPr/>
        </p:nvSpPr>
        <p:spPr>
          <a:xfrm>
            <a:off x="6516269" y="1946357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3163B69-B434-41F1-5EA5-ED3D43A61E79}"/>
              </a:ext>
            </a:extLst>
          </p:cNvPr>
          <p:cNvSpPr txBox="1"/>
          <p:nvPr/>
        </p:nvSpPr>
        <p:spPr>
          <a:xfrm>
            <a:off x="630003" y="2053964"/>
            <a:ext cx="11828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 err="1"/>
              <a:t>Crystalline</a:t>
            </a:r>
            <a:r>
              <a:rPr lang="es-ES" b="1" dirty="0"/>
              <a:t> Silicon</a:t>
            </a:r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164E83-CD23-F97B-B79C-5CAE88DA28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2809" y="2053964"/>
            <a:ext cx="3967109" cy="30908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A23EFA-B0D9-E140-DA41-E4A6A140F3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3902" y="2093058"/>
            <a:ext cx="3916308" cy="2999866"/>
          </a:xfrm>
          <a:prstGeom prst="rect">
            <a:avLst/>
          </a:prstGeom>
        </p:spPr>
      </p:pic>
      <p:sp>
        <p:nvSpPr>
          <p:cNvPr id="13" name="CuadroTexto 8">
            <a:extLst>
              <a:ext uri="{FF2B5EF4-FFF2-40B4-BE49-F238E27FC236}">
                <a16:creationId xmlns:a16="http://schemas.microsoft.com/office/drawing/2014/main" id="{A8115F2B-BE4A-3451-46F0-C9C565F4C9EC}"/>
              </a:ext>
            </a:extLst>
          </p:cNvPr>
          <p:cNvSpPr txBox="1"/>
          <p:nvPr/>
        </p:nvSpPr>
        <p:spPr>
          <a:xfrm>
            <a:off x="6541290" y="2093058"/>
            <a:ext cx="11828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Silicon </a:t>
            </a:r>
            <a:r>
              <a:rPr lang="es-ES" b="1" dirty="0" err="1"/>
              <a:t>Nitride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42994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C3B66-A164-4555-50CF-BD59818D1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CA535699-A46F-B0D8-37E6-2E0F6A0FA3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500" spc="-5" dirty="0" err="1">
                <a:latin typeface="+mj-lt"/>
                <a:cs typeface="Lucida Sans"/>
              </a:rPr>
              <a:t>Índice</a:t>
            </a:r>
            <a:r>
              <a:rPr lang="en-US" sz="2500" spc="-5" dirty="0">
                <a:latin typeface="+mj-lt"/>
                <a:cs typeface="Lucida Sans"/>
              </a:rPr>
              <a:t> de </a:t>
            </a:r>
            <a:r>
              <a:rPr lang="en-US" sz="2500" spc="-5" dirty="0" err="1">
                <a:latin typeface="+mj-lt"/>
                <a:cs typeface="Lucida Sans"/>
              </a:rPr>
              <a:t>refracción</a:t>
            </a:r>
            <a:r>
              <a:rPr lang="en-US" sz="2500" spc="-5" dirty="0">
                <a:latin typeface="+mj-lt"/>
                <a:cs typeface="Lucida Sans"/>
              </a:rPr>
              <a:t> de </a:t>
            </a:r>
            <a:r>
              <a:rPr lang="en-US" sz="2500" spc="-5" dirty="0" err="1">
                <a:latin typeface="+mj-lt"/>
                <a:cs typeface="Lucida Sans"/>
              </a:rPr>
              <a:t>los</a:t>
            </a:r>
            <a:r>
              <a:rPr lang="en-US" sz="2500" spc="-5" dirty="0">
                <a:latin typeface="+mj-lt"/>
                <a:cs typeface="Lucida Sans"/>
              </a:rPr>
              <a:t> </a:t>
            </a:r>
            <a:r>
              <a:rPr lang="en-US" sz="2500" spc="-5" dirty="0" err="1">
                <a:latin typeface="+mj-lt"/>
                <a:cs typeface="Lucida Sans"/>
              </a:rPr>
              <a:t>materiales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it-IT" b="0" dirty="0"/>
              <a:t>silicon (Si), silicon nitride (SiNx) and silicon dioxide (SiO2)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2C70184C-F2B8-1A5B-B77B-AFE8AA46B7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94040C36-2C0C-DC29-A938-2F266271980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22B2395-9711-36D9-A53C-F8737DFA664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5F9EC6D-0906-CC21-3E63-1F32068C16A0}"/>
              </a:ext>
            </a:extLst>
          </p:cNvPr>
          <p:cNvSpPr txBox="1"/>
          <p:nvPr/>
        </p:nvSpPr>
        <p:spPr>
          <a:xfrm>
            <a:off x="549471" y="4859804"/>
            <a:ext cx="1119997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Podemos observer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aumentar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longitude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reduce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3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materiales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Esto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ocurre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__________________.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Además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materiales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son,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comparándolos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otros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mayores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Si, de un valor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intermedio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SiNx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bajos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SiO2.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D9C0481-A6EE-9598-D8AF-5A9903013BD6}"/>
              </a:ext>
            </a:extLst>
          </p:cNvPr>
          <p:cNvSpPr/>
          <p:nvPr/>
        </p:nvSpPr>
        <p:spPr>
          <a:xfrm>
            <a:off x="3505640" y="131378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adroTexto 8">
            <a:extLst>
              <a:ext uri="{FF2B5EF4-FFF2-40B4-BE49-F238E27FC236}">
                <a16:creationId xmlns:a16="http://schemas.microsoft.com/office/drawing/2014/main" id="{5491D77C-7910-7F23-2D8C-AFEC5CC129D5}"/>
              </a:ext>
            </a:extLst>
          </p:cNvPr>
          <p:cNvSpPr txBox="1"/>
          <p:nvPr/>
        </p:nvSpPr>
        <p:spPr>
          <a:xfrm>
            <a:off x="3581840" y="1349040"/>
            <a:ext cx="11828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Silicon </a:t>
            </a:r>
            <a:r>
              <a:rPr lang="es-ES" b="1" dirty="0" err="1"/>
              <a:t>dioxide</a:t>
            </a:r>
            <a:endParaRPr lang="es-E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776705-B472-71ED-943D-800F9B77E4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1398031"/>
            <a:ext cx="4151196" cy="313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596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62AA8-86F0-5FCB-C97D-5D5233525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38A2E9F8-CD4F-FB48-101C-54E0C07019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500" spc="-5" dirty="0" err="1">
                <a:latin typeface="+mj-lt"/>
                <a:cs typeface="Lucida Sans"/>
              </a:rPr>
              <a:t>Definición</a:t>
            </a:r>
            <a:r>
              <a:rPr lang="en-US" sz="2500" spc="-5" dirty="0">
                <a:latin typeface="+mj-lt"/>
                <a:cs typeface="Lucida Sans"/>
              </a:rPr>
              <a:t> de la Cross-Section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Wavelength 1.55 µm – width 1.2 µm - </a:t>
            </a:r>
            <a:r>
              <a:rPr lang="es-ES" b="0" dirty="0" err="1"/>
              <a:t>height</a:t>
            </a:r>
            <a:r>
              <a:rPr lang="es-ES" b="0" dirty="0"/>
              <a:t> 300 nm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80CC0540-8670-695D-D483-927E7AE08C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C27350B-4214-7DD7-2A6B-88232AABE2C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50FB005-F91D-83D2-8D46-761E904DD2D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4CD8912-4029-99CB-555D-57748646C40E}"/>
              </a:ext>
            </a:extLst>
          </p:cNvPr>
          <p:cNvSpPr/>
          <p:nvPr/>
        </p:nvSpPr>
        <p:spPr>
          <a:xfrm>
            <a:off x="549471" y="1487206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C27B780-CE70-6C8A-E5F9-4AED87C1B137}"/>
              </a:ext>
            </a:extLst>
          </p:cNvPr>
          <p:cNvSpPr/>
          <p:nvPr/>
        </p:nvSpPr>
        <p:spPr>
          <a:xfrm>
            <a:off x="6416871" y="1487206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4EB7115-315C-E67B-50B7-F710F20D99D5}"/>
              </a:ext>
            </a:extLst>
          </p:cNvPr>
          <p:cNvSpPr txBox="1"/>
          <p:nvPr/>
        </p:nvSpPr>
        <p:spPr>
          <a:xfrm>
            <a:off x="530604" y="1594813"/>
            <a:ext cx="12749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Deep </a:t>
            </a:r>
            <a:r>
              <a:rPr lang="es-ES" b="1" dirty="0" err="1"/>
              <a:t>waveguide</a:t>
            </a:r>
            <a:endParaRPr lang="es-ES" dirty="0"/>
          </a:p>
        </p:txBody>
      </p:sp>
      <p:sp>
        <p:nvSpPr>
          <p:cNvPr id="13" name="CuadroTexto 8">
            <a:extLst>
              <a:ext uri="{FF2B5EF4-FFF2-40B4-BE49-F238E27FC236}">
                <a16:creationId xmlns:a16="http://schemas.microsoft.com/office/drawing/2014/main" id="{8539ECF7-676A-AC38-752A-3BAC51638525}"/>
              </a:ext>
            </a:extLst>
          </p:cNvPr>
          <p:cNvSpPr txBox="1"/>
          <p:nvPr/>
        </p:nvSpPr>
        <p:spPr>
          <a:xfrm>
            <a:off x="6441892" y="1633907"/>
            <a:ext cx="12226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 err="1"/>
              <a:t>Shallow</a:t>
            </a:r>
            <a:r>
              <a:rPr lang="es-ES" b="1" dirty="0"/>
              <a:t> </a:t>
            </a:r>
            <a:r>
              <a:rPr lang="es-ES" b="1" dirty="0" err="1"/>
              <a:t>waveguide</a:t>
            </a:r>
            <a:endParaRPr lang="es-E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8BCA0B-9337-BCA5-9FD2-831608C33A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3857" y="1601165"/>
            <a:ext cx="4159198" cy="30405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BB7921-AA9A-0BC7-3D59-8583293B04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1575" y="1581638"/>
            <a:ext cx="4139237" cy="3025977"/>
          </a:xfrm>
          <a:prstGeom prst="rect">
            <a:avLst/>
          </a:prstGeom>
        </p:spPr>
      </p:pic>
      <p:sp>
        <p:nvSpPr>
          <p:cNvPr id="11" name="CuadroTexto 1">
            <a:extLst>
              <a:ext uri="{FF2B5EF4-FFF2-40B4-BE49-F238E27FC236}">
                <a16:creationId xmlns:a16="http://schemas.microsoft.com/office/drawing/2014/main" id="{16234B3D-EDFB-EACB-28D9-D558A30687B9}"/>
              </a:ext>
            </a:extLst>
          </p:cNvPr>
          <p:cNvSpPr txBox="1"/>
          <p:nvPr/>
        </p:nvSpPr>
        <p:spPr>
          <a:xfrm>
            <a:off x="549471" y="5033115"/>
            <a:ext cx="11199971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imágenes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representan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sección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cruzada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deep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shallow.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ello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modificamos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parámetro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slab,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hace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referencia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___________.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shallow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tiene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material no “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taladrado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”,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ello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tiene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material con ese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cercano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al 2.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663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58D4E-AAD4-A207-306C-AFE3E93CA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314C32B-2797-B25F-FBC9-6EBC1BB1C9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500" spc="-5" dirty="0" err="1">
                <a:latin typeface="+mj-lt"/>
                <a:cs typeface="Lucida Sans"/>
              </a:rPr>
              <a:t>Simulaciones</a:t>
            </a:r>
            <a:r>
              <a:rPr lang="en-US" sz="2500" spc="-5" dirty="0">
                <a:latin typeface="+mj-lt"/>
                <a:cs typeface="Lucida Sans"/>
              </a:rPr>
              <a:t> – </a:t>
            </a:r>
            <a:r>
              <a:rPr lang="en-US" sz="2500" spc="-5" dirty="0" err="1">
                <a:latin typeface="+mj-lt"/>
                <a:cs typeface="Lucida Sans"/>
              </a:rPr>
              <a:t>Resultados</a:t>
            </a:r>
            <a:r>
              <a:rPr lang="en-US" sz="2500" spc="-5" dirty="0">
                <a:latin typeface="+mj-lt"/>
                <a:cs typeface="Lucida Sans"/>
              </a:rPr>
              <a:t> </a:t>
            </a:r>
            <a:r>
              <a:rPr lang="en-US" sz="2500" spc="-5" dirty="0" err="1">
                <a:latin typeface="+mj-lt"/>
                <a:cs typeface="Lucida Sans"/>
              </a:rPr>
              <a:t>numéricos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s-ES" b="0" dirty="0" err="1"/>
              <a:t>Neff</a:t>
            </a:r>
            <a:r>
              <a:rPr lang="es-ES" b="0" dirty="0"/>
              <a:t> y modos TE y TM para la sección cruzada de la guía </a:t>
            </a:r>
            <a:r>
              <a:rPr lang="es-ES" b="0" dirty="0" err="1"/>
              <a:t>deep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63A8613C-209C-2896-8C16-516700AAB5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8E59FBD-1FF2-3C67-0D54-BA0BDAD88C5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7B8067F-5D95-C6A5-6CA4-5327EE724B8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11" name="CuadroTexto 1">
            <a:extLst>
              <a:ext uri="{FF2B5EF4-FFF2-40B4-BE49-F238E27FC236}">
                <a16:creationId xmlns:a16="http://schemas.microsoft.com/office/drawing/2014/main" id="{70E084A5-8FA6-C03A-5815-3E4B02156112}"/>
              </a:ext>
            </a:extLst>
          </p:cNvPr>
          <p:cNvSpPr txBox="1"/>
          <p:nvPr/>
        </p:nvSpPr>
        <p:spPr>
          <a:xfrm>
            <a:off x="496013" y="1535335"/>
            <a:ext cx="11199971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Neff = </a:t>
            </a:r>
            <a:r>
              <a:rPr lang="en-US" dirty="0"/>
              <a:t>array([1.60524792+0.00010066j, 1.52829803+0.00017753j, 1.45072999+0.00019228j, 1.43325817+0.00021838j])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4907234-8DF6-4EC0-95AA-09D57F772260}"/>
              </a:ext>
            </a:extLst>
          </p:cNvPr>
          <p:cNvSpPr txBox="1"/>
          <p:nvPr/>
        </p:nvSpPr>
        <p:spPr>
          <a:xfrm>
            <a:off x="496014" y="2616193"/>
            <a:ext cx="11199971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TE =&gt; </a:t>
            </a:r>
            <a:r>
              <a:rPr lang="en-US" dirty="0"/>
              <a:t>array([0.99505426, 0.01004259, 0.96264794, 0.047651 ])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1">
            <a:extLst>
              <a:ext uri="{FF2B5EF4-FFF2-40B4-BE49-F238E27FC236}">
                <a16:creationId xmlns:a16="http://schemas.microsoft.com/office/drawing/2014/main" id="{AA3E5D64-320C-12BE-97A0-5EB950374BFC}"/>
              </a:ext>
            </a:extLst>
          </p:cNvPr>
          <p:cNvSpPr txBox="1"/>
          <p:nvPr/>
        </p:nvSpPr>
        <p:spPr>
          <a:xfrm>
            <a:off x="496014" y="3751826"/>
            <a:ext cx="11199971" cy="55399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TM =&gt; </a:t>
            </a:r>
            <a:r>
              <a:rPr lang="en-US" dirty="0"/>
              <a:t>array([0.00494574, 0.98995741, 0.03735206, 0.952349 ])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uadroTexto 1">
            <a:extLst>
              <a:ext uri="{FF2B5EF4-FFF2-40B4-BE49-F238E27FC236}">
                <a16:creationId xmlns:a16="http://schemas.microsoft.com/office/drawing/2014/main" id="{D7B09FC9-1C9D-9460-F274-524E32FBB861}"/>
              </a:ext>
            </a:extLst>
          </p:cNvPr>
          <p:cNvSpPr txBox="1"/>
          <p:nvPr/>
        </p:nvSpPr>
        <p:spPr>
          <a:xfrm>
            <a:off x="496013" y="4702793"/>
            <a:ext cx="11199971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parte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real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teniendo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cuenta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material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núcleo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es de 2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aproximadamente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cubierta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es de 1,45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aproximadamente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primeros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están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confinados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quizás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haría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falta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estudio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exhaustivo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comprobar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tercer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modo)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último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modo no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está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confinado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vez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Mirando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TE y TM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primer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tercer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modo es TE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Segundo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cuarto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 es TM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663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7CED3-6E38-EFFD-FB74-98A17FE92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0B66731B-48E4-9975-7387-197F07F626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Field Plots 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10FA30D9-9DE1-6611-94C9-62F771FE78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3871826F-788A-9B48-DC26-91C9E36FB9B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8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AF42192-6D99-4CE2-7492-F4EFE293A7B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666EB83-46BD-781A-4944-035A4F30C560}"/>
              </a:ext>
            </a:extLst>
          </p:cNvPr>
          <p:cNvSpPr/>
          <p:nvPr/>
        </p:nvSpPr>
        <p:spPr>
          <a:xfrm>
            <a:off x="1100852" y="1192840"/>
            <a:ext cx="3447276" cy="236438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852E50F-34E8-D5D9-04D1-41FFF9E664A2}"/>
              </a:ext>
            </a:extLst>
          </p:cNvPr>
          <p:cNvSpPr txBox="1"/>
          <p:nvPr/>
        </p:nvSpPr>
        <p:spPr>
          <a:xfrm>
            <a:off x="973157" y="835366"/>
            <a:ext cx="2059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Mode 0</a:t>
            </a:r>
            <a:endParaRPr lang="es-ES" dirty="0"/>
          </a:p>
        </p:txBody>
      </p:sp>
      <p:sp>
        <p:nvSpPr>
          <p:cNvPr id="6" name="CuadroTexto 8">
            <a:extLst>
              <a:ext uri="{FF2B5EF4-FFF2-40B4-BE49-F238E27FC236}">
                <a16:creationId xmlns:a16="http://schemas.microsoft.com/office/drawing/2014/main" id="{9B20C6CE-B979-763E-B361-DB69A7B32560}"/>
              </a:ext>
            </a:extLst>
          </p:cNvPr>
          <p:cNvSpPr txBox="1"/>
          <p:nvPr/>
        </p:nvSpPr>
        <p:spPr>
          <a:xfrm>
            <a:off x="5635781" y="884335"/>
            <a:ext cx="2269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Mode 1</a:t>
            </a:r>
            <a:endParaRPr lang="es-ES" dirty="0"/>
          </a:p>
        </p:txBody>
      </p:sp>
      <p:sp>
        <p:nvSpPr>
          <p:cNvPr id="11" name="CuadroTexto 8">
            <a:extLst>
              <a:ext uri="{FF2B5EF4-FFF2-40B4-BE49-F238E27FC236}">
                <a16:creationId xmlns:a16="http://schemas.microsoft.com/office/drawing/2014/main" id="{31AA0679-F63F-1F06-EF55-BFBD367F04D0}"/>
              </a:ext>
            </a:extLst>
          </p:cNvPr>
          <p:cNvSpPr txBox="1"/>
          <p:nvPr/>
        </p:nvSpPr>
        <p:spPr>
          <a:xfrm>
            <a:off x="967470" y="3640444"/>
            <a:ext cx="2269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Mode 2</a:t>
            </a:r>
            <a:endParaRPr lang="es-ES" dirty="0"/>
          </a:p>
        </p:txBody>
      </p:sp>
      <p:sp>
        <p:nvSpPr>
          <p:cNvPr id="14" name="CuadroTexto 8">
            <a:extLst>
              <a:ext uri="{FF2B5EF4-FFF2-40B4-BE49-F238E27FC236}">
                <a16:creationId xmlns:a16="http://schemas.microsoft.com/office/drawing/2014/main" id="{13CD4331-11C2-EF20-E044-CB61C8E34BF7}"/>
              </a:ext>
            </a:extLst>
          </p:cNvPr>
          <p:cNvSpPr txBox="1"/>
          <p:nvPr/>
        </p:nvSpPr>
        <p:spPr>
          <a:xfrm>
            <a:off x="5635781" y="3590105"/>
            <a:ext cx="2269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Mode 3</a:t>
            </a:r>
            <a:endParaRPr lang="es-E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9FE3416-1436-CD1F-3514-50A65CB51D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852" y="1237167"/>
            <a:ext cx="3416241" cy="2320053"/>
          </a:xfrm>
          <a:prstGeom prst="rect">
            <a:avLst/>
          </a:prstGeom>
        </p:spPr>
      </p:pic>
      <p:sp>
        <p:nvSpPr>
          <p:cNvPr id="18" name="Rectángulo 4">
            <a:extLst>
              <a:ext uri="{FF2B5EF4-FFF2-40B4-BE49-F238E27FC236}">
                <a16:creationId xmlns:a16="http://schemas.microsoft.com/office/drawing/2014/main" id="{4691B8E8-4201-7FBF-4948-0320C0A969FC}"/>
              </a:ext>
            </a:extLst>
          </p:cNvPr>
          <p:cNvSpPr/>
          <p:nvPr/>
        </p:nvSpPr>
        <p:spPr>
          <a:xfrm>
            <a:off x="5666816" y="1191148"/>
            <a:ext cx="3447276" cy="236438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ángulo 4">
            <a:extLst>
              <a:ext uri="{FF2B5EF4-FFF2-40B4-BE49-F238E27FC236}">
                <a16:creationId xmlns:a16="http://schemas.microsoft.com/office/drawing/2014/main" id="{B9D81DFB-89FB-AE03-BF50-BE236EC6AFC0}"/>
              </a:ext>
            </a:extLst>
          </p:cNvPr>
          <p:cNvSpPr/>
          <p:nvPr/>
        </p:nvSpPr>
        <p:spPr>
          <a:xfrm>
            <a:off x="1065268" y="3959437"/>
            <a:ext cx="3447276" cy="236438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ángulo 4">
            <a:extLst>
              <a:ext uri="{FF2B5EF4-FFF2-40B4-BE49-F238E27FC236}">
                <a16:creationId xmlns:a16="http://schemas.microsoft.com/office/drawing/2014/main" id="{C9D18BD9-796C-FA8C-1742-388647CD499A}"/>
              </a:ext>
            </a:extLst>
          </p:cNvPr>
          <p:cNvSpPr/>
          <p:nvPr/>
        </p:nvSpPr>
        <p:spPr>
          <a:xfrm>
            <a:off x="5617584" y="3947375"/>
            <a:ext cx="3447276" cy="236438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351FE22-7761-603A-976E-A0DBC8EC02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0411" y="1237167"/>
            <a:ext cx="3351869" cy="225584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97859F4-4F63-B77E-7D68-536ACED682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650" y="4013705"/>
            <a:ext cx="3352512" cy="225584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87D9189-7635-8060-474D-C9C768931A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97204" y="4048801"/>
            <a:ext cx="3337420" cy="220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271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656EC-E197-239C-60DD-C11F7BA4B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431EA70-9578-8BF1-5A05-77CDC26788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Wavelength behavior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Wavelength 1.5-1.6 µm (step 0.01 µm) – width 1.2 µm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6A02C28-9CC3-6E88-B695-04A48E5FDE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B7F118F-AD79-0ED0-CE53-A8EE4409B4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9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846C9D-3FE3-8524-3349-96E1AD1712B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A5F0FDF-2A95-453B-4ECA-AEB637FF2694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 (neff changes this way with wavelength, comparison between different waveguide cross-sections …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8F19863-7091-B8CA-F848-DBEA5CEEA027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1F754A5-65BC-14A3-5F55-75716FFA9027}"/>
              </a:ext>
            </a:extLst>
          </p:cNvPr>
          <p:cNvSpPr/>
          <p:nvPr/>
        </p:nvSpPr>
        <p:spPr>
          <a:xfrm>
            <a:off x="64768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BD4C233-B5D9-B6AA-93A8-CF2F130CFF9C}"/>
              </a:ext>
            </a:extLst>
          </p:cNvPr>
          <p:cNvSpPr txBox="1"/>
          <p:nvPr/>
        </p:nvSpPr>
        <p:spPr>
          <a:xfrm>
            <a:off x="642989" y="4402885"/>
            <a:ext cx="2269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slab </a:t>
            </a:r>
            <a:r>
              <a:rPr lang="en-US" dirty="0"/>
              <a:t>= 150nm</a:t>
            </a:r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9FAD5A-B1EE-A1AB-E976-EFC7CED826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7313" y="1632162"/>
            <a:ext cx="5285325" cy="28784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618624-A94B-7553-87B6-41E1D5F7F1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766" y="1631891"/>
            <a:ext cx="5151919" cy="283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356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AC3D-36B7-D786-3825-B4DD6EAD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AA2E789-F7AE-F068-274C-E0F13A22DB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#3 – Width dependence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Width 0.6 - 1.6 µm (step 0.1 µm) – Wavelength 1.55 µm 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AEAD01B-7604-8009-5694-A556497AE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96E3846-1BD2-4F23-48AA-C7AF2A1EE6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2C0E2B-75B6-4768-A4C7-F165A264DA0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2A62DD6-5488-72A1-9926-0CAEE59089A9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 (neff changes this way with width, polarization behavior,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BC7D187-267A-ADD4-764C-D3820B8ED302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0939E0-2466-E51D-EB1D-7304ACA8DF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0592" y="1456391"/>
            <a:ext cx="5930815" cy="322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117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DA0F9-B230-D9FC-3CE7-03BD08CF5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394400B4-EE16-8E85-AB54-E82FE3B293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Waveguide compact model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- Find the compact models of the following waveguides: </a:t>
            </a:r>
            <a:br>
              <a:rPr lang="en-US" b="0" dirty="0"/>
            </a:br>
            <a:r>
              <a:rPr lang="en-US" dirty="0"/>
              <a:t>Deep</a:t>
            </a:r>
            <a:r>
              <a:rPr lang="en-US" b="0" dirty="0"/>
              <a:t> waveguide, h=300nm, w=1.2um</a:t>
            </a:r>
            <a:br>
              <a:rPr lang="en-US" b="0" dirty="0"/>
            </a:b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4D53B68D-17ED-7EFB-F2B4-10DA7A772E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9AB8697-C1EE-6E9A-6550-ACA2C3AE66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11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70D4A6C-5B37-EDF5-6242-74B16127E96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440F587-93A3-E474-C0B0-883BB9DAFD85}"/>
              </a:ext>
            </a:extLst>
          </p:cNvPr>
          <p:cNvSpPr txBox="1"/>
          <p:nvPr/>
        </p:nvSpPr>
        <p:spPr>
          <a:xfrm>
            <a:off x="609441" y="4860334"/>
            <a:ext cx="11198542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Deep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waveguide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, TE0: D</a:t>
            </a:r>
            <a:r>
              <a:rPr lang="es-ES" b="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-1.0060120000002706e-09, ng=1.9399937599999997</a:t>
            </a: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Deep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waveguide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, TM0: D=-1.5895973333331998e-09, ng= 1.7721028700000003</a:t>
            </a:r>
            <a:endParaRPr lang="es-E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 on the results found for the TE0 and TM0 for both deep and shallow waveguides.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B92C76-6772-2E00-346F-532321092C04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886628E-6E58-1F7E-B6C6-432B9A228397}"/>
              </a:ext>
            </a:extLst>
          </p:cNvPr>
          <p:cNvSpPr/>
          <p:nvPr/>
        </p:nvSpPr>
        <p:spPr>
          <a:xfrm>
            <a:off x="6321424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F38E924-A0E7-A039-C837-916BA77FE89B}"/>
              </a:ext>
            </a:extLst>
          </p:cNvPr>
          <p:cNvSpPr txBox="1"/>
          <p:nvPr/>
        </p:nvSpPr>
        <p:spPr>
          <a:xfrm>
            <a:off x="6347361" y="4498712"/>
            <a:ext cx="5486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slab: 150nm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4874C2-28EB-B03E-7535-7B371FA691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1503994"/>
            <a:ext cx="4101564" cy="31901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094ECD-DE4E-DCDE-5E96-69A2B099C1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9459" y="1469683"/>
            <a:ext cx="4138591" cy="322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54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C00FB-0121-F9A0-91F5-56F1487D0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A637BC53-30CB-F19E-9C84-F534317102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Waveguide compact model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- Find the compact models of the following waveguides: </a:t>
            </a:r>
            <a:br>
              <a:rPr lang="en-US" b="0" dirty="0"/>
            </a:br>
            <a:r>
              <a:rPr lang="en-US" dirty="0"/>
              <a:t>Shallow</a:t>
            </a:r>
            <a:r>
              <a:rPr lang="en-US" b="0" dirty="0"/>
              <a:t> waveguide, core h=300nm, slab h=150 nm, w = 1.2um </a:t>
            </a:r>
            <a:br>
              <a:rPr lang="en-US" b="0" dirty="0"/>
            </a:b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02138351-2446-8385-B627-B952631D91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8AEC9F7-720D-087C-CAFA-761CEF1EFE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B51FB65-13D3-FB21-CC66-092F054DA38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FA912F4-F0A5-EF44-5CD6-392684973AE5}"/>
              </a:ext>
            </a:extLst>
          </p:cNvPr>
          <p:cNvSpPr txBox="1"/>
          <p:nvPr/>
        </p:nvSpPr>
        <p:spPr>
          <a:xfrm>
            <a:off x="609441" y="4860334"/>
            <a:ext cx="11198542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Shallow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waveguide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, TE0: D</a:t>
            </a:r>
            <a:r>
              <a:rPr lang="es-ES" b="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-2.4676000000548957e-11, ng= 2.0261068 </a:t>
            </a:r>
          </a:p>
          <a:p>
            <a:pPr algn="just"/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Shallow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waveguide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, TM0: D=1.0540000000188358e-11, ng= 2.0381183000000007</a:t>
            </a:r>
          </a:p>
          <a:p>
            <a:pPr algn="just"/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 on the results found for the TE0 and TM0 for both deep and shallow waveguides.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BB3B320-865A-DECC-3DBE-EE042F5FF588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C020D9D-5394-191D-287B-3FFA220A13E1}"/>
              </a:ext>
            </a:extLst>
          </p:cNvPr>
          <p:cNvSpPr/>
          <p:nvPr/>
        </p:nvSpPr>
        <p:spPr>
          <a:xfrm>
            <a:off x="6321424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EA0536C-8B33-0888-41E2-C73C64A8A48D}"/>
              </a:ext>
            </a:extLst>
          </p:cNvPr>
          <p:cNvSpPr txBox="1"/>
          <p:nvPr/>
        </p:nvSpPr>
        <p:spPr>
          <a:xfrm>
            <a:off x="6347361" y="4498712"/>
            <a:ext cx="5486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slab: 150nm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21C754-F67F-57AA-3596-2EA202D167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0405" y="1504203"/>
            <a:ext cx="4209795" cy="32301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C7E3F4-7206-801B-406B-7171813FE0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6964" y="1479543"/>
            <a:ext cx="4184708" cy="325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459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4E70-43B1-3881-1771-20FB4358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2C31CE-19F0-B995-0997-9A2D6A879B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#5 – Bend waveguide radius vs. loss – deep</a:t>
            </a:r>
            <a:br>
              <a:rPr lang="en-US" sz="2500" dirty="0"/>
            </a:br>
            <a:r>
              <a:rPr lang="en-US" b="0" dirty="0"/>
              <a:t>Find  neff_TE0 for </a:t>
            </a:r>
            <a:r>
              <a:rPr lang="en-US" b="0" dirty="0" err="1"/>
              <a:t>wvl</a:t>
            </a:r>
            <a:r>
              <a:rPr lang="en-US" b="0" dirty="0"/>
              <a:t> 1.55 µm, width 1.2 µm for R=25,50,75,100, 125,150 µm</a:t>
            </a:r>
            <a:br>
              <a:rPr lang="en-US" sz="2500" dirty="0"/>
            </a:b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688A609-F3DC-EE34-C536-683E70F32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B6C672C6-89D4-7E67-2B94-811D081786A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A1F4313-D710-7A3E-7A8F-EB77DEE3C1A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DE3A197-9508-F9F1-1FEB-FF883D78C151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results, which is the safe radius?, consider safe means less than 0.1 dB/90º.</a:t>
            </a:r>
          </a:p>
          <a:p>
            <a:pPr algn="just"/>
            <a:endParaRPr lang="en-US" sz="12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5FE8755-B0BF-14B7-64E6-4BBB2560B9A6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31EBD86-BA6C-68C9-2D38-FC8CFBA7ADC4}"/>
              </a:ext>
            </a:extLst>
          </p:cNvPr>
          <p:cNvSpPr txBox="1"/>
          <p:nvPr/>
        </p:nvSpPr>
        <p:spPr>
          <a:xfrm>
            <a:off x="2978141" y="2784355"/>
            <a:ext cx="62357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Total Loss (dB/90º) vs R &amp; neff_TE0 vs R</a:t>
            </a:r>
          </a:p>
        </p:txBody>
      </p:sp>
    </p:spTree>
    <p:extLst>
      <p:ext uri="{BB962C8B-B14F-4D97-AF65-F5344CB8AC3E}">
        <p14:creationId xmlns:p14="http://schemas.microsoft.com/office/powerpoint/2010/main" val="3660438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14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12849</TotalTime>
  <Words>918</Words>
  <Application>Microsoft Office PowerPoint</Application>
  <PresentationFormat>Widescreen</PresentationFormat>
  <Paragraphs>133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Calibri</vt:lpstr>
      <vt:lpstr>Lucida Sans</vt:lpstr>
      <vt:lpstr>Times New Roman</vt:lpstr>
      <vt:lpstr>Wingdings</vt:lpstr>
      <vt:lpstr>Office Theme</vt:lpstr>
      <vt:lpstr>PowerPoint Presentation</vt:lpstr>
      <vt:lpstr>Instructions General</vt:lpstr>
      <vt:lpstr>Learning outcome #1 – Effective index of a waveguide </vt:lpstr>
      <vt:lpstr>Índice de refracción de los materiales silicon (Si), silicon nitride (SiNx) and silicon dioxide (SiO2)</vt:lpstr>
      <vt:lpstr>Índice de refracción de los materiales silicon (Si), silicon nitride (SiNx) and silicon dioxide (SiO2)</vt:lpstr>
      <vt:lpstr>Definición de la Cross-Section Wavelength 1.55 µm – width 1.2 µm - height 300 nm</vt:lpstr>
      <vt:lpstr>Simulaciones – Resultados numéricos Neff y modos TE y TM para la sección cruzada de la guía deep</vt:lpstr>
      <vt:lpstr>Field Plots  </vt:lpstr>
      <vt:lpstr>Learning outcome #2 – Wavelength behavior Wavelength 1.5-1.6 µm (step 0.01 µm) – width 1.2 µm</vt:lpstr>
      <vt:lpstr>Learning outcome #3 – Width dependence Width 0.6 - 1.6 µm (step 0.1 µm) – Wavelength 1.55 µm </vt:lpstr>
      <vt:lpstr>Learning outcome #4 – Waveguide compact model - Find the compact models of the following waveguides:  Deep waveguide, h=300nm, w=1.2um </vt:lpstr>
      <vt:lpstr>Learning outcome #4 – Waveguide compact model - Find the compact models of the following waveguides:  Shallow waveguide, core h=300nm, slab h=150 nm, w = 1.2um  </vt:lpstr>
      <vt:lpstr>Learning outcome #5 – Bend waveguide radius vs. loss – deep Find  neff_TE0 for wvl 1.55 µm, width 1.2 µm for R=25,50,75,100, 125,150 µm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Miranda Gimenez Ferrando</cp:lastModifiedBy>
  <cp:revision>19</cp:revision>
  <dcterms:created xsi:type="dcterms:W3CDTF">2025-01-27T02:46:57Z</dcterms:created>
  <dcterms:modified xsi:type="dcterms:W3CDTF">2026-03-04T14:44:44Z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