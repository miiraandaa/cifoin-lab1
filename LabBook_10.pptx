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p:sldMasterIdLst>
    <p:sldMasterId id="2147483648" r:id="rId1"/>
  </p:sldMasterIdLst>
  <p:notesMasterIdLst>
    <p:notesMasterId r:id="rId21"/>
  </p:notesMasterIdLst>
  <p:handoutMasterIdLst>
    <p:handoutMasterId r:id="rId22"/>
  </p:handoutMasterIdLst>
  <p:sldIdLst>
    <p:sldId id="256" r:id="rId2"/>
    <p:sldId id="295" r:id="rId3"/>
    <p:sldId id="290" r:id="rId4"/>
    <p:sldId id="298" r:id="rId5"/>
    <p:sldId id="299" r:id="rId6"/>
    <p:sldId id="300" r:id="rId7"/>
    <p:sldId id="301" r:id="rId8"/>
    <p:sldId id="302" r:id="rId9"/>
    <p:sldId id="291" r:id="rId10"/>
    <p:sldId id="292" r:id="rId11"/>
    <p:sldId id="297" r:id="rId12"/>
    <p:sldId id="304" r:id="rId13"/>
    <p:sldId id="293" r:id="rId14"/>
    <p:sldId id="309" r:id="rId15"/>
    <p:sldId id="305" r:id="rId16"/>
    <p:sldId id="306" r:id="rId17"/>
    <p:sldId id="307" r:id="rId18"/>
    <p:sldId id="310" r:id="rId19"/>
    <p:sldId id="288" r:id="rId20"/>
  </p:sldIdLst>
  <p:sldSz cx="12192000" cy="6858000"/>
  <p:notesSz cx="12192000" cy="6858000"/>
  <p:defaultTextStyle>
    <a:defPPr>
      <a:defRPr lang="es-E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880">
          <p15:clr>
            <a:srgbClr val="A4A3A4"/>
          </p15:clr>
        </p15:guide>
        <p15:guide id="2" pos="2160">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8362" autoAdjust="0"/>
    <p:restoredTop sz="95033" autoAdjust="0"/>
  </p:normalViewPr>
  <p:slideViewPr>
    <p:cSldViewPr>
      <p:cViewPr>
        <p:scale>
          <a:sx n="80" d="100"/>
          <a:sy n="80" d="100"/>
        </p:scale>
        <p:origin x="392" y="-136"/>
      </p:cViewPr>
      <p:guideLst>
        <p:guide orient="horz" pos="2880"/>
        <p:guide pos="2160"/>
      </p:guideLst>
    </p:cSldViewPr>
  </p:slideViewPr>
  <p:notesTextViewPr>
    <p:cViewPr>
      <p:scale>
        <a:sx n="100" d="100"/>
        <a:sy n="100" d="100"/>
      </p:scale>
      <p:origin x="0" y="0"/>
    </p:cViewPr>
  </p:notesTextViewPr>
  <p:notesViewPr>
    <p:cSldViewPr>
      <p:cViewPr varScale="1">
        <p:scale>
          <a:sx n="83" d="100"/>
          <a:sy n="83" d="100"/>
        </p:scale>
        <p:origin x="1392" y="62"/>
      </p:cViewPr>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a:extLst>
              <a:ext uri="{FF2B5EF4-FFF2-40B4-BE49-F238E27FC236}">
                <a16:creationId xmlns:a16="http://schemas.microsoft.com/office/drawing/2014/main" id="{ADD96E76-517F-B468-04D8-38EFA44947EB}"/>
              </a:ext>
            </a:extLst>
          </p:cNvPr>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a:extLst>
              <a:ext uri="{FF2B5EF4-FFF2-40B4-BE49-F238E27FC236}">
                <a16:creationId xmlns:a16="http://schemas.microsoft.com/office/drawing/2014/main" id="{8678D0B9-782A-7C16-D731-EEB7F991FA76}"/>
              </a:ext>
            </a:extLst>
          </p:cNvPr>
          <p:cNvSpPr>
            <a:spLocks noGrp="1"/>
          </p:cNvSpPr>
          <p:nvPr>
            <p:ph type="dt" sz="quarter" idx="1"/>
          </p:nvPr>
        </p:nvSpPr>
        <p:spPr>
          <a:xfrm>
            <a:off x="6905625" y="0"/>
            <a:ext cx="5283200" cy="344488"/>
          </a:xfrm>
          <a:prstGeom prst="rect">
            <a:avLst/>
          </a:prstGeom>
        </p:spPr>
        <p:txBody>
          <a:bodyPr vert="horz" lIns="91440" tIns="45720" rIns="91440" bIns="45720" rtlCol="0"/>
          <a:lstStyle>
            <a:lvl1pPr algn="r">
              <a:defRPr sz="1200"/>
            </a:lvl1pPr>
          </a:lstStyle>
          <a:p>
            <a:fld id="{8438F8DC-35B0-48E6-A86E-42F1F08DD00F}" type="datetimeFigureOut">
              <a:rPr lang="es-ES" smtClean="0"/>
              <a:t>13/03/2026</a:t>
            </a:fld>
            <a:endParaRPr lang="es-ES"/>
          </a:p>
        </p:txBody>
      </p:sp>
      <p:sp>
        <p:nvSpPr>
          <p:cNvPr id="4" name="Marcador de pie de página 3">
            <a:extLst>
              <a:ext uri="{FF2B5EF4-FFF2-40B4-BE49-F238E27FC236}">
                <a16:creationId xmlns:a16="http://schemas.microsoft.com/office/drawing/2014/main" id="{2F2E7B1C-60E2-8A48-EEE0-6715FC30A8B7}"/>
              </a:ext>
            </a:extLst>
          </p:cNvPr>
          <p:cNvSpPr>
            <a:spLocks noGrp="1"/>
          </p:cNvSpPr>
          <p:nvPr>
            <p:ph type="ftr" sz="quarter" idx="2"/>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5" name="Marcador de número de diapositiva 4">
            <a:extLst>
              <a:ext uri="{FF2B5EF4-FFF2-40B4-BE49-F238E27FC236}">
                <a16:creationId xmlns:a16="http://schemas.microsoft.com/office/drawing/2014/main" id="{C428D795-4EA2-62F0-B78A-5F215C828C50}"/>
              </a:ext>
            </a:extLst>
          </p:cNvPr>
          <p:cNvSpPr>
            <a:spLocks noGrp="1"/>
          </p:cNvSpPr>
          <p:nvPr>
            <p:ph type="sldNum" sz="quarter" idx="3"/>
          </p:nvPr>
        </p:nvSpPr>
        <p:spPr>
          <a:xfrm>
            <a:off x="6905625" y="6513513"/>
            <a:ext cx="5283200" cy="344487"/>
          </a:xfrm>
          <a:prstGeom prst="rect">
            <a:avLst/>
          </a:prstGeom>
        </p:spPr>
        <p:txBody>
          <a:bodyPr vert="horz" lIns="91440" tIns="45720" rIns="91440" bIns="45720" rtlCol="0" anchor="b"/>
          <a:lstStyle>
            <a:lvl1pPr algn="r">
              <a:defRPr sz="1200"/>
            </a:lvl1pPr>
          </a:lstStyle>
          <a:p>
            <a:fld id="{4116A549-763A-4A89-A454-A94BAF51395E}" type="slidenum">
              <a:rPr lang="es-ES" smtClean="0"/>
              <a:t>‹Nº›</a:t>
            </a:fld>
            <a:endParaRPr lang="es-ES"/>
          </a:p>
        </p:txBody>
      </p:sp>
    </p:spTree>
    <p:extLst>
      <p:ext uri="{BB962C8B-B14F-4D97-AF65-F5344CB8AC3E}">
        <p14:creationId xmlns:p14="http://schemas.microsoft.com/office/powerpoint/2010/main" val="140347774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5283200" cy="3444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6905625" y="0"/>
            <a:ext cx="5283200" cy="344488"/>
          </a:xfrm>
          <a:prstGeom prst="rect">
            <a:avLst/>
          </a:prstGeom>
        </p:spPr>
        <p:txBody>
          <a:bodyPr vert="horz" lIns="91440" tIns="45720" rIns="91440" bIns="45720" rtlCol="0"/>
          <a:lstStyle>
            <a:lvl1pPr algn="r">
              <a:defRPr sz="1200"/>
            </a:lvl1pPr>
          </a:lstStyle>
          <a:p>
            <a:fld id="{FACBDC12-F39B-4B97-8F4D-6734F9D366FF}" type="datetimeFigureOut">
              <a:rPr lang="es-ES" smtClean="0"/>
              <a:t>13/03/2026</a:t>
            </a:fld>
            <a:endParaRPr lang="es-ES"/>
          </a:p>
        </p:txBody>
      </p:sp>
      <p:sp>
        <p:nvSpPr>
          <p:cNvPr id="4" name="Marcador de imagen de diapositiva 3"/>
          <p:cNvSpPr>
            <a:spLocks noGrp="1" noRot="1" noChangeAspect="1"/>
          </p:cNvSpPr>
          <p:nvPr>
            <p:ph type="sldImg" idx="2"/>
          </p:nvPr>
        </p:nvSpPr>
        <p:spPr>
          <a:xfrm>
            <a:off x="4038600" y="857250"/>
            <a:ext cx="4114800" cy="2314575"/>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1219200" y="3300413"/>
            <a:ext cx="9753600" cy="2700337"/>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6513513"/>
            <a:ext cx="5283200" cy="3444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6905625" y="6513513"/>
            <a:ext cx="5283200" cy="344487"/>
          </a:xfrm>
          <a:prstGeom prst="rect">
            <a:avLst/>
          </a:prstGeom>
        </p:spPr>
        <p:txBody>
          <a:bodyPr vert="horz" lIns="91440" tIns="45720" rIns="91440" bIns="45720" rtlCol="0" anchor="b"/>
          <a:lstStyle>
            <a:lvl1pPr algn="r">
              <a:defRPr sz="1200"/>
            </a:lvl1pPr>
          </a:lstStyle>
          <a:p>
            <a:fld id="{676223B9-C868-4436-87D9-1A3152E1157A}" type="slidenum">
              <a:rPr lang="es-ES" smtClean="0"/>
              <a:t>‹Nº›</a:t>
            </a:fld>
            <a:endParaRPr lang="es-ES"/>
          </a:p>
        </p:txBody>
      </p:sp>
    </p:spTree>
    <p:extLst>
      <p:ext uri="{BB962C8B-B14F-4D97-AF65-F5344CB8AC3E}">
        <p14:creationId xmlns:p14="http://schemas.microsoft.com/office/powerpoint/2010/main" val="283421117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676223B9-C868-4436-87D9-1A3152E1157A}" type="slidenum">
              <a:rPr lang="es-ES" smtClean="0"/>
              <a:t>3</a:t>
            </a:fld>
            <a:endParaRPr lang="es-ES"/>
          </a:p>
        </p:txBody>
      </p:sp>
    </p:spTree>
    <p:extLst>
      <p:ext uri="{BB962C8B-B14F-4D97-AF65-F5344CB8AC3E}">
        <p14:creationId xmlns:p14="http://schemas.microsoft.com/office/powerpoint/2010/main" val="20925323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3FB40-1E40-22EB-93C1-6B835D98F762}"/>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E8030589-A145-40EE-9064-91666B27AB7F}"/>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4082170F-A37E-FA6B-ABDE-2A7351CC739B}"/>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38E3B59B-276F-1CDF-B1E7-F7A562B92329}"/>
              </a:ext>
            </a:extLst>
          </p:cNvPr>
          <p:cNvSpPr>
            <a:spLocks noGrp="1"/>
          </p:cNvSpPr>
          <p:nvPr>
            <p:ph type="sldNum" sz="quarter" idx="5"/>
          </p:nvPr>
        </p:nvSpPr>
        <p:spPr/>
        <p:txBody>
          <a:bodyPr/>
          <a:lstStyle/>
          <a:p>
            <a:fld id="{676223B9-C868-4436-87D9-1A3152E1157A}" type="slidenum">
              <a:rPr lang="es-ES" smtClean="0"/>
              <a:t>4</a:t>
            </a:fld>
            <a:endParaRPr lang="es-ES"/>
          </a:p>
        </p:txBody>
      </p:sp>
    </p:spTree>
    <p:extLst>
      <p:ext uri="{BB962C8B-B14F-4D97-AF65-F5344CB8AC3E}">
        <p14:creationId xmlns:p14="http://schemas.microsoft.com/office/powerpoint/2010/main" val="236865163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11E47B-D8E8-6A83-BFC1-78B5DC0BDF5C}"/>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493F0E0-6DE5-ACC0-89BA-EEC5FC552C20}"/>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74D3571-FAFB-BEF0-F218-5210CF166F3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B01A887D-C730-2194-1E98-D0A3902965C4}"/>
              </a:ext>
            </a:extLst>
          </p:cNvPr>
          <p:cNvSpPr>
            <a:spLocks noGrp="1"/>
          </p:cNvSpPr>
          <p:nvPr>
            <p:ph type="sldNum" sz="quarter" idx="5"/>
          </p:nvPr>
        </p:nvSpPr>
        <p:spPr/>
        <p:txBody>
          <a:bodyPr/>
          <a:lstStyle/>
          <a:p>
            <a:fld id="{676223B9-C868-4436-87D9-1A3152E1157A}" type="slidenum">
              <a:rPr lang="es-ES" smtClean="0"/>
              <a:t>5</a:t>
            </a:fld>
            <a:endParaRPr lang="es-ES"/>
          </a:p>
        </p:txBody>
      </p:sp>
    </p:spTree>
    <p:extLst>
      <p:ext uri="{BB962C8B-B14F-4D97-AF65-F5344CB8AC3E}">
        <p14:creationId xmlns:p14="http://schemas.microsoft.com/office/powerpoint/2010/main" val="223409761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79E0E1-889B-5C31-0C72-2CA2F7F4132D}"/>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64D06B5C-5C99-F1F4-62F1-C291F4768103}"/>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8F30995-289D-3AA2-B146-DBD529C8B7A0}"/>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56675D2F-4746-AE29-56AE-6591D9E83AFF}"/>
              </a:ext>
            </a:extLst>
          </p:cNvPr>
          <p:cNvSpPr>
            <a:spLocks noGrp="1"/>
          </p:cNvSpPr>
          <p:nvPr>
            <p:ph type="sldNum" sz="quarter" idx="5"/>
          </p:nvPr>
        </p:nvSpPr>
        <p:spPr/>
        <p:txBody>
          <a:bodyPr/>
          <a:lstStyle/>
          <a:p>
            <a:fld id="{676223B9-C868-4436-87D9-1A3152E1157A}" type="slidenum">
              <a:rPr lang="es-ES" smtClean="0"/>
              <a:t>6</a:t>
            </a:fld>
            <a:endParaRPr lang="es-ES"/>
          </a:p>
        </p:txBody>
      </p:sp>
    </p:spTree>
    <p:extLst>
      <p:ext uri="{BB962C8B-B14F-4D97-AF65-F5344CB8AC3E}">
        <p14:creationId xmlns:p14="http://schemas.microsoft.com/office/powerpoint/2010/main" val="239513455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CB3C21-9081-6A43-F58D-5C187040A881}"/>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A121EA58-25DA-0A30-A173-19783DF3C3A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9F6F8406-36E8-3C32-4A86-A739B9DED202}"/>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80649894-7D32-937A-FA0C-55F9E9B96F91}"/>
              </a:ext>
            </a:extLst>
          </p:cNvPr>
          <p:cNvSpPr>
            <a:spLocks noGrp="1"/>
          </p:cNvSpPr>
          <p:nvPr>
            <p:ph type="sldNum" sz="quarter" idx="5"/>
          </p:nvPr>
        </p:nvSpPr>
        <p:spPr/>
        <p:txBody>
          <a:bodyPr/>
          <a:lstStyle/>
          <a:p>
            <a:fld id="{676223B9-C868-4436-87D9-1A3152E1157A}" type="slidenum">
              <a:rPr lang="es-ES" smtClean="0"/>
              <a:t>7</a:t>
            </a:fld>
            <a:endParaRPr lang="es-ES"/>
          </a:p>
        </p:txBody>
      </p:sp>
    </p:spTree>
    <p:extLst>
      <p:ext uri="{BB962C8B-B14F-4D97-AF65-F5344CB8AC3E}">
        <p14:creationId xmlns:p14="http://schemas.microsoft.com/office/powerpoint/2010/main" val="32489792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39D0C2-397E-8105-E3E1-2BC3768F0C24}"/>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C1C6296F-5448-1FF8-82DA-92CC1A2E1E15}"/>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AF94986B-99B0-FBA5-1B73-63632D85907D}"/>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365D35-8DC0-5504-6D4A-917264320E1A}"/>
              </a:ext>
            </a:extLst>
          </p:cNvPr>
          <p:cNvSpPr>
            <a:spLocks noGrp="1"/>
          </p:cNvSpPr>
          <p:nvPr>
            <p:ph type="sldNum" sz="quarter" idx="5"/>
          </p:nvPr>
        </p:nvSpPr>
        <p:spPr/>
        <p:txBody>
          <a:bodyPr/>
          <a:lstStyle/>
          <a:p>
            <a:fld id="{676223B9-C868-4436-87D9-1A3152E1157A}" type="slidenum">
              <a:rPr lang="es-ES" smtClean="0"/>
              <a:t>8</a:t>
            </a:fld>
            <a:endParaRPr lang="es-ES"/>
          </a:p>
        </p:txBody>
      </p:sp>
    </p:spTree>
    <p:extLst>
      <p:ext uri="{BB962C8B-B14F-4D97-AF65-F5344CB8AC3E}">
        <p14:creationId xmlns:p14="http://schemas.microsoft.com/office/powerpoint/2010/main" val="385757855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9</a:t>
            </a:fld>
            <a:endParaRPr lang="es-ES"/>
          </a:p>
        </p:txBody>
      </p:sp>
    </p:spTree>
    <p:extLst>
      <p:ext uri="{BB962C8B-B14F-4D97-AF65-F5344CB8AC3E}">
        <p14:creationId xmlns:p14="http://schemas.microsoft.com/office/powerpoint/2010/main" val="183296143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10</a:t>
            </a:fld>
            <a:endParaRPr lang="es-ES"/>
          </a:p>
        </p:txBody>
      </p:sp>
    </p:spTree>
    <p:extLst>
      <p:ext uri="{BB962C8B-B14F-4D97-AF65-F5344CB8AC3E}">
        <p14:creationId xmlns:p14="http://schemas.microsoft.com/office/powerpoint/2010/main" val="411607904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AA65-166B-474B-A6C9-9858D86A944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38158223-A8BA-05F6-464C-EC03A9FB8C56}"/>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ECB4DF-C329-8F47-9ECE-661B5B2BF9AC}"/>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041B2276-A4E2-DFBF-0088-6997E86C9FE1}"/>
              </a:ext>
            </a:extLst>
          </p:cNvPr>
          <p:cNvSpPr>
            <a:spLocks noGrp="1"/>
          </p:cNvSpPr>
          <p:nvPr>
            <p:ph type="sldNum" sz="quarter" idx="5"/>
          </p:nvPr>
        </p:nvSpPr>
        <p:spPr/>
        <p:txBody>
          <a:bodyPr/>
          <a:lstStyle/>
          <a:p>
            <a:fld id="{676223B9-C868-4436-87D9-1A3152E1157A}" type="slidenum">
              <a:rPr lang="es-ES" smtClean="0"/>
              <a:t>11</a:t>
            </a:fld>
            <a:endParaRPr lang="es-ES"/>
          </a:p>
        </p:txBody>
      </p:sp>
    </p:spTree>
    <p:extLst>
      <p:ext uri="{BB962C8B-B14F-4D97-AF65-F5344CB8AC3E}">
        <p14:creationId xmlns:p14="http://schemas.microsoft.com/office/powerpoint/2010/main" val="2362315989"/>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50C5-15DF-CD6C-3007-DD3E19C29A2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3A849B-ACED-18DD-C528-E2302D50862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0C81D8D-46BE-AE7D-B72D-C1D3655712B0}"/>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496256BB-09F9-C1A4-E637-8A0333BBECA7}"/>
              </a:ext>
            </a:extLst>
          </p:cNvPr>
          <p:cNvSpPr>
            <a:spLocks noGrp="1"/>
          </p:cNvSpPr>
          <p:nvPr>
            <p:ph type="sldNum" sz="quarter" idx="5"/>
          </p:nvPr>
        </p:nvSpPr>
        <p:spPr/>
        <p:txBody>
          <a:bodyPr/>
          <a:lstStyle/>
          <a:p>
            <a:fld id="{676223B9-C868-4436-87D9-1A3152E1157A}" type="slidenum">
              <a:rPr lang="es-ES" smtClean="0"/>
              <a:t>12</a:t>
            </a:fld>
            <a:endParaRPr lang="es-ES"/>
          </a:p>
        </p:txBody>
      </p:sp>
    </p:spTree>
    <p:extLst>
      <p:ext uri="{BB962C8B-B14F-4D97-AF65-F5344CB8AC3E}">
        <p14:creationId xmlns:p14="http://schemas.microsoft.com/office/powerpoint/2010/main" val="373318371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023B86-D15F-9CD8-C5EA-3EAAD8BACCF7}"/>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C73881A-26A5-ECF9-C6F2-3DEFA77AEFC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3B7AFC79-4973-3930-959B-AEF8810CFE6A}"/>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8345D0F3-6273-0338-FCDA-175B73D7C9E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76223B9-C868-4436-87D9-1A3152E1157A}" type="slidenum">
              <a:rPr kumimoji="0" lang="es-E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s-E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91738271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C95D85-2949-39BC-C1B2-89DF1BAC84C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8D6E5EA-7BD3-0640-3496-CE2C86AB766D}"/>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71028030-246E-D6C2-68FF-D455B424AB0D}"/>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217FD076-D682-B99E-14E9-4478E1841B1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76223B9-C868-4436-87D9-1A3152E1157A}" type="slidenum">
              <a:rPr kumimoji="0" lang="es-E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s-E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267343481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1150C5-15DF-CD6C-3007-DD3E19C29A2B}"/>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593A849B-ACED-18DD-C528-E2302D50862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80C81D8D-46BE-AE7D-B72D-C1D3655712B0}"/>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496256BB-09F9-C1A4-E637-8A0333BBECA7}"/>
              </a:ext>
            </a:extLst>
          </p:cNvPr>
          <p:cNvSpPr>
            <a:spLocks noGrp="1"/>
          </p:cNvSpPr>
          <p:nvPr>
            <p:ph type="sldNum" sz="quarter" idx="5"/>
          </p:nvPr>
        </p:nvSpPr>
        <p:spPr/>
        <p:txBody>
          <a:bodyPr/>
          <a:lstStyle/>
          <a:p>
            <a:fld id="{676223B9-C868-4436-87D9-1A3152E1157A}" type="slidenum">
              <a:rPr lang="es-ES" smtClean="0"/>
              <a:t>15</a:t>
            </a:fld>
            <a:endParaRPr lang="es-ES"/>
          </a:p>
        </p:txBody>
      </p:sp>
    </p:spTree>
    <p:extLst>
      <p:ext uri="{BB962C8B-B14F-4D97-AF65-F5344CB8AC3E}">
        <p14:creationId xmlns:p14="http://schemas.microsoft.com/office/powerpoint/2010/main" val="2363121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3C5711-C157-AA5E-1EA1-9F4C3F40B90E}"/>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FFA117F6-F66D-FFD4-422F-EBD94B31F3F1}"/>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02B512FE-9F6C-4ABD-23FA-CA518B458D1F}"/>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9624E7A5-CBFC-658B-8E88-8AF8084D5BC4}"/>
              </a:ext>
            </a:extLst>
          </p:cNvPr>
          <p:cNvSpPr>
            <a:spLocks noGrp="1"/>
          </p:cNvSpPr>
          <p:nvPr>
            <p:ph type="sldNum" sz="quarter" idx="5"/>
          </p:nvPr>
        </p:nvSpPr>
        <p:spPr/>
        <p:txBody>
          <a:bodyPr/>
          <a:lstStyle/>
          <a:p>
            <a:fld id="{676223B9-C868-4436-87D9-1A3152E1157A}" type="slidenum">
              <a:rPr lang="es-ES" smtClean="0"/>
              <a:t>16</a:t>
            </a:fld>
            <a:endParaRPr lang="es-ES"/>
          </a:p>
        </p:txBody>
      </p:sp>
    </p:spTree>
    <p:extLst>
      <p:ext uri="{BB962C8B-B14F-4D97-AF65-F5344CB8AC3E}">
        <p14:creationId xmlns:p14="http://schemas.microsoft.com/office/powerpoint/2010/main" val="2593748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993BBE-3704-D894-1C10-5488EE611F08}"/>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19BB04E2-F70F-42F7-9964-3D274C49FB9C}"/>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F6664AEC-7D1D-9DDC-3B94-3AE8450C7E5E}"/>
              </a:ext>
            </a:extLst>
          </p:cNvPr>
          <p:cNvSpPr>
            <a:spLocks noGrp="1"/>
          </p:cNvSpPr>
          <p:nvPr>
            <p:ph type="body" idx="1"/>
          </p:nvPr>
        </p:nvSpPr>
        <p:spPr/>
        <p:txBody>
          <a:bodyPr/>
          <a:lstStyle/>
          <a:p>
            <a:endParaRPr lang="es-ES"/>
          </a:p>
        </p:txBody>
      </p:sp>
      <p:sp>
        <p:nvSpPr>
          <p:cNvPr id="4" name="Marcador de número de diapositiva 3">
            <a:extLst>
              <a:ext uri="{FF2B5EF4-FFF2-40B4-BE49-F238E27FC236}">
                <a16:creationId xmlns:a16="http://schemas.microsoft.com/office/drawing/2014/main" id="{E8F62EEB-2D30-2026-D252-4267AF688251}"/>
              </a:ext>
            </a:extLst>
          </p:cNvPr>
          <p:cNvSpPr>
            <a:spLocks noGrp="1"/>
          </p:cNvSpPr>
          <p:nvPr>
            <p:ph type="sldNum" sz="quarter" idx="5"/>
          </p:nvPr>
        </p:nvSpPr>
        <p:spPr/>
        <p:txBody>
          <a:bodyPr/>
          <a:lstStyle/>
          <a:p>
            <a:fld id="{676223B9-C868-4436-87D9-1A3152E1157A}" type="slidenum">
              <a:rPr lang="es-ES" smtClean="0"/>
              <a:t>17</a:t>
            </a:fld>
            <a:endParaRPr lang="es-ES"/>
          </a:p>
        </p:txBody>
      </p:sp>
    </p:spTree>
    <p:extLst>
      <p:ext uri="{BB962C8B-B14F-4D97-AF65-F5344CB8AC3E}">
        <p14:creationId xmlns:p14="http://schemas.microsoft.com/office/powerpoint/2010/main" val="188558220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1F0DE5-8A98-EAED-5E4A-DAF2C09A78B5}"/>
            </a:ext>
          </a:extLst>
        </p:cNvPr>
        <p:cNvGrpSpPr/>
        <p:nvPr/>
      </p:nvGrpSpPr>
      <p:grpSpPr>
        <a:xfrm>
          <a:off x="0" y="0"/>
          <a:ext cx="0" cy="0"/>
          <a:chOff x="0" y="0"/>
          <a:chExt cx="0" cy="0"/>
        </a:xfrm>
      </p:grpSpPr>
      <p:sp>
        <p:nvSpPr>
          <p:cNvPr id="2" name="Marcador de imagen de diapositiva 1">
            <a:extLst>
              <a:ext uri="{FF2B5EF4-FFF2-40B4-BE49-F238E27FC236}">
                <a16:creationId xmlns:a16="http://schemas.microsoft.com/office/drawing/2014/main" id="{760F1DCA-73A6-BF68-47B3-5C605252EBC2}"/>
              </a:ext>
            </a:extLst>
          </p:cNvPr>
          <p:cNvSpPr>
            <a:spLocks noGrp="1" noRot="1" noChangeAspect="1"/>
          </p:cNvSpPr>
          <p:nvPr>
            <p:ph type="sldImg"/>
          </p:nvPr>
        </p:nvSpPr>
        <p:spPr/>
      </p:sp>
      <p:sp>
        <p:nvSpPr>
          <p:cNvPr id="3" name="Marcador de notas 2">
            <a:extLst>
              <a:ext uri="{FF2B5EF4-FFF2-40B4-BE49-F238E27FC236}">
                <a16:creationId xmlns:a16="http://schemas.microsoft.com/office/drawing/2014/main" id="{ED561824-5CEB-B2D4-3477-85622E29446B}"/>
              </a:ext>
            </a:extLst>
          </p:cNvPr>
          <p:cNvSpPr>
            <a:spLocks noGrp="1"/>
          </p:cNvSpPr>
          <p:nvPr>
            <p:ph type="body" idx="1"/>
          </p:nvPr>
        </p:nvSpPr>
        <p:spPr/>
        <p:txBody>
          <a:bodyPr/>
          <a:lstStyle/>
          <a:p>
            <a:endParaRPr lang="es-ES" dirty="0"/>
          </a:p>
        </p:txBody>
      </p:sp>
      <p:sp>
        <p:nvSpPr>
          <p:cNvPr id="4" name="Marcador de número de diapositiva 3">
            <a:extLst>
              <a:ext uri="{FF2B5EF4-FFF2-40B4-BE49-F238E27FC236}">
                <a16:creationId xmlns:a16="http://schemas.microsoft.com/office/drawing/2014/main" id="{3F2193CF-A5BE-6596-4291-DAFAFD29C4C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676223B9-C868-4436-87D9-1A3152E1157A}" type="slidenum">
              <a:rPr kumimoji="0" lang="es-ES" sz="1200" b="0" i="0" u="none" strike="noStrike" kern="1200" cap="none" spc="0" normalizeH="0" baseline="0" noProof="0" smtClean="0">
                <a:ln>
                  <a:noFill/>
                </a:ln>
                <a:solidFill>
                  <a:prstClr val="black"/>
                </a:solidFill>
                <a:effectLst/>
                <a:uLnTx/>
                <a:uFillTx/>
                <a:latin typeface="Aptos" panose="0211000402020202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s-ES" sz="1200" b="0" i="0" u="none" strike="noStrike" kern="1200" cap="none" spc="0" normalizeH="0" baseline="0" noProof="0">
              <a:ln>
                <a:noFill/>
              </a:ln>
              <a:solidFill>
                <a:prstClr val="black"/>
              </a:solidFill>
              <a:effectLst/>
              <a:uLnTx/>
              <a:uFillTx/>
              <a:latin typeface="Aptos" panose="02110004020202020204"/>
              <a:ea typeface="+mn-ea"/>
              <a:cs typeface="+mn-cs"/>
            </a:endParaRPr>
          </a:p>
        </p:txBody>
      </p:sp>
    </p:spTree>
    <p:extLst>
      <p:ext uri="{BB962C8B-B14F-4D97-AF65-F5344CB8AC3E}">
        <p14:creationId xmlns:p14="http://schemas.microsoft.com/office/powerpoint/2010/main" val="121612270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5.png"/><Relationship Id="rId1" Type="http://schemas.openxmlformats.org/officeDocument/2006/relationships/slideMaster" Target="../slideMasters/slideMaster1.xml"/><Relationship Id="rId4" Type="http://schemas.openxmlformats.org/officeDocument/2006/relationships/image" Target="../media/image4.svg"/></Relationships>
</file>

<file path=ppt/slideLayouts/slideLayout1.xml><?xml version="1.0" encoding="utf-8"?>
<p:sldLayout xmlns:a="http://schemas.openxmlformats.org/drawingml/2006/main" xmlns:r="http://schemas.openxmlformats.org/officeDocument/2006/relationships" xmlns:p="http://schemas.openxmlformats.org/presentationml/2006/main" type="obj" preserve="1">
  <p:cSld name="Title Slide">
    <p:spTree>
      <p:nvGrpSpPr>
        <p:cNvPr id="1" name=""/>
        <p:cNvGrpSpPr/>
        <p:nvPr/>
      </p:nvGrpSpPr>
      <p:grpSpPr>
        <a:xfrm>
          <a:off x="0" y="0"/>
          <a:ext cx="0" cy="0"/>
          <a:chOff x="0" y="0"/>
          <a:chExt cx="0" cy="0"/>
        </a:xfrm>
      </p:grpSpPr>
      <p:sp>
        <p:nvSpPr>
          <p:cNvPr id="2" name="Holder 2"/>
          <p:cNvSpPr>
            <a:spLocks noGrp="1"/>
          </p:cNvSpPr>
          <p:nvPr>
            <p:ph type="ctrTitle"/>
          </p:nvPr>
        </p:nvSpPr>
        <p:spPr>
          <a:xfrm>
            <a:off x="914400" y="2125980"/>
            <a:ext cx="10363200" cy="1440180"/>
          </a:xfrm>
          <a:prstGeom prst="rect">
            <a:avLst/>
          </a:prstGeom>
        </p:spPr>
        <p:txBody>
          <a:bodyPr wrap="square" lIns="0" tIns="0" rIns="0" bIns="0">
            <a:spAutoFit/>
          </a:bodyPr>
          <a:lstStyle>
            <a:lvl1pPr>
              <a:defRPr/>
            </a:lvl1pPr>
          </a:lstStyle>
          <a:p>
            <a:endParaRPr/>
          </a:p>
        </p:txBody>
      </p:sp>
      <p:sp>
        <p:nvSpPr>
          <p:cNvPr id="3" name="Holder 3"/>
          <p:cNvSpPr>
            <a:spLocks noGrp="1"/>
          </p:cNvSpPr>
          <p:nvPr>
            <p:ph type="subTitle" idx="4"/>
          </p:nvPr>
        </p:nvSpPr>
        <p:spPr>
          <a:xfrm>
            <a:off x="1828800" y="3840480"/>
            <a:ext cx="8534400" cy="171450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5" name="Holder 5"/>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‹Nº›</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Holder 2"/>
          <p:cNvSpPr>
            <a:spLocks noGrp="1"/>
          </p:cNvSpPr>
          <p:nvPr>
            <p:ph type="title"/>
          </p:nvPr>
        </p:nvSpPr>
        <p:spPr>
          <a:xfrm>
            <a:off x="590550" y="206752"/>
            <a:ext cx="10991850" cy="307777"/>
          </a:xfrm>
        </p:spPr>
        <p:txBody>
          <a:bodyPr lIns="0" tIns="0" rIns="0" bIns="0"/>
          <a:lstStyle>
            <a:lvl1pPr>
              <a:defRPr sz="2000" b="1" i="0">
                <a:solidFill>
                  <a:schemeClr val="tx1"/>
                </a:solidFill>
                <a:latin typeface="Calibri"/>
                <a:cs typeface="Calibri"/>
              </a:defRPr>
            </a:lvl1pPr>
          </a:lstStyle>
          <a:p>
            <a:endParaRPr dirty="0"/>
          </a:p>
        </p:txBody>
      </p:sp>
      <p:sp>
        <p:nvSpPr>
          <p:cNvPr id="3" name="Holder 3"/>
          <p:cNvSpPr>
            <a:spLocks noGrp="1"/>
          </p:cNvSpPr>
          <p:nvPr>
            <p:ph type="body" idx="1"/>
          </p:nvPr>
        </p:nvSpPr>
        <p:spPr>
          <a:xfrm>
            <a:off x="609600" y="2152910"/>
            <a:ext cx="10972800" cy="3950710"/>
          </a:xfrm>
        </p:spPr>
        <p:txBody>
          <a:bodyPr lIns="0" tIns="0" rIns="0" bIns="0"/>
          <a:lstStyle>
            <a:lvl1pPr>
              <a:defRPr/>
            </a:lvl1pPr>
          </a:lstStyle>
          <a:p>
            <a:endParaRPr dirty="0"/>
          </a:p>
        </p:txBody>
      </p:sp>
      <p:sp>
        <p:nvSpPr>
          <p:cNvPr id="4" name="Holder 4"/>
          <p:cNvSpPr>
            <a:spLocks noGrp="1"/>
          </p:cNvSpPr>
          <p:nvPr>
            <p:ph type="ftr" sz="quarter" idx="5"/>
          </p:nvPr>
        </p:nvSpPr>
        <p:spPr>
          <a:xfrm>
            <a:off x="609600" y="6457057"/>
            <a:ext cx="2743200" cy="184666"/>
          </a:xfrm>
        </p:spPr>
        <p:txBody>
          <a:bodyPr lIns="0" tIns="0" rIns="0" bIns="0" anchor="ctr"/>
          <a:lstStyle>
            <a:lvl1pPr>
              <a:defRPr sz="1200" b="0" i="0">
                <a:solidFill>
                  <a:srgbClr val="585858"/>
                </a:solidFill>
                <a:latin typeface="Arial"/>
                <a:cs typeface="Arial"/>
              </a:defRPr>
            </a:lvl1pPr>
          </a:lstStyle>
          <a:p>
            <a:pPr marL="12700">
              <a:spcBef>
                <a:spcPts val="15"/>
              </a:spcBef>
            </a:pPr>
            <a:r>
              <a:rPr lang="es-ES" spc="-5"/>
              <a:t>LAB 1.0 WAVEGUIDES</a:t>
            </a:r>
          </a:p>
        </p:txBody>
      </p:sp>
      <p:sp>
        <p:nvSpPr>
          <p:cNvPr id="6" name="Holder 6"/>
          <p:cNvSpPr>
            <a:spLocks noGrp="1"/>
          </p:cNvSpPr>
          <p:nvPr>
            <p:ph type="sldNum" sz="quarter" idx="7"/>
          </p:nvPr>
        </p:nvSpPr>
        <p:spPr>
          <a:xfrm>
            <a:off x="9311640" y="6377940"/>
            <a:ext cx="2804160" cy="342900"/>
          </a:xfrm>
        </p:spPr>
        <p:txBody>
          <a:bodyPr lIns="0" tIns="0" rIns="0" bIns="0"/>
          <a:lstStyle>
            <a:lvl1pPr algn="r">
              <a:defRPr>
                <a:solidFill>
                  <a:schemeClr val="tx1">
                    <a:tint val="75000"/>
                  </a:schemeClr>
                </a:solidFill>
              </a:defRPr>
            </a:lvl1pPr>
          </a:lstStyle>
          <a:p>
            <a:fld id="{B6F15528-21DE-4FAA-801E-634DDDAF4B2B}" type="slidenum">
              <a:rPr/>
              <a:t>‹Nº›</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Two Content">
    <p:spTree>
      <p:nvGrpSpPr>
        <p:cNvPr id="1" name=""/>
        <p:cNvGrpSpPr/>
        <p:nvPr/>
      </p:nvGrpSpPr>
      <p:grpSpPr>
        <a:xfrm>
          <a:off x="0" y="0"/>
          <a:ext cx="0" cy="0"/>
          <a:chOff x="0" y="0"/>
          <a:chExt cx="0" cy="0"/>
        </a:xfrm>
      </p:grpSpPr>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3" name="Holder 3"/>
          <p:cNvSpPr>
            <a:spLocks noGrp="1"/>
          </p:cNvSpPr>
          <p:nvPr>
            <p:ph sz="half" idx="2"/>
          </p:nvPr>
        </p:nvSpPr>
        <p:spPr>
          <a:xfrm>
            <a:off x="609600" y="1577340"/>
            <a:ext cx="530352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sz="half" idx="3"/>
          </p:nvPr>
        </p:nvSpPr>
        <p:spPr>
          <a:xfrm>
            <a:off x="6278880" y="1577340"/>
            <a:ext cx="5303520" cy="4526280"/>
          </a:xfrm>
          <a:prstGeom prst="rect">
            <a:avLst/>
          </a:prstGeom>
        </p:spPr>
        <p:txBody>
          <a:bodyPr wrap="square" lIns="0" tIns="0" rIns="0" bIns="0">
            <a:spAutoFit/>
          </a:bodyPr>
          <a:lstStyle>
            <a:lvl1pPr>
              <a:defRPr/>
            </a:lvl1pPr>
          </a:lstStyle>
          <a:p>
            <a:endParaRPr/>
          </a:p>
        </p:txBody>
      </p:sp>
      <p:sp>
        <p:nvSpPr>
          <p:cNvPr id="5" name="Holder 5"/>
          <p:cNvSpPr>
            <a:spLocks noGrp="1"/>
          </p:cNvSpPr>
          <p:nvPr>
            <p:ph type="ftr" sz="quarter" idx="5"/>
          </p:nvPr>
        </p:nvSpPr>
        <p:spPr/>
        <p:txBody>
          <a:bodyPr lIns="0" tIns="0" rIns="0" bIns="0"/>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6" name="Holder 6"/>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7" name="Holder 7"/>
          <p:cNvSpPr>
            <a:spLocks noGrp="1"/>
          </p:cNvSpPr>
          <p:nvPr>
            <p:ph type="sldNum" sz="quarter" idx="7"/>
          </p:nvPr>
        </p:nvSpPr>
        <p:spPr/>
        <p:txBody>
          <a:bodyPr lIns="0" tIns="0" rIns="0" bIns="0"/>
          <a:lstStyle>
            <a:lvl1pPr algn="r">
              <a:defRPr>
                <a:solidFill>
                  <a:schemeClr val="tx1">
                    <a:tint val="75000"/>
                  </a:schemeClr>
                </a:solidFill>
              </a:defRPr>
            </a:lvl1pPr>
          </a:lstStyle>
          <a:p>
            <a:fld id="{B6F15528-21DE-4FAA-801E-634DDDAF4B2B}" type="slidenum">
              <a:rPr/>
              <a:t>‹Nº›</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type="obj" preserve="1">
  <p:cSld name="Title Only">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0" y="2636520"/>
            <a:ext cx="3944620" cy="1584960"/>
          </a:xfrm>
          <a:custGeom>
            <a:avLst/>
            <a:gdLst/>
            <a:ahLst/>
            <a:cxnLst/>
            <a:rect l="l" t="t" r="r" b="b"/>
            <a:pathLst>
              <a:path w="3944620" h="1584960">
                <a:moveTo>
                  <a:pt x="0" y="1584959"/>
                </a:moveTo>
                <a:lnTo>
                  <a:pt x="3944112" y="1584959"/>
                </a:lnTo>
                <a:lnTo>
                  <a:pt x="3944112" y="0"/>
                </a:lnTo>
                <a:lnTo>
                  <a:pt x="0" y="0"/>
                </a:lnTo>
                <a:lnTo>
                  <a:pt x="0" y="1584959"/>
                </a:lnTo>
                <a:close/>
              </a:path>
            </a:pathLst>
          </a:custGeom>
          <a:solidFill>
            <a:srgbClr val="000000"/>
          </a:solidFill>
        </p:spPr>
        <p:txBody>
          <a:bodyPr wrap="square" lIns="0" tIns="0" rIns="0" bIns="0" rtlCol="0"/>
          <a:lstStyle/>
          <a:p>
            <a:endParaRPr/>
          </a:p>
        </p:txBody>
      </p:sp>
      <p:sp>
        <p:nvSpPr>
          <p:cNvPr id="17" name="bk object 17"/>
          <p:cNvSpPr/>
          <p:nvPr/>
        </p:nvSpPr>
        <p:spPr>
          <a:xfrm>
            <a:off x="771144" y="2951988"/>
            <a:ext cx="2403348" cy="954024"/>
          </a:xfrm>
          <a:prstGeom prst="rect">
            <a:avLst/>
          </a:prstGeom>
          <a:blipFill>
            <a:blip r:embed="rId2" cstate="print"/>
            <a:stretch>
              <a:fillRect/>
            </a:stretch>
          </a:blipFill>
        </p:spPr>
        <p:txBody>
          <a:bodyPr wrap="square" lIns="0" tIns="0" rIns="0" bIns="0" rtlCol="0"/>
          <a:lstStyle/>
          <a:p>
            <a:endParaRPr/>
          </a:p>
        </p:txBody>
      </p:sp>
      <p:sp>
        <p:nvSpPr>
          <p:cNvPr id="2" name="Holder 2"/>
          <p:cNvSpPr>
            <a:spLocks noGrp="1"/>
          </p:cNvSpPr>
          <p:nvPr>
            <p:ph type="title"/>
          </p:nvPr>
        </p:nvSpPr>
        <p:spPr/>
        <p:txBody>
          <a:bodyPr lIns="0" tIns="0" rIns="0" bIns="0"/>
          <a:lstStyle>
            <a:lvl1pPr>
              <a:defRPr sz="1600" b="0" i="0">
                <a:solidFill>
                  <a:schemeClr val="tx1"/>
                </a:solidFill>
                <a:latin typeface="Calibri"/>
                <a:cs typeface="Calibri"/>
              </a:defRPr>
            </a:lvl1pPr>
          </a:lstStyle>
          <a:p>
            <a:endParaRPr/>
          </a:p>
        </p:txBody>
      </p:sp>
      <p:sp>
        <p:nvSpPr>
          <p:cNvPr id="4" name="Holder 4"/>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5" name="Holder 5"/>
          <p:cNvSpPr>
            <a:spLocks noGrp="1"/>
          </p:cNvSpPr>
          <p:nvPr>
            <p:ph type="sldNum" sz="quarter" idx="7"/>
          </p:nvPr>
        </p:nvSpPr>
        <p:spPr>
          <a:xfrm>
            <a:off x="9296400" y="6377940"/>
            <a:ext cx="2804160" cy="342900"/>
          </a:xfrm>
        </p:spPr>
        <p:txBody>
          <a:bodyPr lIns="0" tIns="0" rIns="0" bIns="0"/>
          <a:lstStyle>
            <a:lvl1pPr algn="r">
              <a:defRPr>
                <a:solidFill>
                  <a:schemeClr val="tx1">
                    <a:tint val="75000"/>
                  </a:schemeClr>
                </a:solidFill>
              </a:defRPr>
            </a:lvl1pPr>
          </a:lstStyle>
          <a:p>
            <a:fld id="{B6F15528-21DE-4FAA-801E-634DDDAF4B2B}" type="slidenum">
              <a:rPr/>
              <a:t>‹Nº›</a:t>
            </a:fld>
            <a:endParaRPr/>
          </a:p>
        </p:txBody>
      </p:sp>
      <p:pic>
        <p:nvPicPr>
          <p:cNvPr id="6" name="Gráfico 5">
            <a:extLst>
              <a:ext uri="{FF2B5EF4-FFF2-40B4-BE49-F238E27FC236}">
                <a16:creationId xmlns:a16="http://schemas.microsoft.com/office/drawing/2014/main" id="{F5CB4B75-CC85-5F87-B13B-97FD63FFBC56}"/>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2891213" y="6357666"/>
            <a:ext cx="6409575" cy="363174"/>
          </a:xfrm>
          <a:prstGeom prst="rect">
            <a:avLst/>
          </a:prstGeom>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type="obj" preserve="1">
  <p:cSld name="Blank">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594327" y="4722313"/>
            <a:ext cx="1521016" cy="1253853"/>
          </a:xfrm>
          <a:prstGeom prst="rect">
            <a:avLst/>
          </a:prstGeom>
          <a:blipFill>
            <a:blip r:embed="rId2" cstate="print"/>
            <a:stretch>
              <a:fillRect/>
            </a:stretch>
          </a:blipFill>
        </p:spPr>
        <p:txBody>
          <a:bodyPr wrap="square" lIns="0" tIns="0" rIns="0" bIns="0" rtlCol="0"/>
          <a:lstStyle/>
          <a:p>
            <a:endParaRPr/>
          </a:p>
        </p:txBody>
      </p:sp>
      <p:sp>
        <p:nvSpPr>
          <p:cNvPr id="3" name="Holder 3"/>
          <p:cNvSpPr>
            <a:spLocks noGrp="1"/>
          </p:cNvSpPr>
          <p:nvPr>
            <p:ph type="dt" sz="half" idx="6"/>
          </p:nvPr>
        </p:nvSpPr>
        <p:spPr/>
        <p:txBody>
          <a:bodyPr lIns="0" tIns="0" rIns="0" bIns="0"/>
          <a:lstStyle>
            <a:lvl1pPr algn="l">
              <a:defRPr>
                <a:solidFill>
                  <a:schemeClr val="tx1">
                    <a:tint val="75000"/>
                  </a:schemeClr>
                </a:solidFill>
              </a:defRPr>
            </a:lvl1pPr>
          </a:lstStyle>
          <a:p>
            <a:endParaRPr lang="en-US"/>
          </a:p>
        </p:txBody>
      </p:sp>
      <p:sp>
        <p:nvSpPr>
          <p:cNvPr id="4" name="Holder 4"/>
          <p:cNvSpPr>
            <a:spLocks noGrp="1"/>
          </p:cNvSpPr>
          <p:nvPr>
            <p:ph type="sldNum" sz="quarter" idx="7"/>
          </p:nvPr>
        </p:nvSpPr>
        <p:spPr>
          <a:xfrm>
            <a:off x="9372600" y="6377940"/>
            <a:ext cx="2804160" cy="342900"/>
          </a:xfrm>
        </p:spPr>
        <p:txBody>
          <a:bodyPr lIns="0" tIns="0" rIns="0" bIns="0"/>
          <a:lstStyle>
            <a:lvl1pPr algn="r">
              <a:defRPr>
                <a:solidFill>
                  <a:schemeClr val="tx1">
                    <a:tint val="75000"/>
                  </a:schemeClr>
                </a:solidFill>
              </a:defRPr>
            </a:lvl1pPr>
          </a:lstStyle>
          <a:p>
            <a:fld id="{B6F15528-21DE-4FAA-801E-634DDDAF4B2B}" type="slidenum">
              <a:rPr/>
              <a:t>‹Nº›</a:t>
            </a:fld>
            <a:endParaRPr/>
          </a:p>
        </p:txBody>
      </p:sp>
      <p:pic>
        <p:nvPicPr>
          <p:cNvPr id="5" name="Gráfico 4">
            <a:extLst>
              <a:ext uri="{FF2B5EF4-FFF2-40B4-BE49-F238E27FC236}">
                <a16:creationId xmlns:a16="http://schemas.microsoft.com/office/drawing/2014/main" id="{9F3DE434-B07E-429D-5547-0D42DA9B05A1}"/>
              </a:ext>
            </a:extLst>
          </p:cNvPr>
          <p:cNvPicPr>
            <a:picLocks noChangeAspect="1"/>
          </p:cNvPicPr>
          <p:nvPr userDrawn="1"/>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bk object 16"/>
          <p:cNvSpPr/>
          <p:nvPr/>
        </p:nvSpPr>
        <p:spPr>
          <a:xfrm>
            <a:off x="891539" y="5283707"/>
            <a:ext cx="2624328" cy="1574289"/>
          </a:xfrm>
          <a:prstGeom prst="rect">
            <a:avLst/>
          </a:prstGeom>
          <a:blipFill>
            <a:blip r:embed="rId7" cstate="print"/>
            <a:stretch>
              <a:fillRect/>
            </a:stretch>
          </a:blipFill>
        </p:spPr>
        <p:txBody>
          <a:bodyPr wrap="square" lIns="0" tIns="0" rIns="0" bIns="0" rtlCol="0"/>
          <a:lstStyle/>
          <a:p>
            <a:endParaRPr/>
          </a:p>
        </p:txBody>
      </p:sp>
      <p:sp>
        <p:nvSpPr>
          <p:cNvPr id="2" name="Holder 2"/>
          <p:cNvSpPr>
            <a:spLocks noGrp="1"/>
          </p:cNvSpPr>
          <p:nvPr>
            <p:ph type="title"/>
          </p:nvPr>
        </p:nvSpPr>
        <p:spPr>
          <a:xfrm>
            <a:off x="3986910" y="1699005"/>
            <a:ext cx="2599054" cy="269239"/>
          </a:xfrm>
          <a:prstGeom prst="rect">
            <a:avLst/>
          </a:prstGeom>
        </p:spPr>
        <p:txBody>
          <a:bodyPr wrap="square" lIns="0" tIns="0" rIns="0" bIns="0">
            <a:spAutoFit/>
          </a:bodyPr>
          <a:lstStyle>
            <a:lvl1pPr>
              <a:defRPr sz="1600" b="0" i="0">
                <a:solidFill>
                  <a:schemeClr val="tx1"/>
                </a:solidFill>
                <a:latin typeface="Calibri"/>
                <a:cs typeface="Calibri"/>
              </a:defRPr>
            </a:lvl1pPr>
          </a:lstStyle>
          <a:p>
            <a:endParaRPr/>
          </a:p>
        </p:txBody>
      </p:sp>
      <p:sp>
        <p:nvSpPr>
          <p:cNvPr id="3" name="Holder 3"/>
          <p:cNvSpPr>
            <a:spLocks noGrp="1"/>
          </p:cNvSpPr>
          <p:nvPr>
            <p:ph type="body" idx="1"/>
          </p:nvPr>
        </p:nvSpPr>
        <p:spPr>
          <a:xfrm>
            <a:off x="609600" y="1577340"/>
            <a:ext cx="10972800" cy="4526280"/>
          </a:xfrm>
          <a:prstGeom prst="rect">
            <a:avLst/>
          </a:prstGeom>
        </p:spPr>
        <p:txBody>
          <a:bodyPr wrap="square" lIns="0" tIns="0" rIns="0" bIns="0">
            <a:spAutoFit/>
          </a:bodyPr>
          <a:lstStyle>
            <a:lvl1pPr>
              <a:defRPr/>
            </a:lvl1pPr>
          </a:lstStyle>
          <a:p>
            <a:endParaRPr/>
          </a:p>
        </p:txBody>
      </p:sp>
      <p:sp>
        <p:nvSpPr>
          <p:cNvPr id="4" name="Holder 4"/>
          <p:cNvSpPr>
            <a:spLocks noGrp="1"/>
          </p:cNvSpPr>
          <p:nvPr>
            <p:ph type="ftr" sz="quarter" idx="5"/>
          </p:nvPr>
        </p:nvSpPr>
        <p:spPr>
          <a:xfrm>
            <a:off x="5695950" y="6465068"/>
            <a:ext cx="1210945" cy="153670"/>
          </a:xfrm>
          <a:prstGeom prst="rect">
            <a:avLst/>
          </a:prstGeom>
        </p:spPr>
        <p:txBody>
          <a:bodyPr wrap="square" lIns="0" tIns="0" rIns="0" bIns="0">
            <a:spAutoFit/>
          </a:bodyPr>
          <a:lstStyle>
            <a:lvl1pPr>
              <a:defRPr sz="900" b="0" i="0">
                <a:solidFill>
                  <a:srgbClr val="585858"/>
                </a:solidFill>
                <a:latin typeface="Arial"/>
                <a:cs typeface="Arial"/>
              </a:defRPr>
            </a:lvl1pPr>
          </a:lstStyle>
          <a:p>
            <a:pPr marL="12700">
              <a:lnSpc>
                <a:spcPct val="100000"/>
              </a:lnSpc>
              <a:spcBef>
                <a:spcPts val="15"/>
              </a:spcBef>
            </a:pPr>
            <a:r>
              <a:rPr lang="es-ES" spc="-5"/>
              <a:t>LAB 1.0 WAVEGUIDES</a:t>
            </a:r>
            <a:endParaRPr spc="-5"/>
          </a:p>
        </p:txBody>
      </p:sp>
      <p:sp>
        <p:nvSpPr>
          <p:cNvPr id="5" name="Holder 5"/>
          <p:cNvSpPr>
            <a:spLocks noGrp="1"/>
          </p:cNvSpPr>
          <p:nvPr>
            <p:ph type="dt" sz="half" idx="6"/>
          </p:nvPr>
        </p:nvSpPr>
        <p:spPr>
          <a:xfrm>
            <a:off x="609600" y="6377940"/>
            <a:ext cx="2804160" cy="342900"/>
          </a:xfrm>
          <a:prstGeom prst="rect">
            <a:avLst/>
          </a:prstGeom>
        </p:spPr>
        <p:txBody>
          <a:bodyPr wrap="square" lIns="0" tIns="0" rIns="0" bIns="0">
            <a:spAutoFit/>
          </a:bodyPr>
          <a:lstStyle>
            <a:lvl1pPr algn="l">
              <a:defRPr>
                <a:solidFill>
                  <a:schemeClr val="tx1">
                    <a:tint val="75000"/>
                  </a:schemeClr>
                </a:solidFill>
              </a:defRPr>
            </a:lvl1pPr>
          </a:lstStyle>
          <a:p>
            <a:endParaRPr lang="en-US"/>
          </a:p>
        </p:txBody>
      </p:sp>
      <p:sp>
        <p:nvSpPr>
          <p:cNvPr id="6" name="Holder 6"/>
          <p:cNvSpPr>
            <a:spLocks noGrp="1"/>
          </p:cNvSpPr>
          <p:nvPr>
            <p:ph type="sldNum" sz="quarter" idx="7"/>
          </p:nvPr>
        </p:nvSpPr>
        <p:spPr>
          <a:xfrm>
            <a:off x="9311640" y="6377940"/>
            <a:ext cx="2804160" cy="342900"/>
          </a:xfrm>
          <a:prstGeom prst="rect">
            <a:avLst/>
          </a:prstGeom>
        </p:spPr>
        <p:txBody>
          <a:bodyPr wrap="square" lIns="0" tIns="0" rIns="0" bIns="0">
            <a:spAutoFit/>
          </a:bodyPr>
          <a:lstStyle>
            <a:lvl1pPr algn="r">
              <a:defRPr>
                <a:solidFill>
                  <a:schemeClr val="tx1">
                    <a:tint val="75000"/>
                  </a:schemeClr>
                </a:solidFill>
              </a:defRPr>
            </a:lvl1pPr>
          </a:lstStyle>
          <a:p>
            <a:fld id="{B6F15528-21DE-4FAA-801E-634DDDAF4B2B}" type="slidenum">
              <a:rPr/>
              <a:t>‹Nº›</a:t>
            </a:fld>
            <a:endParaRPr/>
          </a:p>
        </p:txBody>
      </p:sp>
    </p:spTree>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Lst>
  <p:hf hdr="0" dt="0"/>
  <p:txStyles>
    <p:titleStyle>
      <a:lvl1pPr>
        <a:defRPr>
          <a:latin typeface="+mj-lt"/>
          <a:ea typeface="+mj-ea"/>
          <a:cs typeface="+mj-cs"/>
        </a:defRPr>
      </a:lvl1pPr>
    </p:titleStyle>
    <p:body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bodyStyle>
    <p:other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8.png"/><Relationship Id="rId5" Type="http://schemas.openxmlformats.org/officeDocument/2006/relationships/image" Target="../media/image7.png"/><Relationship Id="rId4" Type="http://schemas.openxmlformats.org/officeDocument/2006/relationships/image" Target="../media/image4.sv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4.svg"/></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4.sv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8.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3.png"/><Relationship Id="rId7" Type="http://schemas.openxmlformats.org/officeDocument/2006/relationships/image" Target="../media/image14.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4.svg"/></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4.svg"/></Relationships>
</file>

<file path=ppt/slides/_rels/slide1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2.xml"/><Relationship Id="rId5" Type="http://schemas.openxmlformats.org/officeDocument/2006/relationships/image" Target="../media/image18.png"/><Relationship Id="rId4" Type="http://schemas.openxmlformats.org/officeDocument/2006/relationships/image" Target="../media/image4.sv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19.png"/><Relationship Id="rId4" Type="http://schemas.openxmlformats.org/officeDocument/2006/relationships/image" Target="../media/image4.svg"/></Relationships>
</file>

<file path=ppt/slides/_rels/slide1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0.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4.svg"/></Relationships>
</file>

<file path=ppt/slides/_rels/slide1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4.svg"/></Relationships>
</file>

<file path=ppt/slides/_rels/slide1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2.xml"/><Relationship Id="rId1" Type="http://schemas.openxmlformats.org/officeDocument/2006/relationships/slideLayout" Target="../slideLayouts/slideLayout2.xml"/><Relationship Id="rId5" Type="http://schemas.openxmlformats.org/officeDocument/2006/relationships/image" Target="../media/image22.png"/><Relationship Id="rId4" Type="http://schemas.openxmlformats.org/officeDocument/2006/relationships/image" Target="../media/image4.sv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4.svg"/></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4.sv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5.xml"/><Relationship Id="rId1" Type="http://schemas.openxmlformats.org/officeDocument/2006/relationships/slideLayout" Target="../slideLayouts/slideLayout2.xml"/><Relationship Id="rId5" Type="http://schemas.openxmlformats.org/officeDocument/2006/relationships/image" Target="../media/image25.png"/><Relationship Id="rId4" Type="http://schemas.openxmlformats.org/officeDocument/2006/relationships/image" Target="../media/image4.sv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26.png"/><Relationship Id="rId5" Type="http://schemas.openxmlformats.org/officeDocument/2006/relationships/image" Target="../media/image21.png"/><Relationship Id="rId4" Type="http://schemas.openxmlformats.org/officeDocument/2006/relationships/image" Target="../media/image4.svg"/></Relationships>
</file>

<file path=ppt/slides/_rels/slide19.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txBox="1"/>
          <p:nvPr/>
        </p:nvSpPr>
        <p:spPr>
          <a:xfrm>
            <a:off x="2749676" y="4919853"/>
            <a:ext cx="6106795" cy="513715"/>
          </a:xfrm>
          <a:prstGeom prst="rect">
            <a:avLst/>
          </a:prstGeom>
        </p:spPr>
        <p:txBody>
          <a:bodyPr vert="horz" wrap="square" lIns="0" tIns="12700" rIns="0" bIns="0" rtlCol="0">
            <a:spAutoFit/>
          </a:bodyPr>
          <a:lstStyle/>
          <a:p>
            <a:pPr marL="12700">
              <a:lnSpc>
                <a:spcPct val="100000"/>
              </a:lnSpc>
              <a:spcBef>
                <a:spcPts val="100"/>
              </a:spcBef>
            </a:pPr>
            <a:r>
              <a:rPr lang="es-ES" sz="3200" b="1" dirty="0" err="1">
                <a:latin typeface="Lucida Sans"/>
                <a:cs typeface="Lucida Sans"/>
              </a:rPr>
              <a:t>Lab</a:t>
            </a:r>
            <a:r>
              <a:rPr lang="es-ES" sz="3200" b="1">
                <a:latin typeface="Lucida Sans"/>
                <a:cs typeface="Lucida Sans"/>
              </a:rPr>
              <a:t> Book 1.0. </a:t>
            </a:r>
            <a:r>
              <a:rPr lang="es-ES" sz="3200" b="1" err="1">
                <a:latin typeface="Lucida Sans"/>
                <a:cs typeface="Lucida Sans"/>
              </a:rPr>
              <a:t>Waveguides</a:t>
            </a:r>
            <a:endParaRPr sz="3200">
              <a:latin typeface="Lucida Sans"/>
              <a:cs typeface="Lucida Sans"/>
            </a:endParaRPr>
          </a:p>
        </p:txBody>
      </p:sp>
      <p:sp>
        <p:nvSpPr>
          <p:cNvPr id="4" name="object 4"/>
          <p:cNvSpPr txBox="1"/>
          <p:nvPr/>
        </p:nvSpPr>
        <p:spPr>
          <a:xfrm>
            <a:off x="2749676" y="5610250"/>
            <a:ext cx="8223124" cy="289823"/>
          </a:xfrm>
          <a:prstGeom prst="rect">
            <a:avLst/>
          </a:prstGeom>
        </p:spPr>
        <p:txBody>
          <a:bodyPr vert="horz" wrap="square" lIns="0" tIns="12700" rIns="0" bIns="0" rtlCol="0">
            <a:spAutoFit/>
          </a:bodyPr>
          <a:lstStyle/>
          <a:p>
            <a:pPr marL="12700">
              <a:lnSpc>
                <a:spcPct val="100000"/>
              </a:lnSpc>
              <a:spcBef>
                <a:spcPts val="100"/>
              </a:spcBef>
            </a:pPr>
            <a:r>
              <a:rPr lang="es-ES" spc="165" err="1">
                <a:latin typeface="Arial"/>
                <a:cs typeface="Arial"/>
              </a:rPr>
              <a:t>Student</a:t>
            </a:r>
            <a:r>
              <a:rPr lang="es-ES" spc="165">
                <a:latin typeface="Arial"/>
                <a:cs typeface="Arial"/>
              </a:rPr>
              <a:t>: Miranda Giménez Ferrando y Laura Sáez Megías </a:t>
            </a:r>
            <a:endParaRPr sz="1800">
              <a:latin typeface="Arial"/>
              <a:cs typeface="Arial"/>
            </a:endParaRPr>
          </a:p>
        </p:txBody>
      </p:sp>
      <p:sp>
        <p:nvSpPr>
          <p:cNvPr id="5" name="object 5"/>
          <p:cNvSpPr/>
          <p:nvPr/>
        </p:nvSpPr>
        <p:spPr>
          <a:xfrm>
            <a:off x="0" y="0"/>
            <a:ext cx="12192000" cy="4189476"/>
          </a:xfrm>
          <a:prstGeom prst="rect">
            <a:avLst/>
          </a:prstGeom>
          <a:blipFill>
            <a:blip r:embed="rId2" cstate="print"/>
            <a:stretch>
              <a:fillRect/>
            </a:stretch>
          </a:blipFill>
        </p:spPr>
        <p:txBody>
          <a:bodyPr wrap="square" lIns="0" tIns="0" rIns="0" bIns="0" rtlCol="0"/>
          <a:lstStyle/>
          <a:p>
            <a:endParaRPr/>
          </a:p>
        </p:txBody>
      </p:sp>
      <p:sp>
        <p:nvSpPr>
          <p:cNvPr id="7" name="Marcador de número de diapositiva 6">
            <a:extLst>
              <a:ext uri="{FF2B5EF4-FFF2-40B4-BE49-F238E27FC236}">
                <a16:creationId xmlns:a16="http://schemas.microsoft.com/office/drawing/2014/main" id="{F6F66F51-9238-50FE-85C2-BAC3DA79D767}"/>
              </a:ext>
            </a:extLst>
          </p:cNvPr>
          <p:cNvSpPr>
            <a:spLocks noGrp="1"/>
          </p:cNvSpPr>
          <p:nvPr>
            <p:ph type="sldNum" sz="quarter" idx="7"/>
          </p:nvPr>
        </p:nvSpPr>
        <p:spPr/>
        <p:txBody>
          <a:bodyPr/>
          <a:lstStyle/>
          <a:p>
            <a:fld id="{B6F15528-21DE-4FAA-801E-634DDDAF4B2B}" type="slidenum">
              <a:rPr lang="es-ES" smtClean="0"/>
              <a:t>1</a:t>
            </a:fld>
            <a:endParaRPr lang="es-E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48A4D4-C3C4-085B-A7AD-EA04D83F48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1B7433F1-7A0E-D925-6140-7305139D053A}"/>
              </a:ext>
            </a:extLst>
          </p:cNvPr>
          <p:cNvSpPr txBox="1">
            <a:spLocks noGrp="1"/>
          </p:cNvSpPr>
          <p:nvPr>
            <p:ph type="title"/>
          </p:nvPr>
        </p:nvSpPr>
        <p:spPr>
          <a:xfrm>
            <a:off x="685800" y="408883"/>
            <a:ext cx="6153785" cy="705321"/>
          </a:xfrm>
          <a:prstGeom prst="rect">
            <a:avLst/>
          </a:prstGeom>
        </p:spPr>
        <p:txBody>
          <a:bodyPr vert="horz" wrap="square" lIns="0" tIns="12700" rIns="0" bIns="0" rtlCol="0">
            <a:spAutoFit/>
          </a:bodyPr>
          <a:lstStyle/>
          <a:p>
            <a:pPr marL="12700">
              <a:lnSpc>
                <a:spcPct val="100000"/>
              </a:lnSpc>
              <a:spcBef>
                <a:spcPts val="100"/>
              </a:spcBef>
            </a:pPr>
            <a:r>
              <a:rPr lang="es-ES" sz="2500" u="sng" spc="-5" err="1">
                <a:latin typeface="+mj-lt"/>
                <a:cs typeface="Lucida Sans"/>
              </a:rPr>
              <a:t>Instructions</a:t>
            </a:r>
            <a:br>
              <a:rPr lang="es-ES" sz="2400" spc="-5">
                <a:latin typeface="+mj-lt"/>
                <a:cs typeface="Lucida Sans"/>
              </a:rPr>
            </a:br>
            <a:r>
              <a:rPr lang="es-ES" b="0" spc="-5">
                <a:latin typeface="+mj-lt"/>
                <a:cs typeface="Lucida Sans"/>
              </a:rPr>
              <a:t>General</a:t>
            </a:r>
            <a:endParaRPr sz="2400" b="0">
              <a:latin typeface="+mj-lt"/>
              <a:cs typeface="Lucida Sans"/>
            </a:endParaRPr>
          </a:p>
        </p:txBody>
      </p:sp>
      <p:pic>
        <p:nvPicPr>
          <p:cNvPr id="83" name="Gráfico 82">
            <a:extLst>
              <a:ext uri="{FF2B5EF4-FFF2-40B4-BE49-F238E27FC236}">
                <a16:creationId xmlns:a16="http://schemas.microsoft.com/office/drawing/2014/main" id="{E518E73B-CE22-A00C-9C86-634FB762EE6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1E163A6B-DFE4-C67D-5F3E-A56ACEF2EA4C}"/>
              </a:ext>
            </a:extLst>
          </p:cNvPr>
          <p:cNvSpPr>
            <a:spLocks noGrp="1"/>
          </p:cNvSpPr>
          <p:nvPr>
            <p:ph type="sldNum" sz="quarter" idx="7"/>
          </p:nvPr>
        </p:nvSpPr>
        <p:spPr/>
        <p:txBody>
          <a:bodyPr/>
          <a:lstStyle/>
          <a:p>
            <a:fld id="{B6F15528-21DE-4FAA-801E-634DDDAF4B2B}" type="slidenum">
              <a:rPr lang="es-ES" smtClean="0"/>
              <a:t>2</a:t>
            </a:fld>
            <a:endParaRPr lang="es-ES"/>
          </a:p>
        </p:txBody>
      </p:sp>
      <p:sp>
        <p:nvSpPr>
          <p:cNvPr id="3" name="Marcador de pie de página 2">
            <a:extLst>
              <a:ext uri="{FF2B5EF4-FFF2-40B4-BE49-F238E27FC236}">
                <a16:creationId xmlns:a16="http://schemas.microsoft.com/office/drawing/2014/main" id="{95FC84FF-30D3-FDAB-0A5A-0F07F8EE1161}"/>
              </a:ext>
            </a:extLst>
          </p:cNvPr>
          <p:cNvSpPr>
            <a:spLocks noGrp="1"/>
          </p:cNvSpPr>
          <p:nvPr>
            <p:ph type="ftr" sz="quarter" idx="5"/>
          </p:nvPr>
        </p:nvSpPr>
        <p:spPr/>
        <p:txBody>
          <a:bodyPr/>
          <a:lstStyle/>
          <a:p>
            <a:pPr marL="12700">
              <a:spcBef>
                <a:spcPts val="15"/>
              </a:spcBef>
            </a:pPr>
            <a:r>
              <a:rPr lang="es-ES" spc="-5"/>
              <a:t>LAB 1.0 WAVEGUIDES</a:t>
            </a:r>
          </a:p>
        </p:txBody>
      </p:sp>
      <p:sp>
        <p:nvSpPr>
          <p:cNvPr id="4" name="Marcador de texto 2">
            <a:extLst>
              <a:ext uri="{FF2B5EF4-FFF2-40B4-BE49-F238E27FC236}">
                <a16:creationId xmlns:a16="http://schemas.microsoft.com/office/drawing/2014/main" id="{9F7BC140-B3D8-C3CB-55AD-9064C7CDE9CA}"/>
              </a:ext>
            </a:extLst>
          </p:cNvPr>
          <p:cNvSpPr txBox="1">
            <a:spLocks/>
          </p:cNvSpPr>
          <p:nvPr/>
        </p:nvSpPr>
        <p:spPr>
          <a:xfrm>
            <a:off x="608011" y="1163263"/>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algn="just"/>
            <a:r>
              <a:rPr lang="en-US" sz="2000" b="1" kern="0">
                <a:solidFill>
                  <a:sysClr val="windowText" lastClr="000000"/>
                </a:solidFill>
                <a:sym typeface="Wingdings" pitchFamily="2" charset="2"/>
              </a:rPr>
              <a:t>SCRIPTS</a:t>
            </a:r>
          </a:p>
          <a:p>
            <a:pPr marL="342900" indent="-342900" algn="just">
              <a:buFont typeface="Arial" panose="020B0604020202020204" pitchFamily="34" charset="0"/>
              <a:buChar char="•"/>
            </a:pPr>
            <a:r>
              <a:rPr lang="en-US" kern="0">
                <a:solidFill>
                  <a:sysClr val="windowText" lastClr="000000"/>
                </a:solidFill>
                <a:sym typeface="Wingdings" pitchFamily="2" charset="2"/>
              </a:rPr>
              <a:t>From 	GitHub  </a:t>
            </a:r>
          </a:p>
          <a:p>
            <a:pPr marL="800100" lvl="1" indent="-342900" algn="just">
              <a:buFont typeface="Arial" panose="020B0604020202020204" pitchFamily="34" charset="0"/>
              <a:buChar char="•"/>
            </a:pPr>
            <a:r>
              <a:rPr lang="en-US" kern="0">
                <a:solidFill>
                  <a:sysClr val="windowText" lastClr="000000"/>
                </a:solidFill>
                <a:sym typeface="Wingdings" pitchFamily="2" charset="2"/>
              </a:rPr>
              <a:t>Fork the repo: https://github.com/cccanvas-upv/cifoin-lab1.git</a:t>
            </a:r>
          </a:p>
          <a:p>
            <a:pPr marL="800100" lvl="1" indent="-342900" algn="just">
              <a:buFont typeface="Arial" panose="020B0604020202020204" pitchFamily="34" charset="0"/>
              <a:buChar char="•"/>
            </a:pPr>
            <a:r>
              <a:rPr lang="en-US" kern="0">
                <a:solidFill>
                  <a:sysClr val="windowText" lastClr="000000"/>
                </a:solidFill>
                <a:sym typeface="Wingdings" pitchFamily="2" charset="2"/>
              </a:rPr>
              <a:t>Clone the repo using </a:t>
            </a:r>
            <a:r>
              <a:rPr lang="en-US" kern="0" err="1">
                <a:solidFill>
                  <a:sysClr val="windowText" lastClr="000000"/>
                </a:solidFill>
                <a:sym typeface="Wingdings" pitchFamily="2" charset="2"/>
              </a:rPr>
              <a:t>VSCode</a:t>
            </a:r>
            <a:endParaRPr lang="en-US" kern="0">
              <a:solidFill>
                <a:sysClr val="windowText" lastClr="000000"/>
              </a:solidFill>
              <a:sym typeface="Wingdings" pitchFamily="2" charset="2"/>
            </a:endParaRPr>
          </a:p>
          <a:p>
            <a:pPr marL="342900" indent="-342900" algn="just">
              <a:buFont typeface="Arial" panose="020B0604020202020204" pitchFamily="34" charset="0"/>
              <a:buChar char="•"/>
            </a:pPr>
            <a:r>
              <a:rPr lang="en-US" kern="0">
                <a:solidFill>
                  <a:sysClr val="windowText" lastClr="000000"/>
                </a:solidFill>
              </a:rPr>
              <a:t>Run the </a:t>
            </a:r>
            <a:r>
              <a:rPr lang="en-US" kern="0" err="1">
                <a:solidFill>
                  <a:sysClr val="windowText" lastClr="000000"/>
                </a:solidFill>
              </a:rPr>
              <a:t>Jupyter</a:t>
            </a:r>
            <a:r>
              <a:rPr lang="en-US" kern="0">
                <a:solidFill>
                  <a:sysClr val="windowText" lastClr="000000"/>
                </a:solidFill>
              </a:rPr>
              <a:t> Notebook: </a:t>
            </a:r>
          </a:p>
          <a:p>
            <a:pPr marL="800100" lvl="1" indent="-342900" algn="just">
              <a:buFont typeface="Arial" panose="020B0604020202020204" pitchFamily="34" charset="0"/>
              <a:buChar char="•"/>
            </a:pPr>
            <a:r>
              <a:rPr lang="en-US" kern="0" err="1">
                <a:solidFill>
                  <a:sysClr val="windowText" lastClr="000000"/>
                </a:solidFill>
              </a:rPr>
              <a:t>WAVEGUIDES_Student.ipynb</a:t>
            </a:r>
            <a:r>
              <a:rPr lang="en-US" kern="0">
                <a:solidFill>
                  <a:sysClr val="windowText" lastClr="000000"/>
                </a:solidFill>
              </a:rPr>
              <a:t> </a:t>
            </a:r>
          </a:p>
          <a:p>
            <a:pPr algn="just"/>
            <a:endParaRPr lang="en-US" sz="2000" b="1" i="1" u="sng"/>
          </a:p>
          <a:p>
            <a:pPr algn="just"/>
            <a:endParaRPr lang="en-US" sz="2000" kern="0">
              <a:solidFill>
                <a:sysClr val="windowText" lastClr="000000"/>
              </a:solidFill>
            </a:endParaRPr>
          </a:p>
        </p:txBody>
      </p:sp>
      <p:sp>
        <p:nvSpPr>
          <p:cNvPr id="96" name="object 7">
            <a:extLst>
              <a:ext uri="{FF2B5EF4-FFF2-40B4-BE49-F238E27FC236}">
                <a16:creationId xmlns:a16="http://schemas.microsoft.com/office/drawing/2014/main" id="{BB459788-0671-D4BA-B6DB-A3544D24EA92}"/>
              </a:ext>
            </a:extLst>
          </p:cNvPr>
          <p:cNvSpPr/>
          <p:nvPr/>
        </p:nvSpPr>
        <p:spPr>
          <a:xfrm>
            <a:off x="902765"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97" name="object 62">
            <a:extLst>
              <a:ext uri="{FF2B5EF4-FFF2-40B4-BE49-F238E27FC236}">
                <a16:creationId xmlns:a16="http://schemas.microsoft.com/office/drawing/2014/main" id="{13E0425E-CEDF-CBC4-B34B-0CC3951920EA}"/>
              </a:ext>
            </a:extLst>
          </p:cNvPr>
          <p:cNvSpPr/>
          <p:nvPr/>
        </p:nvSpPr>
        <p:spPr>
          <a:xfrm>
            <a:off x="1747061" y="3983757"/>
            <a:ext cx="76200" cy="986155"/>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98" name="object 63">
            <a:extLst>
              <a:ext uri="{FF2B5EF4-FFF2-40B4-BE49-F238E27FC236}">
                <a16:creationId xmlns:a16="http://schemas.microsoft.com/office/drawing/2014/main" id="{FDE45797-C0E3-ACE0-F66B-057BDEDB9070}"/>
              </a:ext>
            </a:extLst>
          </p:cNvPr>
          <p:cNvSpPr txBox="1"/>
          <p:nvPr/>
        </p:nvSpPr>
        <p:spPr>
          <a:xfrm>
            <a:off x="1091131" y="4210910"/>
            <a:ext cx="577850" cy="454025"/>
          </a:xfrm>
          <a:prstGeom prst="rect">
            <a:avLst/>
          </a:prstGeom>
        </p:spPr>
        <p:txBody>
          <a:bodyPr vert="horz" wrap="square" lIns="0" tIns="13335" rIns="0" bIns="0" rtlCol="0">
            <a:spAutoFit/>
          </a:bodyPr>
          <a:lstStyle/>
          <a:p>
            <a:pPr marR="3175" algn="ctr">
              <a:lnSpc>
                <a:spcPct val="100000"/>
              </a:lnSpc>
              <a:spcBef>
                <a:spcPts val="105"/>
              </a:spcBef>
            </a:pPr>
            <a:r>
              <a:rPr sz="1400">
                <a:latin typeface="Calibri"/>
                <a:cs typeface="Calibri"/>
              </a:rPr>
              <a:t>h</a:t>
            </a:r>
          </a:p>
          <a:p>
            <a:pPr marR="5080" algn="ctr">
              <a:lnSpc>
                <a:spcPct val="100000"/>
              </a:lnSpc>
              <a:spcBef>
                <a:spcPts val="5"/>
              </a:spcBef>
            </a:pPr>
            <a:r>
              <a:rPr sz="1400" spc="-10">
                <a:latin typeface="Calibri"/>
                <a:cs typeface="Calibri"/>
              </a:rPr>
              <a:t>(h</a:t>
            </a:r>
            <a:r>
              <a:rPr sz="1400">
                <a:latin typeface="Calibri"/>
                <a:cs typeface="Calibri"/>
              </a:rPr>
              <a:t>eig</a:t>
            </a:r>
            <a:r>
              <a:rPr sz="1400" spc="-25">
                <a:latin typeface="Calibri"/>
                <a:cs typeface="Calibri"/>
              </a:rPr>
              <a:t>h</a:t>
            </a:r>
            <a:r>
              <a:rPr sz="1400" spc="-5">
                <a:latin typeface="Calibri"/>
                <a:cs typeface="Calibri"/>
              </a:rPr>
              <a:t>t</a:t>
            </a:r>
            <a:r>
              <a:rPr sz="1400">
                <a:latin typeface="Calibri"/>
                <a:cs typeface="Calibri"/>
              </a:rPr>
              <a:t>)</a:t>
            </a:r>
          </a:p>
        </p:txBody>
      </p:sp>
      <p:sp>
        <p:nvSpPr>
          <p:cNvPr id="99" name="object 64">
            <a:extLst>
              <a:ext uri="{FF2B5EF4-FFF2-40B4-BE49-F238E27FC236}">
                <a16:creationId xmlns:a16="http://schemas.microsoft.com/office/drawing/2014/main" id="{ABAAA5DD-56CA-BF94-2180-F0866658B6B3}"/>
              </a:ext>
            </a:extLst>
          </p:cNvPr>
          <p:cNvSpPr/>
          <p:nvPr/>
        </p:nvSpPr>
        <p:spPr>
          <a:xfrm>
            <a:off x="1984805"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00" name="object 65">
            <a:extLst>
              <a:ext uri="{FF2B5EF4-FFF2-40B4-BE49-F238E27FC236}">
                <a16:creationId xmlns:a16="http://schemas.microsoft.com/office/drawing/2014/main" id="{A1EF013C-5123-D9A7-DC76-FEFD731E96E2}"/>
              </a:ext>
            </a:extLst>
          </p:cNvPr>
          <p:cNvSpPr txBox="1"/>
          <p:nvPr/>
        </p:nvSpPr>
        <p:spPr>
          <a:xfrm>
            <a:off x="2504743" y="3532730"/>
            <a:ext cx="733425" cy="240029"/>
          </a:xfrm>
          <a:prstGeom prst="rect">
            <a:avLst/>
          </a:prstGeom>
        </p:spPr>
        <p:txBody>
          <a:bodyPr vert="horz" wrap="square" lIns="0" tIns="13335" rIns="0" bIns="0" rtlCol="0">
            <a:spAutoFit/>
          </a:bodyPr>
          <a:lstStyle/>
          <a:p>
            <a:pPr>
              <a:lnSpc>
                <a:spcPct val="100000"/>
              </a:lnSpc>
              <a:spcBef>
                <a:spcPts val="105"/>
              </a:spcBef>
            </a:pPr>
            <a:r>
              <a:rPr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01" name="object 73">
            <a:extLst>
              <a:ext uri="{FF2B5EF4-FFF2-40B4-BE49-F238E27FC236}">
                <a16:creationId xmlns:a16="http://schemas.microsoft.com/office/drawing/2014/main" id="{4C5C0871-D9B5-E642-7661-FFBCAD75720B}"/>
              </a:ext>
            </a:extLst>
          </p:cNvPr>
          <p:cNvSpPr txBox="1"/>
          <p:nvPr/>
        </p:nvSpPr>
        <p:spPr>
          <a:xfrm>
            <a:off x="1984805"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02" name="object 74">
            <a:extLst>
              <a:ext uri="{FF2B5EF4-FFF2-40B4-BE49-F238E27FC236}">
                <a16:creationId xmlns:a16="http://schemas.microsoft.com/office/drawing/2014/main" id="{10CC4DBA-05F4-4CDC-BA0E-6200AF622CA9}"/>
              </a:ext>
            </a:extLst>
          </p:cNvPr>
          <p:cNvSpPr txBox="1"/>
          <p:nvPr/>
        </p:nvSpPr>
        <p:spPr>
          <a:xfrm>
            <a:off x="3983988"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11" name="object 7">
            <a:extLst>
              <a:ext uri="{FF2B5EF4-FFF2-40B4-BE49-F238E27FC236}">
                <a16:creationId xmlns:a16="http://schemas.microsoft.com/office/drawing/2014/main" id="{06801468-6F27-A16A-64E3-D7AD4B6B6B96}"/>
              </a:ext>
            </a:extLst>
          </p:cNvPr>
          <p:cNvSpPr/>
          <p:nvPr/>
        </p:nvSpPr>
        <p:spPr>
          <a:xfrm>
            <a:off x="7391400" y="3422925"/>
            <a:ext cx="3929379" cy="1902460"/>
          </a:xfrm>
          <a:custGeom>
            <a:avLst/>
            <a:gdLst/>
            <a:ahLst/>
            <a:cxnLst/>
            <a:rect l="l" t="t" r="r" b="b"/>
            <a:pathLst>
              <a:path w="3929379" h="1902460">
                <a:moveTo>
                  <a:pt x="0" y="1901952"/>
                </a:moveTo>
                <a:lnTo>
                  <a:pt x="3928872" y="1901952"/>
                </a:lnTo>
                <a:lnTo>
                  <a:pt x="3928872" y="0"/>
                </a:lnTo>
                <a:lnTo>
                  <a:pt x="0" y="0"/>
                </a:lnTo>
                <a:lnTo>
                  <a:pt x="0" y="1901952"/>
                </a:lnTo>
                <a:close/>
              </a:path>
            </a:pathLst>
          </a:custGeom>
          <a:solidFill>
            <a:srgbClr val="F1F1F1"/>
          </a:solidFill>
        </p:spPr>
        <p:txBody>
          <a:bodyPr wrap="square" lIns="0" tIns="0" rIns="0" bIns="0" rtlCol="0"/>
          <a:lstStyle/>
          <a:p>
            <a:endParaRPr/>
          </a:p>
        </p:txBody>
      </p:sp>
      <p:sp>
        <p:nvSpPr>
          <p:cNvPr id="114" name="object 64">
            <a:extLst>
              <a:ext uri="{FF2B5EF4-FFF2-40B4-BE49-F238E27FC236}">
                <a16:creationId xmlns:a16="http://schemas.microsoft.com/office/drawing/2014/main" id="{D9E5D738-CA47-1898-E0D8-DFBC514F5A50}"/>
              </a:ext>
            </a:extLst>
          </p:cNvPr>
          <p:cNvSpPr/>
          <p:nvPr/>
        </p:nvSpPr>
        <p:spPr>
          <a:xfrm>
            <a:off x="8473440" y="3773445"/>
            <a:ext cx="1758314" cy="76200"/>
          </a:xfrm>
          <a:custGeom>
            <a:avLst/>
            <a:gdLst/>
            <a:ahLst/>
            <a:cxnLst/>
            <a:rect l="l" t="t" r="r" b="b"/>
            <a:pathLst>
              <a:path w="1758314" h="76200">
                <a:moveTo>
                  <a:pt x="76200" y="0"/>
                </a:moveTo>
                <a:lnTo>
                  <a:pt x="0" y="38100"/>
                </a:lnTo>
                <a:lnTo>
                  <a:pt x="76200" y="76200"/>
                </a:lnTo>
                <a:lnTo>
                  <a:pt x="76200" y="44450"/>
                </a:lnTo>
                <a:lnTo>
                  <a:pt x="63500" y="44450"/>
                </a:lnTo>
                <a:lnTo>
                  <a:pt x="63500" y="31750"/>
                </a:lnTo>
                <a:lnTo>
                  <a:pt x="76200" y="31750"/>
                </a:lnTo>
                <a:lnTo>
                  <a:pt x="76200" y="0"/>
                </a:lnTo>
                <a:close/>
              </a:path>
              <a:path w="1758314" h="76200">
                <a:moveTo>
                  <a:pt x="1682114" y="0"/>
                </a:moveTo>
                <a:lnTo>
                  <a:pt x="1682114" y="76200"/>
                </a:lnTo>
                <a:lnTo>
                  <a:pt x="1745614" y="44450"/>
                </a:lnTo>
                <a:lnTo>
                  <a:pt x="1694814" y="44450"/>
                </a:lnTo>
                <a:lnTo>
                  <a:pt x="1694814" y="31750"/>
                </a:lnTo>
                <a:lnTo>
                  <a:pt x="1745614" y="31750"/>
                </a:lnTo>
                <a:lnTo>
                  <a:pt x="1682114" y="0"/>
                </a:lnTo>
                <a:close/>
              </a:path>
              <a:path w="1758314" h="76200">
                <a:moveTo>
                  <a:pt x="76200" y="31750"/>
                </a:moveTo>
                <a:lnTo>
                  <a:pt x="63500" y="31750"/>
                </a:lnTo>
                <a:lnTo>
                  <a:pt x="63500" y="44450"/>
                </a:lnTo>
                <a:lnTo>
                  <a:pt x="76200" y="44450"/>
                </a:lnTo>
                <a:lnTo>
                  <a:pt x="76200" y="31750"/>
                </a:lnTo>
                <a:close/>
              </a:path>
              <a:path w="1758314" h="76200">
                <a:moveTo>
                  <a:pt x="1682114" y="31750"/>
                </a:moveTo>
                <a:lnTo>
                  <a:pt x="76200" y="31750"/>
                </a:lnTo>
                <a:lnTo>
                  <a:pt x="76200" y="44450"/>
                </a:lnTo>
                <a:lnTo>
                  <a:pt x="1682114" y="44450"/>
                </a:lnTo>
                <a:lnTo>
                  <a:pt x="1682114" y="31750"/>
                </a:lnTo>
                <a:close/>
              </a:path>
              <a:path w="1758314" h="76200">
                <a:moveTo>
                  <a:pt x="1745614" y="31750"/>
                </a:moveTo>
                <a:lnTo>
                  <a:pt x="1694814" y="31750"/>
                </a:lnTo>
                <a:lnTo>
                  <a:pt x="1694814" y="44450"/>
                </a:lnTo>
                <a:lnTo>
                  <a:pt x="1745614" y="44450"/>
                </a:lnTo>
                <a:lnTo>
                  <a:pt x="1758314" y="38100"/>
                </a:lnTo>
                <a:lnTo>
                  <a:pt x="1745614" y="31750"/>
                </a:lnTo>
                <a:close/>
              </a:path>
            </a:pathLst>
          </a:custGeom>
          <a:solidFill>
            <a:srgbClr val="000000"/>
          </a:solidFill>
        </p:spPr>
        <p:txBody>
          <a:bodyPr wrap="square" lIns="0" tIns="0" rIns="0" bIns="0" rtlCol="0"/>
          <a:lstStyle/>
          <a:p>
            <a:endParaRPr/>
          </a:p>
        </p:txBody>
      </p:sp>
      <p:sp>
        <p:nvSpPr>
          <p:cNvPr id="115" name="object 65">
            <a:extLst>
              <a:ext uri="{FF2B5EF4-FFF2-40B4-BE49-F238E27FC236}">
                <a16:creationId xmlns:a16="http://schemas.microsoft.com/office/drawing/2014/main" id="{74A4CAE1-BC33-1BCD-6F24-54F1DFA8AEDB}"/>
              </a:ext>
            </a:extLst>
          </p:cNvPr>
          <p:cNvSpPr txBox="1"/>
          <p:nvPr/>
        </p:nvSpPr>
        <p:spPr>
          <a:xfrm>
            <a:off x="8993378" y="3532730"/>
            <a:ext cx="733425" cy="240029"/>
          </a:xfrm>
          <a:prstGeom prst="rect">
            <a:avLst/>
          </a:prstGeom>
        </p:spPr>
        <p:txBody>
          <a:bodyPr vert="horz" wrap="square" lIns="0" tIns="13335" rIns="0" bIns="0" rtlCol="0">
            <a:spAutoFit/>
          </a:bodyPr>
          <a:lstStyle/>
          <a:p>
            <a:pPr>
              <a:lnSpc>
                <a:spcPct val="100000"/>
              </a:lnSpc>
              <a:spcBef>
                <a:spcPts val="105"/>
              </a:spcBef>
            </a:pPr>
            <a:r>
              <a:rPr sz="1400" spc="5">
                <a:latin typeface="Calibri"/>
                <a:cs typeface="Calibri"/>
              </a:rPr>
              <a:t>W</a:t>
            </a:r>
            <a:r>
              <a:rPr sz="1400" spc="-65">
                <a:latin typeface="Calibri"/>
                <a:cs typeface="Calibri"/>
              </a:rPr>
              <a:t> </a:t>
            </a:r>
            <a:r>
              <a:rPr sz="1400" spc="-5">
                <a:latin typeface="Calibri"/>
                <a:cs typeface="Calibri"/>
              </a:rPr>
              <a:t>(width)</a:t>
            </a:r>
            <a:endParaRPr sz="1400">
              <a:latin typeface="Calibri"/>
              <a:cs typeface="Calibri"/>
            </a:endParaRPr>
          </a:p>
        </p:txBody>
      </p:sp>
      <p:sp>
        <p:nvSpPr>
          <p:cNvPr id="116" name="object 73">
            <a:extLst>
              <a:ext uri="{FF2B5EF4-FFF2-40B4-BE49-F238E27FC236}">
                <a16:creationId xmlns:a16="http://schemas.microsoft.com/office/drawing/2014/main" id="{CC9D2269-0CA8-143F-4E45-F3AF594A2ED3}"/>
              </a:ext>
            </a:extLst>
          </p:cNvPr>
          <p:cNvSpPr txBox="1"/>
          <p:nvPr/>
        </p:nvSpPr>
        <p:spPr>
          <a:xfrm>
            <a:off x="8473440" y="3983757"/>
            <a:ext cx="1758950" cy="986155"/>
          </a:xfrm>
          <a:prstGeom prst="rect">
            <a:avLst/>
          </a:prstGeom>
          <a:solidFill>
            <a:srgbClr val="CCB657"/>
          </a:solidFill>
        </p:spPr>
        <p:txBody>
          <a:bodyPr vert="horz" wrap="square" lIns="0" tIns="2540" rIns="0" bIns="0" rtlCol="0">
            <a:spAutoFit/>
          </a:bodyPr>
          <a:lstStyle/>
          <a:p>
            <a:pPr>
              <a:lnSpc>
                <a:spcPct val="100000"/>
              </a:lnSpc>
              <a:spcBef>
                <a:spcPts val="20"/>
              </a:spcBef>
            </a:pPr>
            <a:endParaRPr sz="2350">
              <a:latin typeface="Times New Roman"/>
              <a:cs typeface="Times New Roman"/>
            </a:endParaRPr>
          </a:p>
          <a:p>
            <a:pPr marL="18415" algn="ctr">
              <a:lnSpc>
                <a:spcPct val="100000"/>
              </a:lnSpc>
            </a:pPr>
            <a:r>
              <a:rPr sz="1600" b="1" spc="-10">
                <a:latin typeface="Calibri"/>
                <a:cs typeface="Calibri"/>
              </a:rPr>
              <a:t>Core</a:t>
            </a:r>
            <a:endParaRPr sz="1600">
              <a:latin typeface="Calibri"/>
              <a:cs typeface="Calibri"/>
            </a:endParaRPr>
          </a:p>
        </p:txBody>
      </p:sp>
      <p:sp>
        <p:nvSpPr>
          <p:cNvPr id="117" name="object 74">
            <a:extLst>
              <a:ext uri="{FF2B5EF4-FFF2-40B4-BE49-F238E27FC236}">
                <a16:creationId xmlns:a16="http://schemas.microsoft.com/office/drawing/2014/main" id="{8A3332FF-25D4-1955-323F-BBD1D30324AC}"/>
              </a:ext>
            </a:extLst>
          </p:cNvPr>
          <p:cNvSpPr txBox="1"/>
          <p:nvPr/>
        </p:nvSpPr>
        <p:spPr>
          <a:xfrm>
            <a:off x="10472623" y="4338253"/>
            <a:ext cx="741045" cy="269240"/>
          </a:xfrm>
          <a:prstGeom prst="rect">
            <a:avLst/>
          </a:prstGeom>
        </p:spPr>
        <p:txBody>
          <a:bodyPr vert="horz" wrap="square" lIns="0" tIns="12065" rIns="0" bIns="0" rtlCol="0">
            <a:spAutoFit/>
          </a:bodyPr>
          <a:lstStyle/>
          <a:p>
            <a:pPr>
              <a:lnSpc>
                <a:spcPct val="100000"/>
              </a:lnSpc>
              <a:spcBef>
                <a:spcPts val="95"/>
              </a:spcBef>
            </a:pPr>
            <a:r>
              <a:rPr sz="1600" b="1" spc="-10">
                <a:latin typeface="Calibri"/>
                <a:cs typeface="Calibri"/>
              </a:rPr>
              <a:t>Cladding</a:t>
            </a:r>
            <a:endParaRPr sz="1600">
              <a:latin typeface="Calibri"/>
              <a:cs typeface="Calibri"/>
            </a:endParaRPr>
          </a:p>
        </p:txBody>
      </p:sp>
      <p:sp>
        <p:nvSpPr>
          <p:cNvPr id="120" name="object 73">
            <a:extLst>
              <a:ext uri="{FF2B5EF4-FFF2-40B4-BE49-F238E27FC236}">
                <a16:creationId xmlns:a16="http://schemas.microsoft.com/office/drawing/2014/main" id="{C699977C-9138-F9B9-E43D-0CCB01AEB75F}"/>
              </a:ext>
            </a:extLst>
          </p:cNvPr>
          <p:cNvSpPr txBox="1"/>
          <p:nvPr/>
        </p:nvSpPr>
        <p:spPr>
          <a:xfrm>
            <a:off x="7391400" y="4690819"/>
            <a:ext cx="3906179" cy="610424"/>
          </a:xfrm>
          <a:prstGeom prst="rect">
            <a:avLst/>
          </a:prstGeom>
          <a:solidFill>
            <a:srgbClr val="CCB657"/>
          </a:solidFill>
        </p:spPr>
        <p:txBody>
          <a:bodyPr vert="horz" wrap="square" lIns="0" tIns="2540" rIns="0" bIns="0" rtlCol="0">
            <a:spAutoFit/>
          </a:bodyPr>
          <a:lstStyle/>
          <a:p>
            <a:pPr>
              <a:lnSpc>
                <a:spcPct val="100000"/>
              </a:lnSpc>
              <a:spcBef>
                <a:spcPts val="20"/>
              </a:spcBef>
            </a:pPr>
            <a:endParaRPr lang="es-ES" sz="2350">
              <a:latin typeface="Times New Roman"/>
              <a:cs typeface="Times New Roman"/>
            </a:endParaRPr>
          </a:p>
          <a:p>
            <a:pPr marL="18415">
              <a:lnSpc>
                <a:spcPct val="100000"/>
              </a:lnSpc>
            </a:pPr>
            <a:r>
              <a:rPr lang="es-ES" sz="1600" b="1" spc="-10" err="1">
                <a:latin typeface="Calibri"/>
                <a:cs typeface="Calibri"/>
              </a:rPr>
              <a:t>Slab</a:t>
            </a:r>
            <a:endParaRPr sz="1600">
              <a:latin typeface="Calibri"/>
              <a:cs typeface="Calibri"/>
            </a:endParaRPr>
          </a:p>
        </p:txBody>
      </p:sp>
      <p:sp>
        <p:nvSpPr>
          <p:cNvPr id="112" name="object 62">
            <a:extLst>
              <a:ext uri="{FF2B5EF4-FFF2-40B4-BE49-F238E27FC236}">
                <a16:creationId xmlns:a16="http://schemas.microsoft.com/office/drawing/2014/main" id="{04561701-4B4F-F208-98F6-2DAB5C1138D3}"/>
              </a:ext>
            </a:extLst>
          </p:cNvPr>
          <p:cNvSpPr/>
          <p:nvPr/>
        </p:nvSpPr>
        <p:spPr>
          <a:xfrm>
            <a:off x="8575910" y="3994221"/>
            <a:ext cx="56259" cy="694989"/>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21" name="object 62">
            <a:extLst>
              <a:ext uri="{FF2B5EF4-FFF2-40B4-BE49-F238E27FC236}">
                <a16:creationId xmlns:a16="http://schemas.microsoft.com/office/drawing/2014/main" id="{CCA3B0D6-0C9E-B4A6-FA43-1AB5F1821674}"/>
              </a:ext>
            </a:extLst>
          </p:cNvPr>
          <p:cNvSpPr/>
          <p:nvPr/>
        </p:nvSpPr>
        <p:spPr>
          <a:xfrm>
            <a:off x="8233207" y="4689210"/>
            <a:ext cx="55008" cy="613272"/>
          </a:xfrm>
          <a:custGeom>
            <a:avLst/>
            <a:gdLst/>
            <a:ahLst/>
            <a:cxnLst/>
            <a:rect l="l" t="t" r="r" b="b"/>
            <a:pathLst>
              <a:path w="76200" h="986155">
                <a:moveTo>
                  <a:pt x="31750" y="909827"/>
                </a:moveTo>
                <a:lnTo>
                  <a:pt x="0" y="909827"/>
                </a:lnTo>
                <a:lnTo>
                  <a:pt x="38100" y="986027"/>
                </a:lnTo>
                <a:lnTo>
                  <a:pt x="69850" y="922527"/>
                </a:lnTo>
                <a:lnTo>
                  <a:pt x="31750" y="922527"/>
                </a:lnTo>
                <a:lnTo>
                  <a:pt x="31750" y="909827"/>
                </a:lnTo>
                <a:close/>
              </a:path>
              <a:path w="76200" h="986155">
                <a:moveTo>
                  <a:pt x="44450" y="63500"/>
                </a:moveTo>
                <a:lnTo>
                  <a:pt x="31750" y="63500"/>
                </a:lnTo>
                <a:lnTo>
                  <a:pt x="31750" y="922527"/>
                </a:lnTo>
                <a:lnTo>
                  <a:pt x="44450" y="922527"/>
                </a:lnTo>
                <a:lnTo>
                  <a:pt x="44450" y="63500"/>
                </a:lnTo>
                <a:close/>
              </a:path>
              <a:path w="76200" h="986155">
                <a:moveTo>
                  <a:pt x="76200" y="909827"/>
                </a:moveTo>
                <a:lnTo>
                  <a:pt x="44450" y="909827"/>
                </a:lnTo>
                <a:lnTo>
                  <a:pt x="44450" y="922527"/>
                </a:lnTo>
                <a:lnTo>
                  <a:pt x="69850" y="922527"/>
                </a:lnTo>
                <a:lnTo>
                  <a:pt x="76200" y="909827"/>
                </a:lnTo>
                <a:close/>
              </a:path>
              <a:path w="76200" h="986155">
                <a:moveTo>
                  <a:pt x="38100" y="0"/>
                </a:moveTo>
                <a:lnTo>
                  <a:pt x="0" y="76200"/>
                </a:lnTo>
                <a:lnTo>
                  <a:pt x="31750" y="76200"/>
                </a:lnTo>
                <a:lnTo>
                  <a:pt x="31750" y="63500"/>
                </a:lnTo>
                <a:lnTo>
                  <a:pt x="69850" y="63500"/>
                </a:lnTo>
                <a:lnTo>
                  <a:pt x="38100" y="0"/>
                </a:lnTo>
                <a:close/>
              </a:path>
              <a:path w="76200" h="986155">
                <a:moveTo>
                  <a:pt x="69850" y="63500"/>
                </a:moveTo>
                <a:lnTo>
                  <a:pt x="44450" y="63500"/>
                </a:lnTo>
                <a:lnTo>
                  <a:pt x="44450" y="76200"/>
                </a:lnTo>
                <a:lnTo>
                  <a:pt x="76200" y="76200"/>
                </a:lnTo>
                <a:lnTo>
                  <a:pt x="69850" y="63500"/>
                </a:lnTo>
                <a:close/>
              </a:path>
            </a:pathLst>
          </a:custGeom>
          <a:solidFill>
            <a:srgbClr val="000000"/>
          </a:solidFill>
        </p:spPr>
        <p:txBody>
          <a:bodyPr wrap="square" lIns="0" tIns="0" rIns="0" bIns="0" rtlCol="0"/>
          <a:lstStyle/>
          <a:p>
            <a:endParaRPr/>
          </a:p>
        </p:txBody>
      </p:sp>
      <p:sp>
        <p:nvSpPr>
          <p:cNvPr id="113" name="object 63">
            <a:extLst>
              <a:ext uri="{FF2B5EF4-FFF2-40B4-BE49-F238E27FC236}">
                <a16:creationId xmlns:a16="http://schemas.microsoft.com/office/drawing/2014/main" id="{6394166D-0522-24AD-E666-39FE8A3FDC24}"/>
              </a:ext>
            </a:extLst>
          </p:cNvPr>
          <p:cNvSpPr txBox="1"/>
          <p:nvPr/>
        </p:nvSpPr>
        <p:spPr>
          <a:xfrm>
            <a:off x="8351994" y="4887127"/>
            <a:ext cx="674053" cy="228909"/>
          </a:xfrm>
          <a:prstGeom prst="rect">
            <a:avLst/>
          </a:prstGeom>
        </p:spPr>
        <p:txBody>
          <a:bodyPr vert="horz" wrap="square" lIns="0" tIns="13335" rIns="0" bIns="0" rtlCol="0">
            <a:spAutoFit/>
          </a:bodyPr>
          <a:lstStyle/>
          <a:p>
            <a:pPr marR="3175">
              <a:lnSpc>
                <a:spcPct val="100000"/>
              </a:lnSpc>
              <a:spcBef>
                <a:spcPts val="105"/>
              </a:spcBef>
            </a:pPr>
            <a:r>
              <a:rPr lang="es-ES" sz="1400" err="1">
                <a:latin typeface="Calibri"/>
                <a:cs typeface="Calibri"/>
              </a:rPr>
              <a:t>h_slab</a:t>
            </a:r>
            <a:endParaRPr sz="1400">
              <a:latin typeface="Calibri"/>
              <a:cs typeface="Calibri"/>
            </a:endParaRPr>
          </a:p>
        </p:txBody>
      </p:sp>
      <p:sp>
        <p:nvSpPr>
          <p:cNvPr id="122" name="object 63">
            <a:extLst>
              <a:ext uri="{FF2B5EF4-FFF2-40B4-BE49-F238E27FC236}">
                <a16:creationId xmlns:a16="http://schemas.microsoft.com/office/drawing/2014/main" id="{B589EB7D-B26E-4239-A5C2-F96DBBE82162}"/>
              </a:ext>
            </a:extLst>
          </p:cNvPr>
          <p:cNvSpPr txBox="1"/>
          <p:nvPr/>
        </p:nvSpPr>
        <p:spPr>
          <a:xfrm>
            <a:off x="8706378" y="3990085"/>
            <a:ext cx="1380175" cy="228909"/>
          </a:xfrm>
          <a:prstGeom prst="rect">
            <a:avLst/>
          </a:prstGeom>
        </p:spPr>
        <p:txBody>
          <a:bodyPr vert="horz" wrap="square" lIns="0" tIns="13335" rIns="0" bIns="0" rtlCol="0">
            <a:spAutoFit/>
          </a:bodyPr>
          <a:lstStyle/>
          <a:p>
            <a:pPr marR="3175">
              <a:lnSpc>
                <a:spcPct val="100000"/>
              </a:lnSpc>
              <a:spcBef>
                <a:spcPts val="105"/>
              </a:spcBef>
            </a:pPr>
            <a:r>
              <a:rPr lang="es-ES" sz="1400" spc="-10" err="1">
                <a:latin typeface="Calibri"/>
                <a:cs typeface="Calibri"/>
              </a:rPr>
              <a:t>h_core</a:t>
            </a:r>
            <a:r>
              <a:rPr lang="es-ES" sz="1400" spc="-10">
                <a:latin typeface="Calibri"/>
                <a:cs typeface="Calibri"/>
              </a:rPr>
              <a:t> </a:t>
            </a:r>
            <a:endParaRPr sz="1400">
              <a:latin typeface="Calibri"/>
              <a:cs typeface="Calibri"/>
            </a:endParaRPr>
          </a:p>
        </p:txBody>
      </p:sp>
      <p:sp>
        <p:nvSpPr>
          <p:cNvPr id="2" name="CuadroTexto 1">
            <a:extLst>
              <a:ext uri="{FF2B5EF4-FFF2-40B4-BE49-F238E27FC236}">
                <a16:creationId xmlns:a16="http://schemas.microsoft.com/office/drawing/2014/main" id="{57D9AFBE-EF33-9078-9CE3-5C8B079B0C36}"/>
              </a:ext>
            </a:extLst>
          </p:cNvPr>
          <p:cNvSpPr txBox="1"/>
          <p:nvPr/>
        </p:nvSpPr>
        <p:spPr>
          <a:xfrm>
            <a:off x="9306491" y="5257071"/>
            <a:ext cx="1980542" cy="369332"/>
          </a:xfrm>
          <a:prstGeom prst="rect">
            <a:avLst/>
          </a:prstGeom>
          <a:noFill/>
        </p:spPr>
        <p:txBody>
          <a:bodyPr wrap="none" rtlCol="0">
            <a:spAutoFit/>
          </a:bodyPr>
          <a:lstStyle/>
          <a:p>
            <a:pPr algn="ctr"/>
            <a:r>
              <a:rPr lang="en-US" b="1"/>
              <a:t>shallow</a:t>
            </a:r>
            <a:r>
              <a:rPr lang="en-US"/>
              <a:t> waveguide</a:t>
            </a:r>
          </a:p>
        </p:txBody>
      </p:sp>
      <p:sp>
        <p:nvSpPr>
          <p:cNvPr id="8" name="CuadroTexto 7">
            <a:extLst>
              <a:ext uri="{FF2B5EF4-FFF2-40B4-BE49-F238E27FC236}">
                <a16:creationId xmlns:a16="http://schemas.microsoft.com/office/drawing/2014/main" id="{7336B5D8-2D70-3E7A-336D-AF55EC49DEB8}"/>
              </a:ext>
            </a:extLst>
          </p:cNvPr>
          <p:cNvSpPr txBox="1"/>
          <p:nvPr/>
        </p:nvSpPr>
        <p:spPr>
          <a:xfrm>
            <a:off x="2969899" y="5257071"/>
            <a:ext cx="2157554" cy="369332"/>
          </a:xfrm>
          <a:prstGeom prst="rect">
            <a:avLst/>
          </a:prstGeom>
          <a:noFill/>
        </p:spPr>
        <p:txBody>
          <a:bodyPr wrap="square">
            <a:spAutoFit/>
          </a:bodyPr>
          <a:lstStyle/>
          <a:p>
            <a:pPr algn="ctr"/>
            <a:r>
              <a:rPr lang="en-US" b="1"/>
              <a:t>deep</a:t>
            </a:r>
            <a:r>
              <a:rPr lang="en-US"/>
              <a:t> waveguide</a:t>
            </a:r>
          </a:p>
        </p:txBody>
      </p:sp>
    </p:spTree>
    <p:extLst>
      <p:ext uri="{BB962C8B-B14F-4D97-AF65-F5344CB8AC3E}">
        <p14:creationId xmlns:p14="http://schemas.microsoft.com/office/powerpoint/2010/main" val="47392280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80DA9C-35AF-A1D7-01E5-BFD9DEF1550F}"/>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71E1424-6C4B-2D9A-1352-30AFB987AD41}"/>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a:t>Learning outcome #1 – Effective index of a waveguide</a:t>
            </a:r>
            <a:br>
              <a:rPr lang="es-ES" sz="2500" spc="-5">
                <a:latin typeface="+mj-lt"/>
                <a:cs typeface="Lucida Sans"/>
              </a:rPr>
            </a:br>
            <a:endParaRPr sz="2500" b="0">
              <a:latin typeface="+mj-lt"/>
              <a:cs typeface="Lucida Sans"/>
            </a:endParaRPr>
          </a:p>
        </p:txBody>
      </p:sp>
      <p:pic>
        <p:nvPicPr>
          <p:cNvPr id="83" name="Gráfico 82">
            <a:extLst>
              <a:ext uri="{FF2B5EF4-FFF2-40B4-BE49-F238E27FC236}">
                <a16:creationId xmlns:a16="http://schemas.microsoft.com/office/drawing/2014/main" id="{9DCFD462-4416-65F8-5696-B0135B63276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93F5C1D-AFFF-4EA6-CA59-6503F34EBF5F}"/>
              </a:ext>
            </a:extLst>
          </p:cNvPr>
          <p:cNvSpPr>
            <a:spLocks noGrp="1"/>
          </p:cNvSpPr>
          <p:nvPr>
            <p:ph type="sldNum" sz="quarter" idx="7"/>
          </p:nvPr>
        </p:nvSpPr>
        <p:spPr/>
        <p:txBody>
          <a:bodyPr/>
          <a:lstStyle/>
          <a:p>
            <a:fld id="{B6F15528-21DE-4FAA-801E-634DDDAF4B2B}" type="slidenum">
              <a:rPr lang="es-ES" smtClean="0"/>
              <a:t>3</a:t>
            </a:fld>
            <a:endParaRPr lang="es-ES"/>
          </a:p>
        </p:txBody>
      </p:sp>
      <p:sp>
        <p:nvSpPr>
          <p:cNvPr id="3" name="Marcador de pie de página 2">
            <a:extLst>
              <a:ext uri="{FF2B5EF4-FFF2-40B4-BE49-F238E27FC236}">
                <a16:creationId xmlns:a16="http://schemas.microsoft.com/office/drawing/2014/main" id="{34F13AC1-9668-7266-DF5B-D7CE084AB044}"/>
              </a:ext>
            </a:extLst>
          </p:cNvPr>
          <p:cNvSpPr>
            <a:spLocks noGrp="1"/>
          </p:cNvSpPr>
          <p:nvPr>
            <p:ph type="ftr" sz="quarter" idx="5"/>
          </p:nvPr>
        </p:nvSpPr>
        <p:spPr/>
        <p:txBody>
          <a:bodyPr/>
          <a:lstStyle/>
          <a:p>
            <a:pPr marL="12700">
              <a:spcBef>
                <a:spcPts val="15"/>
              </a:spcBef>
            </a:pPr>
            <a:r>
              <a:rPr lang="es-ES" spc="-5"/>
              <a:t>LAB 1.0 WAVEGUIDES</a:t>
            </a:r>
          </a:p>
        </p:txBody>
      </p:sp>
      <p:sp>
        <p:nvSpPr>
          <p:cNvPr id="4" name="Marcador de texto 2">
            <a:extLst>
              <a:ext uri="{FF2B5EF4-FFF2-40B4-BE49-F238E27FC236}">
                <a16:creationId xmlns:a16="http://schemas.microsoft.com/office/drawing/2014/main" id="{AA9E72FF-B948-6B7A-8909-97C6BE95D6FB}"/>
              </a:ext>
            </a:extLst>
          </p:cNvPr>
          <p:cNvSpPr txBox="1">
            <a:spLocks/>
          </p:cNvSpPr>
          <p:nvPr/>
        </p:nvSpPr>
        <p:spPr>
          <a:xfrm>
            <a:off x="608012" y="1295400"/>
            <a:ext cx="11048999" cy="4958137"/>
          </a:xfrm>
          <a:prstGeom prst="rect">
            <a:avLst/>
          </a:prstGeom>
        </p:spPr>
        <p:txBody>
          <a:bodyPr>
            <a:normAutofit/>
          </a:bodyPr>
          <a:lstStyle>
            <a:lvl1pPr marL="0">
              <a:defRPr>
                <a:latin typeface="+mn-lt"/>
                <a:ea typeface="+mn-ea"/>
                <a:cs typeface="+mn-cs"/>
              </a:defRPr>
            </a:lvl1pPr>
            <a:lvl2pPr marL="457200">
              <a:defRPr>
                <a:latin typeface="+mn-lt"/>
                <a:ea typeface="+mn-ea"/>
                <a:cs typeface="+mn-cs"/>
              </a:defRPr>
            </a:lvl2pPr>
            <a:lvl3pPr marL="914400">
              <a:defRPr>
                <a:latin typeface="+mn-lt"/>
                <a:ea typeface="+mn-ea"/>
                <a:cs typeface="+mn-cs"/>
              </a:defRPr>
            </a:lvl3pPr>
            <a:lvl4pPr marL="1371600">
              <a:defRPr>
                <a:latin typeface="+mn-lt"/>
                <a:ea typeface="+mn-ea"/>
                <a:cs typeface="+mn-cs"/>
              </a:defRPr>
            </a:lvl4pPr>
            <a:lvl5pPr marL="1828800">
              <a:defRPr>
                <a:latin typeface="+mn-lt"/>
                <a:ea typeface="+mn-ea"/>
                <a:cs typeface="+mn-cs"/>
              </a:defRPr>
            </a:lvl5pPr>
            <a:lvl6pPr marL="2286000">
              <a:defRPr>
                <a:latin typeface="+mn-lt"/>
                <a:ea typeface="+mn-ea"/>
                <a:cs typeface="+mn-cs"/>
              </a:defRPr>
            </a:lvl6pPr>
            <a:lvl7pPr marL="2743200">
              <a:defRPr>
                <a:latin typeface="+mn-lt"/>
                <a:ea typeface="+mn-ea"/>
                <a:cs typeface="+mn-cs"/>
              </a:defRPr>
            </a:lvl7pPr>
            <a:lvl8pPr marL="3200400">
              <a:defRPr>
                <a:latin typeface="+mn-lt"/>
                <a:ea typeface="+mn-ea"/>
                <a:cs typeface="+mn-cs"/>
              </a:defRPr>
            </a:lvl8pPr>
            <a:lvl9pPr marL="3657600">
              <a:defRPr>
                <a:latin typeface="+mn-lt"/>
                <a:ea typeface="+mn-ea"/>
                <a:cs typeface="+mn-cs"/>
              </a:defRPr>
            </a:lvl9pPr>
          </a:lstStyle>
          <a:p>
            <a:pPr marL="0" indent="0">
              <a:buNone/>
            </a:pPr>
            <a:r>
              <a:rPr lang="en-US" sz="2000" b="1"/>
              <a:t>INSTRUCTOR:</a:t>
            </a:r>
          </a:p>
          <a:p>
            <a:pPr marL="342900" indent="-342900" algn="just">
              <a:buFont typeface="Arial" panose="020B0604020202020204" pitchFamily="34" charset="0"/>
              <a:buChar char="•"/>
            </a:pPr>
            <a:r>
              <a:rPr lang="en-US" sz="2000"/>
              <a:t>Present Python and </a:t>
            </a:r>
            <a:r>
              <a:rPr lang="en-US" sz="2000" err="1"/>
              <a:t>GDSFactory</a:t>
            </a:r>
            <a:r>
              <a:rPr lang="en-US" sz="2000"/>
              <a:t>: materials, output, results.</a:t>
            </a:r>
          </a:p>
          <a:p>
            <a:pPr marL="342900" indent="-342900" algn="just">
              <a:buFont typeface="Arial" panose="020B0604020202020204" pitchFamily="34" charset="0"/>
              <a:buChar char="•"/>
            </a:pPr>
            <a:r>
              <a:rPr lang="en-US" sz="2000"/>
              <a:t>Explain how to run a simulation for a particular cross-section. </a:t>
            </a:r>
          </a:p>
          <a:p>
            <a:pPr marL="342900" indent="-342900" algn="just">
              <a:buFont typeface="Arial" panose="020B0604020202020204" pitchFamily="34" charset="0"/>
              <a:buChar char="•"/>
            </a:pPr>
            <a:r>
              <a:rPr lang="en-US" sz="2000"/>
              <a:t>Showcase how to change between shallow and deep waveguide.</a:t>
            </a:r>
          </a:p>
          <a:p>
            <a:pPr marL="342900" indent="-342900" algn="just">
              <a:buFont typeface="Arial" panose="020B0604020202020204" pitchFamily="34" charset="0"/>
              <a:buChar char="•"/>
            </a:pPr>
            <a:r>
              <a:rPr lang="en-US" sz="2000"/>
              <a:t>Describe how to change the wavelength and width for the waveguide analysis.</a:t>
            </a:r>
          </a:p>
          <a:p>
            <a:pPr marL="342900" indent="-342900" algn="just">
              <a:buFont typeface="Arial" panose="020B0604020202020204" pitchFamily="34" charset="0"/>
              <a:buChar char="•"/>
            </a:pPr>
            <a:r>
              <a:rPr lang="en-US" sz="2000"/>
              <a:t>Describe the outputs.</a:t>
            </a:r>
          </a:p>
          <a:p>
            <a:pPr marL="0" indent="0" algn="just">
              <a:buNone/>
            </a:pPr>
            <a:r>
              <a:rPr lang="en-US" sz="2000" b="1"/>
              <a:t>ALL EXAMPLE #1: </a:t>
            </a:r>
            <a:r>
              <a:rPr lang="en-US" sz="2000"/>
              <a:t>waveguide width 1.2 µm, deep </a:t>
            </a:r>
            <a:r>
              <a:rPr lang="en-US" sz="2000" err="1"/>
              <a:t>wvg</a:t>
            </a:r>
            <a:r>
              <a:rPr lang="en-US" sz="2000"/>
              <a:t>, wavelength start and end same 1.55 µm </a:t>
            </a:r>
            <a:r>
              <a:rPr lang="en-US" sz="2000">
                <a:sym typeface="Wingdings" pitchFamily="2" charset="2"/>
              </a:rPr>
              <a:t> all ”Run”</a:t>
            </a:r>
            <a:endParaRPr lang="en-US" sz="2000"/>
          </a:p>
          <a:p>
            <a:pPr marL="0" indent="0" algn="just">
              <a:buNone/>
            </a:pPr>
            <a:r>
              <a:rPr lang="en-US" sz="2000" b="1"/>
              <a:t>ALL: </a:t>
            </a:r>
            <a:r>
              <a:rPr lang="en-US" sz="2000"/>
              <a:t>Follow</a:t>
            </a:r>
            <a:r>
              <a:rPr lang="en-US" sz="2000" b="1"/>
              <a:t> </a:t>
            </a:r>
            <a:r>
              <a:rPr lang="en-US" sz="2000"/>
              <a:t>instructor, that will show how to 1) plot mode, 2) explore the results (neff …)</a:t>
            </a:r>
          </a:p>
          <a:p>
            <a:pPr algn="just"/>
            <a:endParaRPr lang="en-US" sz="2000" b="1" i="1"/>
          </a:p>
          <a:p>
            <a:pPr algn="just"/>
            <a:endParaRPr lang="en-US" sz="2000" kern="0">
              <a:solidFill>
                <a:sysClr val="windowText" lastClr="000000"/>
              </a:solidFill>
            </a:endParaRPr>
          </a:p>
        </p:txBody>
      </p:sp>
      <p:sp>
        <p:nvSpPr>
          <p:cNvPr id="2" name="CuadroTexto 1">
            <a:extLst>
              <a:ext uri="{FF2B5EF4-FFF2-40B4-BE49-F238E27FC236}">
                <a16:creationId xmlns:a16="http://schemas.microsoft.com/office/drawing/2014/main" id="{D0F8CF3B-B920-DBFC-F825-0C87B51EADA7}"/>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n-US" sz="1200">
                <a:latin typeface="Arial" panose="020B0604020202020204" pitchFamily="34" charset="0"/>
                <a:cs typeface="Arial" panose="020B0604020202020204" pitchFamily="34" charset="0"/>
              </a:rPr>
              <a:t>Document all your results (neff, plot fields of different modes, comparison between different polarizations…)</a:t>
            </a: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a:p>
            <a:pPr algn="just"/>
            <a:endParaRPr lang="en-US" sz="1200">
              <a:latin typeface="Arial" panose="020B0604020202020204" pitchFamily="34" charset="0"/>
              <a:cs typeface="Arial" panose="020B0604020202020204" pitchFamily="34" charset="0"/>
            </a:endParaRPr>
          </a:p>
        </p:txBody>
      </p:sp>
    </p:spTree>
    <p:extLst>
      <p:ext uri="{BB962C8B-B14F-4D97-AF65-F5344CB8AC3E}">
        <p14:creationId xmlns:p14="http://schemas.microsoft.com/office/powerpoint/2010/main" val="7305013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DBF646-428F-0B96-C2BC-9732807840CE}"/>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2C975037-73EF-4A30-10D7-D4F0AE8B4AF6}"/>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spc="-5" err="1">
                <a:latin typeface="+mj-lt"/>
                <a:cs typeface="Lucida Sans"/>
              </a:rPr>
              <a:t>Índice</a:t>
            </a:r>
            <a:r>
              <a:rPr lang="en-US" sz="2500" spc="-5">
                <a:latin typeface="+mj-lt"/>
                <a:cs typeface="Lucida Sans"/>
              </a:rPr>
              <a:t> de </a:t>
            </a:r>
            <a:r>
              <a:rPr lang="en-US" sz="2500" spc="-5" err="1">
                <a:latin typeface="+mj-lt"/>
                <a:cs typeface="Lucida Sans"/>
              </a:rPr>
              <a:t>refracción</a:t>
            </a:r>
            <a:r>
              <a:rPr lang="en-US" sz="2500" spc="-5">
                <a:latin typeface="+mj-lt"/>
                <a:cs typeface="Lucida Sans"/>
              </a:rPr>
              <a:t> de </a:t>
            </a:r>
            <a:r>
              <a:rPr lang="en-US" sz="2500" spc="-5" err="1">
                <a:latin typeface="+mj-lt"/>
                <a:cs typeface="Lucida Sans"/>
              </a:rPr>
              <a:t>los</a:t>
            </a:r>
            <a:r>
              <a:rPr lang="en-US" sz="2500" spc="-5">
                <a:latin typeface="+mj-lt"/>
                <a:cs typeface="Lucida Sans"/>
              </a:rPr>
              <a:t> </a:t>
            </a:r>
            <a:r>
              <a:rPr lang="en-US" sz="2500" spc="-5" err="1">
                <a:latin typeface="+mj-lt"/>
                <a:cs typeface="Lucida Sans"/>
              </a:rPr>
              <a:t>materiales</a:t>
            </a:r>
            <a:br>
              <a:rPr lang="es-ES" sz="2500" spc="-5">
                <a:latin typeface="+mj-lt"/>
                <a:cs typeface="Lucida Sans"/>
              </a:rPr>
            </a:br>
            <a:r>
              <a:rPr lang="it-IT" b="0"/>
              <a:t>silicon (Si), silicon nitride (SiNx) and silicon dioxide (SiO2)</a:t>
            </a:r>
            <a:endParaRPr sz="2500" b="0">
              <a:latin typeface="+mj-lt"/>
              <a:cs typeface="Lucida Sans"/>
            </a:endParaRPr>
          </a:p>
        </p:txBody>
      </p:sp>
      <p:pic>
        <p:nvPicPr>
          <p:cNvPr id="83" name="Gráfico 82">
            <a:extLst>
              <a:ext uri="{FF2B5EF4-FFF2-40B4-BE49-F238E27FC236}">
                <a16:creationId xmlns:a16="http://schemas.microsoft.com/office/drawing/2014/main" id="{1695E241-0043-12E0-F5F8-CB1C4BB8743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E81D7E26-0733-FC35-33D6-66E68C5469C0}"/>
              </a:ext>
            </a:extLst>
          </p:cNvPr>
          <p:cNvSpPr>
            <a:spLocks noGrp="1"/>
          </p:cNvSpPr>
          <p:nvPr>
            <p:ph type="sldNum" sz="quarter" idx="7"/>
          </p:nvPr>
        </p:nvSpPr>
        <p:spPr/>
        <p:txBody>
          <a:bodyPr/>
          <a:lstStyle/>
          <a:p>
            <a:fld id="{B6F15528-21DE-4FAA-801E-634DDDAF4B2B}" type="slidenum">
              <a:rPr lang="es-ES" smtClean="0"/>
              <a:t>4</a:t>
            </a:fld>
            <a:endParaRPr lang="es-ES"/>
          </a:p>
        </p:txBody>
      </p:sp>
      <p:sp>
        <p:nvSpPr>
          <p:cNvPr id="3" name="Marcador de pie de página 2">
            <a:extLst>
              <a:ext uri="{FF2B5EF4-FFF2-40B4-BE49-F238E27FC236}">
                <a16:creationId xmlns:a16="http://schemas.microsoft.com/office/drawing/2014/main" id="{CA56B824-BD40-5330-6EA0-6B5661E9ABB7}"/>
              </a:ext>
            </a:extLst>
          </p:cNvPr>
          <p:cNvSpPr>
            <a:spLocks noGrp="1"/>
          </p:cNvSpPr>
          <p:nvPr>
            <p:ph type="ftr" sz="quarter" idx="5"/>
          </p:nvPr>
        </p:nvSpPr>
        <p:spPr/>
        <p:txBody>
          <a:bodyPr/>
          <a:lstStyle/>
          <a:p>
            <a:pPr marL="12700">
              <a:spcBef>
                <a:spcPts val="15"/>
              </a:spcBef>
            </a:pPr>
            <a:r>
              <a:rPr lang="es-ES" spc="-5"/>
              <a:t>LAB 1.0 WAVEGUIDES</a:t>
            </a:r>
          </a:p>
        </p:txBody>
      </p:sp>
      <p:sp>
        <p:nvSpPr>
          <p:cNvPr id="5" name="Rectángulo 4">
            <a:extLst>
              <a:ext uri="{FF2B5EF4-FFF2-40B4-BE49-F238E27FC236}">
                <a16:creationId xmlns:a16="http://schemas.microsoft.com/office/drawing/2014/main" id="{15345749-E655-9D88-0D90-86C338DED85A}"/>
              </a:ext>
            </a:extLst>
          </p:cNvPr>
          <p:cNvSpPr/>
          <p:nvPr/>
        </p:nvSpPr>
        <p:spPr>
          <a:xfrm>
            <a:off x="648869" y="1946357"/>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F28B2D1C-40DE-A250-24D8-2ED7FFA107A9}"/>
              </a:ext>
            </a:extLst>
          </p:cNvPr>
          <p:cNvSpPr/>
          <p:nvPr/>
        </p:nvSpPr>
        <p:spPr>
          <a:xfrm>
            <a:off x="6516269" y="1946357"/>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F3163B69-B434-41F1-5EA5-ED3D43A61E79}"/>
              </a:ext>
            </a:extLst>
          </p:cNvPr>
          <p:cNvSpPr txBox="1"/>
          <p:nvPr/>
        </p:nvSpPr>
        <p:spPr>
          <a:xfrm>
            <a:off x="630003" y="2053964"/>
            <a:ext cx="1182806" cy="646331"/>
          </a:xfrm>
          <a:prstGeom prst="rect">
            <a:avLst/>
          </a:prstGeom>
          <a:noFill/>
        </p:spPr>
        <p:txBody>
          <a:bodyPr wrap="square">
            <a:spAutoFit/>
          </a:bodyPr>
          <a:lstStyle/>
          <a:p>
            <a:r>
              <a:rPr lang="es-ES" b="1" err="1"/>
              <a:t>Crystalline</a:t>
            </a:r>
            <a:r>
              <a:rPr lang="es-ES" b="1"/>
              <a:t> Silicon</a:t>
            </a:r>
            <a:endParaRPr lang="es-ES"/>
          </a:p>
        </p:txBody>
      </p:sp>
      <p:pic>
        <p:nvPicPr>
          <p:cNvPr id="10" name="Picture 9">
            <a:extLst>
              <a:ext uri="{FF2B5EF4-FFF2-40B4-BE49-F238E27FC236}">
                <a16:creationId xmlns:a16="http://schemas.microsoft.com/office/drawing/2014/main" id="{3F164E83-CD23-F97B-B79C-5CAE88DA28B9}"/>
              </a:ext>
            </a:extLst>
          </p:cNvPr>
          <p:cNvPicPr>
            <a:picLocks noChangeAspect="1"/>
          </p:cNvPicPr>
          <p:nvPr/>
        </p:nvPicPr>
        <p:blipFill>
          <a:blip r:embed="rId5"/>
          <a:stretch>
            <a:fillRect/>
          </a:stretch>
        </p:blipFill>
        <p:spPr>
          <a:xfrm>
            <a:off x="1812809" y="2053964"/>
            <a:ext cx="3967109" cy="3090813"/>
          </a:xfrm>
          <a:prstGeom prst="rect">
            <a:avLst/>
          </a:prstGeom>
        </p:spPr>
      </p:pic>
      <p:pic>
        <p:nvPicPr>
          <p:cNvPr id="12" name="Picture 11">
            <a:extLst>
              <a:ext uri="{FF2B5EF4-FFF2-40B4-BE49-F238E27FC236}">
                <a16:creationId xmlns:a16="http://schemas.microsoft.com/office/drawing/2014/main" id="{7FA23EFA-B0D9-E140-DA41-E4A6A140F324}"/>
              </a:ext>
            </a:extLst>
          </p:cNvPr>
          <p:cNvPicPr>
            <a:picLocks noChangeAspect="1"/>
          </p:cNvPicPr>
          <p:nvPr/>
        </p:nvPicPr>
        <p:blipFill>
          <a:blip r:embed="rId6"/>
          <a:stretch>
            <a:fillRect/>
          </a:stretch>
        </p:blipFill>
        <p:spPr>
          <a:xfrm>
            <a:off x="7763902" y="2093058"/>
            <a:ext cx="3916308" cy="2999866"/>
          </a:xfrm>
          <a:prstGeom prst="rect">
            <a:avLst/>
          </a:prstGeom>
        </p:spPr>
      </p:pic>
      <p:sp>
        <p:nvSpPr>
          <p:cNvPr id="13" name="CuadroTexto 8">
            <a:extLst>
              <a:ext uri="{FF2B5EF4-FFF2-40B4-BE49-F238E27FC236}">
                <a16:creationId xmlns:a16="http://schemas.microsoft.com/office/drawing/2014/main" id="{A8115F2B-BE4A-3451-46F0-C9C565F4C9EC}"/>
              </a:ext>
            </a:extLst>
          </p:cNvPr>
          <p:cNvSpPr txBox="1"/>
          <p:nvPr/>
        </p:nvSpPr>
        <p:spPr>
          <a:xfrm>
            <a:off x="6541290" y="2093058"/>
            <a:ext cx="1182806" cy="646331"/>
          </a:xfrm>
          <a:prstGeom prst="rect">
            <a:avLst/>
          </a:prstGeom>
          <a:noFill/>
        </p:spPr>
        <p:txBody>
          <a:bodyPr wrap="square">
            <a:spAutoFit/>
          </a:bodyPr>
          <a:lstStyle/>
          <a:p>
            <a:r>
              <a:rPr lang="es-ES" b="1"/>
              <a:t>Silicon </a:t>
            </a:r>
            <a:r>
              <a:rPr lang="es-ES" b="1" err="1"/>
              <a:t>Nitride</a:t>
            </a:r>
            <a:endParaRPr lang="es-ES"/>
          </a:p>
        </p:txBody>
      </p:sp>
    </p:spTree>
    <p:extLst>
      <p:ext uri="{BB962C8B-B14F-4D97-AF65-F5344CB8AC3E}">
        <p14:creationId xmlns:p14="http://schemas.microsoft.com/office/powerpoint/2010/main" val="324299452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70C3B66-A164-4555-50CF-BD59818D1434}"/>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A535699-A46F-B0D8-37E6-2E0F6A0FA34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spc="-5" err="1">
                <a:latin typeface="+mj-lt"/>
                <a:cs typeface="Lucida Sans"/>
              </a:rPr>
              <a:t>Índice</a:t>
            </a:r>
            <a:r>
              <a:rPr lang="en-US" sz="2500" spc="-5">
                <a:latin typeface="+mj-lt"/>
                <a:cs typeface="Lucida Sans"/>
              </a:rPr>
              <a:t> de </a:t>
            </a:r>
            <a:r>
              <a:rPr lang="en-US" sz="2500" spc="-5" err="1">
                <a:latin typeface="+mj-lt"/>
                <a:cs typeface="Lucida Sans"/>
              </a:rPr>
              <a:t>refracción</a:t>
            </a:r>
            <a:r>
              <a:rPr lang="en-US" sz="2500" spc="-5">
                <a:latin typeface="+mj-lt"/>
                <a:cs typeface="Lucida Sans"/>
              </a:rPr>
              <a:t> de </a:t>
            </a:r>
            <a:r>
              <a:rPr lang="en-US" sz="2500" spc="-5" err="1">
                <a:latin typeface="+mj-lt"/>
                <a:cs typeface="Lucida Sans"/>
              </a:rPr>
              <a:t>los</a:t>
            </a:r>
            <a:r>
              <a:rPr lang="en-US" sz="2500" spc="-5">
                <a:latin typeface="+mj-lt"/>
                <a:cs typeface="Lucida Sans"/>
              </a:rPr>
              <a:t> </a:t>
            </a:r>
            <a:r>
              <a:rPr lang="en-US" sz="2500" spc="-5" err="1">
                <a:latin typeface="+mj-lt"/>
                <a:cs typeface="Lucida Sans"/>
              </a:rPr>
              <a:t>materiales</a:t>
            </a:r>
            <a:br>
              <a:rPr lang="es-ES" sz="2500" spc="-5">
                <a:latin typeface="+mj-lt"/>
                <a:cs typeface="Lucida Sans"/>
              </a:rPr>
            </a:br>
            <a:r>
              <a:rPr lang="it-IT" b="0"/>
              <a:t>silicon (Si), silicon nitride (SiNx) and silicon dioxide (SiO2)</a:t>
            </a:r>
            <a:endParaRPr sz="2500" b="0">
              <a:latin typeface="+mj-lt"/>
              <a:cs typeface="Lucida Sans"/>
            </a:endParaRPr>
          </a:p>
        </p:txBody>
      </p:sp>
      <p:pic>
        <p:nvPicPr>
          <p:cNvPr id="83" name="Gráfico 82">
            <a:extLst>
              <a:ext uri="{FF2B5EF4-FFF2-40B4-BE49-F238E27FC236}">
                <a16:creationId xmlns:a16="http://schemas.microsoft.com/office/drawing/2014/main" id="{2C70184C-F2B8-1A5B-B77B-AFE8AA46B721}"/>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4040C36-2C0C-DC29-A938-2F2662719806}"/>
              </a:ext>
            </a:extLst>
          </p:cNvPr>
          <p:cNvSpPr>
            <a:spLocks noGrp="1"/>
          </p:cNvSpPr>
          <p:nvPr>
            <p:ph type="sldNum" sz="quarter" idx="7"/>
          </p:nvPr>
        </p:nvSpPr>
        <p:spPr/>
        <p:txBody>
          <a:bodyPr/>
          <a:lstStyle/>
          <a:p>
            <a:fld id="{B6F15528-21DE-4FAA-801E-634DDDAF4B2B}" type="slidenum">
              <a:rPr lang="es-ES" smtClean="0"/>
              <a:t>5</a:t>
            </a:fld>
            <a:endParaRPr lang="es-ES"/>
          </a:p>
        </p:txBody>
      </p:sp>
      <p:sp>
        <p:nvSpPr>
          <p:cNvPr id="3" name="Marcador de pie de página 2">
            <a:extLst>
              <a:ext uri="{FF2B5EF4-FFF2-40B4-BE49-F238E27FC236}">
                <a16:creationId xmlns:a16="http://schemas.microsoft.com/office/drawing/2014/main" id="{122B2395-9711-36D9-A53C-F8737DFA6645}"/>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95F9EC6D-0906-CC21-3E63-1F32068C16A0}"/>
              </a:ext>
            </a:extLst>
          </p:cNvPr>
          <p:cNvSpPr txBox="1"/>
          <p:nvPr/>
        </p:nvSpPr>
        <p:spPr>
          <a:xfrm>
            <a:off x="571939" y="4750257"/>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a:latin typeface="Times New Roman" panose="02020603050405020304" pitchFamily="18" charset="0"/>
                <a:cs typeface="Times New Roman" panose="02020603050405020304" pitchFamily="18" charset="0"/>
              </a:rPr>
              <a:t>Iniciamos la práctica analizando el índice de refracción en función de la longitud de onda para distintos materiales usados en guías de onda</a:t>
            </a:r>
            <a:r>
              <a:rPr lang="es-ES" sz="1200"/>
              <a:t>. </a:t>
            </a:r>
            <a:r>
              <a:rPr lang="es-ES" sz="1200">
                <a:latin typeface="Times New Roman" panose="02020603050405020304" pitchFamily="18" charset="0"/>
                <a:cs typeface="Times New Roman" panose="02020603050405020304" pitchFamily="18" charset="0"/>
              </a:rPr>
              <a:t>Se observa que el índice de refracción depende de la longitud de onda debido a la dispersión del material, y que en materiales dieléctricos como </a:t>
            </a:r>
            <a:r>
              <a:rPr lang="es-ES" sz="1200" err="1">
                <a:latin typeface="Times New Roman" panose="02020603050405020304" pitchFamily="18" charset="0"/>
                <a:cs typeface="Times New Roman" panose="02020603050405020304" pitchFamily="18" charset="0"/>
              </a:rPr>
              <a:t>SiO</a:t>
            </a:r>
            <a:r>
              <a:rPr lang="es-ES" sz="1200">
                <a:latin typeface="Times New Roman" panose="02020603050405020304" pitchFamily="18" charset="0"/>
                <a:cs typeface="Times New Roman" panose="02020603050405020304" pitchFamily="18" charset="0"/>
              </a:rPr>
              <a:t>₂ y </a:t>
            </a:r>
            <a:r>
              <a:rPr lang="es-ES" sz="1200" err="1">
                <a:latin typeface="Times New Roman" panose="02020603050405020304" pitchFamily="18" charset="0"/>
                <a:cs typeface="Times New Roman" panose="02020603050405020304" pitchFamily="18" charset="0"/>
              </a:rPr>
              <a:t>Si₃N</a:t>
            </a:r>
            <a:r>
              <a:rPr lang="es-ES" sz="1200">
                <a:latin typeface="Times New Roman" panose="02020603050405020304" pitchFamily="18" charset="0"/>
                <a:cs typeface="Times New Roman" panose="02020603050405020304" pitchFamily="18" charset="0"/>
              </a:rPr>
              <a:t>₄ el índice disminuye ligeramente al aumentar la longitud de onda. Visualizando las gráficas, se observa como para el rango de longitud de ondas definido, Si y </a:t>
            </a:r>
            <a:r>
              <a:rPr lang="es-ES" sz="1200" err="1">
                <a:latin typeface="Times New Roman" panose="02020603050405020304" pitchFamily="18" charset="0"/>
                <a:cs typeface="Times New Roman" panose="02020603050405020304" pitchFamily="18" charset="0"/>
              </a:rPr>
              <a:t>SiNx</a:t>
            </a:r>
            <a:r>
              <a:rPr lang="es-ES" sz="1200">
                <a:latin typeface="Times New Roman" panose="02020603050405020304" pitchFamily="18" charset="0"/>
                <a:cs typeface="Times New Roman" panose="02020603050405020304" pitchFamily="18" charset="0"/>
              </a:rPr>
              <a:t> pueden ser buenos candidatos como material para el núcleo y SiO2 para la cubierta, ya que, para todo el rango de longitudes de onda, el índice de refracción de Si y </a:t>
            </a:r>
            <a:r>
              <a:rPr lang="es-ES" sz="1200" err="1">
                <a:latin typeface="Times New Roman" panose="02020603050405020304" pitchFamily="18" charset="0"/>
                <a:cs typeface="Times New Roman" panose="02020603050405020304" pitchFamily="18" charset="0"/>
              </a:rPr>
              <a:t>SiNx</a:t>
            </a:r>
            <a:r>
              <a:rPr lang="es-ES" sz="1200">
                <a:latin typeface="Times New Roman" panose="02020603050405020304" pitchFamily="18" charset="0"/>
                <a:cs typeface="Times New Roman" panose="02020603050405020304" pitchFamily="18" charset="0"/>
              </a:rPr>
              <a:t> es mayor que el de SiO2. Y la principal condición para que la onda esté guiada es que el índice de refracción del material del núcleo sea mayor que el de la cubierta, para que se pueda dar la reflexión total interna. </a:t>
            </a:r>
            <a:endParaRPr lang="en-US" sz="1200">
              <a:latin typeface="Times New Roman" panose="02020603050405020304" pitchFamily="18" charset="0"/>
              <a:cs typeface="Times New Roman" panose="02020603050405020304" pitchFamily="18" charset="0"/>
            </a:endParaRPr>
          </a:p>
          <a:p>
            <a:pPr algn="just"/>
            <a:endParaRPr lang="en-US" sz="120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ED9C0481-A6EE-9598-D8AF-5A9903013BD6}"/>
              </a:ext>
            </a:extLst>
          </p:cNvPr>
          <p:cNvSpPr/>
          <p:nvPr/>
        </p:nvSpPr>
        <p:spPr>
          <a:xfrm>
            <a:off x="3505640" y="131378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uadroTexto 8">
            <a:extLst>
              <a:ext uri="{FF2B5EF4-FFF2-40B4-BE49-F238E27FC236}">
                <a16:creationId xmlns:a16="http://schemas.microsoft.com/office/drawing/2014/main" id="{5491D77C-7910-7F23-2D8C-AFEC5CC129D5}"/>
              </a:ext>
            </a:extLst>
          </p:cNvPr>
          <p:cNvSpPr txBox="1"/>
          <p:nvPr/>
        </p:nvSpPr>
        <p:spPr>
          <a:xfrm>
            <a:off x="3581840" y="1349040"/>
            <a:ext cx="1182806" cy="646331"/>
          </a:xfrm>
          <a:prstGeom prst="rect">
            <a:avLst/>
          </a:prstGeom>
          <a:noFill/>
        </p:spPr>
        <p:txBody>
          <a:bodyPr wrap="square">
            <a:spAutoFit/>
          </a:bodyPr>
          <a:lstStyle/>
          <a:p>
            <a:r>
              <a:rPr lang="es-ES" b="1"/>
              <a:t>Silicon </a:t>
            </a:r>
            <a:r>
              <a:rPr lang="es-ES" b="1" err="1"/>
              <a:t>dioxide</a:t>
            </a:r>
            <a:endParaRPr lang="es-ES"/>
          </a:p>
        </p:txBody>
      </p:sp>
      <p:pic>
        <p:nvPicPr>
          <p:cNvPr id="6" name="Picture 5">
            <a:extLst>
              <a:ext uri="{FF2B5EF4-FFF2-40B4-BE49-F238E27FC236}">
                <a16:creationId xmlns:a16="http://schemas.microsoft.com/office/drawing/2014/main" id="{C9776705-B472-71ED-943D-800F9B77E4E1}"/>
              </a:ext>
            </a:extLst>
          </p:cNvPr>
          <p:cNvPicPr>
            <a:picLocks noChangeAspect="1"/>
          </p:cNvPicPr>
          <p:nvPr/>
        </p:nvPicPr>
        <p:blipFill>
          <a:blip r:embed="rId5"/>
          <a:stretch>
            <a:fillRect/>
          </a:stretch>
        </p:blipFill>
        <p:spPr>
          <a:xfrm>
            <a:off x="4648200" y="1398031"/>
            <a:ext cx="4151196" cy="3137531"/>
          </a:xfrm>
          <a:prstGeom prst="rect">
            <a:avLst/>
          </a:prstGeom>
        </p:spPr>
      </p:pic>
    </p:spTree>
    <p:extLst>
      <p:ext uri="{BB962C8B-B14F-4D97-AF65-F5344CB8AC3E}">
        <p14:creationId xmlns:p14="http://schemas.microsoft.com/office/powerpoint/2010/main" val="9785964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562AA8-86F0-5FCB-C97D-5D523352520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8A2E9F8-CD4F-FB48-101C-54E0C07019A7}"/>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spc="-5" dirty="0" err="1">
                <a:latin typeface="+mj-lt"/>
                <a:cs typeface="Lucida Sans"/>
              </a:rPr>
              <a:t>Definición</a:t>
            </a:r>
            <a:r>
              <a:rPr lang="en-US" sz="2500" spc="-5" dirty="0">
                <a:latin typeface="+mj-lt"/>
                <a:cs typeface="Lucida Sans"/>
              </a:rPr>
              <a:t> de la Cross-Section</a:t>
            </a:r>
            <a:br>
              <a:rPr lang="es-ES" sz="2500" spc="-5" dirty="0">
                <a:latin typeface="+mj-lt"/>
                <a:cs typeface="Lucida Sans"/>
              </a:rPr>
            </a:br>
            <a:r>
              <a:rPr lang="en-US" b="0" dirty="0"/>
              <a:t>Wavelength 1.55 µm – width 1.2 µm - </a:t>
            </a:r>
            <a:r>
              <a:rPr lang="es-ES" b="0" dirty="0" err="1"/>
              <a:t>height</a:t>
            </a:r>
            <a:r>
              <a:rPr lang="es-ES" b="0" dirty="0"/>
              <a:t> 300 nm</a:t>
            </a:r>
            <a:endParaRPr sz="2500" b="0" dirty="0">
              <a:latin typeface="+mj-lt"/>
              <a:cs typeface="Lucida Sans"/>
            </a:endParaRPr>
          </a:p>
        </p:txBody>
      </p:sp>
      <p:pic>
        <p:nvPicPr>
          <p:cNvPr id="83" name="Gráfico 82">
            <a:extLst>
              <a:ext uri="{FF2B5EF4-FFF2-40B4-BE49-F238E27FC236}">
                <a16:creationId xmlns:a16="http://schemas.microsoft.com/office/drawing/2014/main" id="{80CC0540-8670-695D-D483-927E7AE08C88}"/>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C27350B-4214-7DD7-2A6B-88232AABE2C4}"/>
              </a:ext>
            </a:extLst>
          </p:cNvPr>
          <p:cNvSpPr>
            <a:spLocks noGrp="1"/>
          </p:cNvSpPr>
          <p:nvPr>
            <p:ph type="sldNum" sz="quarter" idx="7"/>
          </p:nvPr>
        </p:nvSpPr>
        <p:spPr/>
        <p:txBody>
          <a:bodyPr/>
          <a:lstStyle/>
          <a:p>
            <a:fld id="{B6F15528-21DE-4FAA-801E-634DDDAF4B2B}" type="slidenum">
              <a:rPr lang="es-ES" smtClean="0"/>
              <a:t>6</a:t>
            </a:fld>
            <a:endParaRPr lang="es-ES"/>
          </a:p>
        </p:txBody>
      </p:sp>
      <p:sp>
        <p:nvSpPr>
          <p:cNvPr id="3" name="Marcador de pie de página 2">
            <a:extLst>
              <a:ext uri="{FF2B5EF4-FFF2-40B4-BE49-F238E27FC236}">
                <a16:creationId xmlns:a16="http://schemas.microsoft.com/office/drawing/2014/main" id="{050FB005-F91D-83D2-8D46-761E904DD2DF}"/>
              </a:ext>
            </a:extLst>
          </p:cNvPr>
          <p:cNvSpPr>
            <a:spLocks noGrp="1"/>
          </p:cNvSpPr>
          <p:nvPr>
            <p:ph type="ftr" sz="quarter" idx="5"/>
          </p:nvPr>
        </p:nvSpPr>
        <p:spPr/>
        <p:txBody>
          <a:bodyPr/>
          <a:lstStyle/>
          <a:p>
            <a:pPr marL="12700">
              <a:spcBef>
                <a:spcPts val="15"/>
              </a:spcBef>
            </a:pPr>
            <a:r>
              <a:rPr lang="es-ES" spc="-5"/>
              <a:t>LAB 1.0 WAVEGUIDES</a:t>
            </a:r>
          </a:p>
        </p:txBody>
      </p:sp>
      <p:sp>
        <p:nvSpPr>
          <p:cNvPr id="5" name="Rectángulo 4">
            <a:extLst>
              <a:ext uri="{FF2B5EF4-FFF2-40B4-BE49-F238E27FC236}">
                <a16:creationId xmlns:a16="http://schemas.microsoft.com/office/drawing/2014/main" id="{54CD8912-4029-99CB-555D-57748646C40E}"/>
              </a:ext>
            </a:extLst>
          </p:cNvPr>
          <p:cNvSpPr/>
          <p:nvPr/>
        </p:nvSpPr>
        <p:spPr>
          <a:xfrm>
            <a:off x="549471" y="1487206"/>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7C27B780-CE70-6C8A-E5F9-4AED87C1B137}"/>
              </a:ext>
            </a:extLst>
          </p:cNvPr>
          <p:cNvSpPr/>
          <p:nvPr/>
        </p:nvSpPr>
        <p:spPr>
          <a:xfrm>
            <a:off x="6416871" y="1487206"/>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E4EB7115-315C-E67B-50B7-F710F20D99D5}"/>
              </a:ext>
            </a:extLst>
          </p:cNvPr>
          <p:cNvSpPr txBox="1"/>
          <p:nvPr/>
        </p:nvSpPr>
        <p:spPr>
          <a:xfrm>
            <a:off x="530604" y="1594813"/>
            <a:ext cx="1274997" cy="646331"/>
          </a:xfrm>
          <a:prstGeom prst="rect">
            <a:avLst/>
          </a:prstGeom>
          <a:noFill/>
        </p:spPr>
        <p:txBody>
          <a:bodyPr wrap="square">
            <a:spAutoFit/>
          </a:bodyPr>
          <a:lstStyle/>
          <a:p>
            <a:r>
              <a:rPr lang="es-ES" b="1"/>
              <a:t>Deep </a:t>
            </a:r>
            <a:r>
              <a:rPr lang="es-ES" b="1" err="1"/>
              <a:t>waveguide</a:t>
            </a:r>
            <a:endParaRPr lang="es-ES"/>
          </a:p>
        </p:txBody>
      </p:sp>
      <p:sp>
        <p:nvSpPr>
          <p:cNvPr id="13" name="CuadroTexto 8">
            <a:extLst>
              <a:ext uri="{FF2B5EF4-FFF2-40B4-BE49-F238E27FC236}">
                <a16:creationId xmlns:a16="http://schemas.microsoft.com/office/drawing/2014/main" id="{8539ECF7-676A-AC38-752A-3BAC51638525}"/>
              </a:ext>
            </a:extLst>
          </p:cNvPr>
          <p:cNvSpPr txBox="1"/>
          <p:nvPr/>
        </p:nvSpPr>
        <p:spPr>
          <a:xfrm>
            <a:off x="6441892" y="1633907"/>
            <a:ext cx="1222612" cy="646331"/>
          </a:xfrm>
          <a:prstGeom prst="rect">
            <a:avLst/>
          </a:prstGeom>
          <a:noFill/>
        </p:spPr>
        <p:txBody>
          <a:bodyPr wrap="square">
            <a:spAutoFit/>
          </a:bodyPr>
          <a:lstStyle/>
          <a:p>
            <a:r>
              <a:rPr lang="es-ES" b="1" err="1"/>
              <a:t>Shallow</a:t>
            </a:r>
            <a:r>
              <a:rPr lang="es-ES" b="1"/>
              <a:t> </a:t>
            </a:r>
            <a:r>
              <a:rPr lang="es-ES" b="1" err="1"/>
              <a:t>waveguide</a:t>
            </a:r>
            <a:endParaRPr lang="es-ES"/>
          </a:p>
        </p:txBody>
      </p:sp>
      <p:pic>
        <p:nvPicPr>
          <p:cNvPr id="4" name="Picture 3">
            <a:extLst>
              <a:ext uri="{FF2B5EF4-FFF2-40B4-BE49-F238E27FC236}">
                <a16:creationId xmlns:a16="http://schemas.microsoft.com/office/drawing/2014/main" id="{268BCA0B-9337-BCA5-9FD2-831608C33A84}"/>
              </a:ext>
            </a:extLst>
          </p:cNvPr>
          <p:cNvPicPr>
            <a:picLocks noChangeAspect="1"/>
          </p:cNvPicPr>
          <p:nvPr/>
        </p:nvPicPr>
        <p:blipFill>
          <a:blip r:embed="rId5"/>
          <a:stretch>
            <a:fillRect/>
          </a:stretch>
        </p:blipFill>
        <p:spPr>
          <a:xfrm>
            <a:off x="1633857" y="1601165"/>
            <a:ext cx="4159198" cy="3040569"/>
          </a:xfrm>
          <a:prstGeom prst="rect">
            <a:avLst/>
          </a:prstGeom>
        </p:spPr>
      </p:pic>
      <p:pic>
        <p:nvPicPr>
          <p:cNvPr id="8" name="Picture 7">
            <a:extLst>
              <a:ext uri="{FF2B5EF4-FFF2-40B4-BE49-F238E27FC236}">
                <a16:creationId xmlns:a16="http://schemas.microsoft.com/office/drawing/2014/main" id="{0DBB7921-AA9A-0BC7-3D59-8583293B04E5}"/>
              </a:ext>
            </a:extLst>
          </p:cNvPr>
          <p:cNvPicPr>
            <a:picLocks noChangeAspect="1"/>
          </p:cNvPicPr>
          <p:nvPr/>
        </p:nvPicPr>
        <p:blipFill>
          <a:blip r:embed="rId6"/>
          <a:stretch>
            <a:fillRect/>
          </a:stretch>
        </p:blipFill>
        <p:spPr>
          <a:xfrm>
            <a:off x="7441575" y="1581638"/>
            <a:ext cx="4139237" cy="3025977"/>
          </a:xfrm>
          <a:prstGeom prst="rect">
            <a:avLst/>
          </a:prstGeom>
        </p:spPr>
      </p:pic>
      <p:sp>
        <p:nvSpPr>
          <p:cNvPr id="11" name="CuadroTexto 1">
            <a:extLst>
              <a:ext uri="{FF2B5EF4-FFF2-40B4-BE49-F238E27FC236}">
                <a16:creationId xmlns:a16="http://schemas.microsoft.com/office/drawing/2014/main" id="{16234B3D-EDFB-EACB-28D9-D558A30687B9}"/>
              </a:ext>
            </a:extLst>
          </p:cNvPr>
          <p:cNvSpPr txBox="1"/>
          <p:nvPr/>
        </p:nvSpPr>
        <p:spPr>
          <a:xfrm>
            <a:off x="549471" y="5033115"/>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_tradnl" sz="1200" dirty="0">
                <a:latin typeface="Times New Roman" panose="02020603050405020304" pitchFamily="18" charset="0"/>
                <a:cs typeface="Times New Roman" panose="02020603050405020304" pitchFamily="18" charset="0"/>
              </a:rPr>
              <a:t>En esta parte definimos la sección transversal de la guía de onda. Para este ejemplo en concreto, con las características especificadas (longitud  de onda de 1.55 </a:t>
            </a:r>
            <a:r>
              <a:rPr lang="es-ES_tradnl" sz="1200" dirty="0" err="1">
                <a:latin typeface="Times New Roman" panose="02020603050405020304" pitchFamily="18" charset="0"/>
                <a:cs typeface="Times New Roman" panose="02020603050405020304" pitchFamily="18" charset="0"/>
              </a:rPr>
              <a:t>um</a:t>
            </a:r>
            <a:r>
              <a:rPr lang="es-ES_tradnl" sz="1200" dirty="0">
                <a:latin typeface="Times New Roman" panose="02020603050405020304" pitchFamily="18" charset="0"/>
                <a:cs typeface="Times New Roman" panose="02020603050405020304" pitchFamily="18" charset="0"/>
              </a:rPr>
              <a:t>, anchura de la guía de 1.2 </a:t>
            </a:r>
            <a:r>
              <a:rPr lang="es-ES_tradnl" sz="1200" dirty="0" err="1">
                <a:latin typeface="Times New Roman" panose="02020603050405020304" pitchFamily="18" charset="0"/>
                <a:cs typeface="Times New Roman" panose="02020603050405020304" pitchFamily="18" charset="0"/>
              </a:rPr>
              <a:t>um</a:t>
            </a:r>
            <a:r>
              <a:rPr lang="es-ES_tradnl" sz="1200" dirty="0">
                <a:latin typeface="Times New Roman" panose="02020603050405020304" pitchFamily="18" charset="0"/>
                <a:cs typeface="Times New Roman" panose="02020603050405020304" pitchFamily="18" charset="0"/>
              </a:rPr>
              <a:t> y altura de 300nm), se ha seleccionado como material del núcleo </a:t>
            </a:r>
            <a:r>
              <a:rPr lang="es-ES_tradnl" sz="1200" dirty="0" err="1">
                <a:latin typeface="Times New Roman" panose="02020603050405020304" pitchFamily="18" charset="0"/>
                <a:cs typeface="Times New Roman" panose="02020603050405020304" pitchFamily="18" charset="0"/>
              </a:rPr>
              <a:t>SiNx</a:t>
            </a:r>
            <a:r>
              <a:rPr lang="es-ES_tradnl" sz="1200" dirty="0">
                <a:latin typeface="Times New Roman" panose="02020603050405020304" pitchFamily="18" charset="0"/>
                <a:cs typeface="Times New Roman" panose="02020603050405020304" pitchFamily="18" charset="0"/>
              </a:rPr>
              <a:t> y como material de la cubierto SiO2, porque como se ha explicado en el apartado anterior, es necesario que el índice de refracción del núcleo sea mayor que el de la cubierta para que se pueda confinar la luz en el núcleo. En las gráficas se representa el índice de refracción en la sección transversal, donde se distingue claramente la región del núcleo con mayor índice rodeada por el </a:t>
            </a:r>
            <a:r>
              <a:rPr lang="es-ES_tradnl" sz="1200" dirty="0" err="1">
                <a:latin typeface="Times New Roman" panose="02020603050405020304" pitchFamily="18" charset="0"/>
                <a:cs typeface="Times New Roman" panose="02020603050405020304" pitchFamily="18" charset="0"/>
              </a:rPr>
              <a:t>cladding</a:t>
            </a:r>
            <a:r>
              <a:rPr lang="es-ES_tradnl" sz="1200" dirty="0">
                <a:latin typeface="Times New Roman" panose="02020603050405020304" pitchFamily="18" charset="0"/>
                <a:cs typeface="Times New Roman" panose="02020603050405020304" pitchFamily="18" charset="0"/>
              </a:rPr>
              <a:t>. Vemos que se consideran dos configuraciones: Deep </a:t>
            </a:r>
            <a:r>
              <a:rPr lang="es-ES_tradnl" sz="1200" dirty="0" err="1">
                <a:latin typeface="Times New Roman" panose="02020603050405020304" pitchFamily="18" charset="0"/>
                <a:cs typeface="Times New Roman" panose="02020603050405020304" pitchFamily="18" charset="0"/>
              </a:rPr>
              <a:t>waveguide</a:t>
            </a:r>
            <a:r>
              <a:rPr lang="es-ES_tradnl" sz="1200" dirty="0">
                <a:latin typeface="Times New Roman" panose="02020603050405020304" pitchFamily="18" charset="0"/>
                <a:cs typeface="Times New Roman" panose="02020603050405020304" pitchFamily="18" charset="0"/>
              </a:rPr>
              <a:t> y </a:t>
            </a:r>
            <a:r>
              <a:rPr lang="es-ES_tradnl" sz="1200" dirty="0" err="1">
                <a:latin typeface="Times New Roman" panose="02020603050405020304" pitchFamily="18" charset="0"/>
                <a:cs typeface="Times New Roman" panose="02020603050405020304" pitchFamily="18" charset="0"/>
              </a:rPr>
              <a:t>shallow</a:t>
            </a:r>
            <a:r>
              <a:rPr lang="es-ES_tradnl" sz="1200" dirty="0">
                <a:latin typeface="Times New Roman" panose="02020603050405020304" pitchFamily="18" charset="0"/>
                <a:cs typeface="Times New Roman" panose="02020603050405020304" pitchFamily="18" charset="0"/>
              </a:rPr>
              <a:t> </a:t>
            </a:r>
            <a:r>
              <a:rPr lang="es-ES_tradnl" sz="1200" dirty="0" err="1">
                <a:latin typeface="Times New Roman" panose="02020603050405020304" pitchFamily="18" charset="0"/>
                <a:cs typeface="Times New Roman" panose="02020603050405020304" pitchFamily="18" charset="0"/>
              </a:rPr>
              <a:t>waveguide</a:t>
            </a:r>
            <a:r>
              <a:rPr lang="es-ES_tradnl" sz="1200" dirty="0">
                <a:latin typeface="Times New Roman" panose="02020603050405020304" pitchFamily="18" charset="0"/>
                <a:cs typeface="Times New Roman" panose="02020603050405020304" pitchFamily="18" charset="0"/>
              </a:rPr>
              <a:t>. </a:t>
            </a:r>
            <a:r>
              <a:rPr lang="es-ES" sz="1200" dirty="0">
                <a:latin typeface="Times New Roman" panose="02020603050405020304" pitchFamily="18" charset="0"/>
                <a:cs typeface="Times New Roman" panose="02020603050405020304" pitchFamily="18" charset="0"/>
              </a:rPr>
              <a:t>En la </a:t>
            </a:r>
            <a:r>
              <a:rPr lang="es-ES" sz="1200" dirty="0" err="1">
                <a:latin typeface="Times New Roman" panose="02020603050405020304" pitchFamily="18" charset="0"/>
                <a:cs typeface="Times New Roman" panose="02020603050405020304" pitchFamily="18" charset="0"/>
              </a:rPr>
              <a:t>deep</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waveguide</a:t>
            </a:r>
            <a:r>
              <a:rPr lang="es-ES" sz="1200" dirty="0">
                <a:latin typeface="Times New Roman" panose="02020603050405020304" pitchFamily="18" charset="0"/>
                <a:cs typeface="Times New Roman" panose="02020603050405020304" pitchFamily="18" charset="0"/>
              </a:rPr>
              <a:t> el núcleo está completamente definido y rodeado por el </a:t>
            </a:r>
            <a:r>
              <a:rPr lang="es-ES" sz="1200" dirty="0" err="1">
                <a:latin typeface="Times New Roman" panose="02020603050405020304" pitchFamily="18" charset="0"/>
                <a:cs typeface="Times New Roman" panose="02020603050405020304" pitchFamily="18" charset="0"/>
              </a:rPr>
              <a:t>cladding</a:t>
            </a:r>
            <a:r>
              <a:rPr lang="es-ES" sz="1200" dirty="0">
                <a:latin typeface="Times New Roman" panose="02020603050405020304" pitchFamily="18" charset="0"/>
                <a:cs typeface="Times New Roman" panose="02020603050405020304" pitchFamily="18" charset="0"/>
              </a:rPr>
              <a:t>. En cambio, en la </a:t>
            </a:r>
            <a:r>
              <a:rPr lang="es-ES" sz="1200" dirty="0" err="1">
                <a:latin typeface="Times New Roman" panose="02020603050405020304" pitchFamily="18" charset="0"/>
                <a:cs typeface="Times New Roman" panose="02020603050405020304" pitchFamily="18" charset="0"/>
              </a:rPr>
              <a:t>shallow</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waveguide</a:t>
            </a:r>
            <a:r>
              <a:rPr lang="es-ES" sz="1200" dirty="0">
                <a:latin typeface="Times New Roman" panose="02020603050405020304" pitchFamily="18" charset="0"/>
                <a:cs typeface="Times New Roman" panose="02020603050405020304" pitchFamily="18" charset="0"/>
              </a:rPr>
              <a:t> queda una capa delgada del material del núcleo llamada </a:t>
            </a:r>
            <a:r>
              <a:rPr lang="es-ES" sz="1200" dirty="0" err="1">
                <a:latin typeface="Times New Roman" panose="02020603050405020304" pitchFamily="18" charset="0"/>
                <a:cs typeface="Times New Roman" panose="02020603050405020304" pitchFamily="18" charset="0"/>
              </a:rPr>
              <a:t>slab</a:t>
            </a:r>
            <a:r>
              <a:rPr lang="es-ES" sz="1200" dirty="0">
                <a:latin typeface="Times New Roman" panose="02020603050405020304" pitchFamily="18" charset="0"/>
                <a:cs typeface="Times New Roman" panose="02020603050405020304" pitchFamily="18" charset="0"/>
              </a:rPr>
              <a:t>, que se extiende lateralmente bajo la guía.</a:t>
            </a:r>
          </a:p>
        </p:txBody>
      </p:sp>
    </p:spTree>
    <p:extLst>
      <p:ext uri="{BB962C8B-B14F-4D97-AF65-F5344CB8AC3E}">
        <p14:creationId xmlns:p14="http://schemas.microsoft.com/office/powerpoint/2010/main" val="293466372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058D4E-AAD4-A207-306C-AFE3E93CA27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4314C32B-2797-B25F-FBC9-6EBC1BB1C913}"/>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spcBef>
                <a:spcPts val="100"/>
              </a:spcBef>
            </a:pPr>
            <a:r>
              <a:rPr lang="en-US" sz="2500" spc="-5" dirty="0" err="1">
                <a:latin typeface="+mj-lt"/>
                <a:cs typeface="Lucida Sans"/>
              </a:rPr>
              <a:t>Simulaciones</a:t>
            </a:r>
            <a:r>
              <a:rPr lang="en-US" sz="2500" spc="-5" dirty="0">
                <a:latin typeface="+mj-lt"/>
                <a:cs typeface="Lucida Sans"/>
              </a:rPr>
              <a:t> – </a:t>
            </a:r>
            <a:r>
              <a:rPr lang="en-US" sz="2500" spc="-5" dirty="0" err="1">
                <a:latin typeface="+mj-lt"/>
                <a:cs typeface="Lucida Sans"/>
              </a:rPr>
              <a:t>Resultados</a:t>
            </a:r>
            <a:r>
              <a:rPr lang="en-US" sz="2500" spc="-5" dirty="0">
                <a:latin typeface="+mj-lt"/>
                <a:cs typeface="Lucida Sans"/>
              </a:rPr>
              <a:t> </a:t>
            </a:r>
            <a:r>
              <a:rPr lang="en-US" sz="2500" spc="-5" dirty="0" err="1">
                <a:latin typeface="+mj-lt"/>
                <a:cs typeface="Lucida Sans"/>
              </a:rPr>
              <a:t>numéricos</a:t>
            </a:r>
            <a:br>
              <a:rPr lang="es-ES" sz="2500" spc="-5" dirty="0">
                <a:latin typeface="+mj-lt"/>
                <a:cs typeface="Lucida Sans"/>
              </a:rPr>
            </a:br>
            <a:r>
              <a:rPr lang="es-ES" b="0" dirty="0" err="1"/>
              <a:t>Neff</a:t>
            </a:r>
            <a:r>
              <a:rPr lang="es-ES" b="0" dirty="0"/>
              <a:t> y modos TE y TM para la sección cruzada de la guía </a:t>
            </a:r>
            <a:r>
              <a:rPr lang="es-ES" b="0" dirty="0" err="1"/>
              <a:t>deep</a:t>
            </a:r>
            <a:endParaRPr sz="2500" b="0" dirty="0">
              <a:latin typeface="+mj-lt"/>
              <a:cs typeface="Lucida Sans"/>
            </a:endParaRPr>
          </a:p>
        </p:txBody>
      </p:sp>
      <p:pic>
        <p:nvPicPr>
          <p:cNvPr id="83" name="Gráfico 82">
            <a:extLst>
              <a:ext uri="{FF2B5EF4-FFF2-40B4-BE49-F238E27FC236}">
                <a16:creationId xmlns:a16="http://schemas.microsoft.com/office/drawing/2014/main" id="{63A8613C-209C-2896-8C16-516700AAB56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8E59FBD-1FF2-3C67-0D54-BA0BDAD88C52}"/>
              </a:ext>
            </a:extLst>
          </p:cNvPr>
          <p:cNvSpPr>
            <a:spLocks noGrp="1"/>
          </p:cNvSpPr>
          <p:nvPr>
            <p:ph type="sldNum" sz="quarter" idx="7"/>
          </p:nvPr>
        </p:nvSpPr>
        <p:spPr/>
        <p:txBody>
          <a:bodyPr/>
          <a:lstStyle/>
          <a:p>
            <a:fld id="{B6F15528-21DE-4FAA-801E-634DDDAF4B2B}" type="slidenum">
              <a:rPr lang="es-ES" smtClean="0"/>
              <a:t>7</a:t>
            </a:fld>
            <a:endParaRPr lang="es-ES"/>
          </a:p>
        </p:txBody>
      </p:sp>
      <p:sp>
        <p:nvSpPr>
          <p:cNvPr id="3" name="Marcador de pie de página 2">
            <a:extLst>
              <a:ext uri="{FF2B5EF4-FFF2-40B4-BE49-F238E27FC236}">
                <a16:creationId xmlns:a16="http://schemas.microsoft.com/office/drawing/2014/main" id="{37B8067F-5D95-C6A5-6CA4-5327EE724B8B}"/>
              </a:ext>
            </a:extLst>
          </p:cNvPr>
          <p:cNvSpPr>
            <a:spLocks noGrp="1"/>
          </p:cNvSpPr>
          <p:nvPr>
            <p:ph type="ftr" sz="quarter" idx="5"/>
          </p:nvPr>
        </p:nvSpPr>
        <p:spPr/>
        <p:txBody>
          <a:bodyPr/>
          <a:lstStyle/>
          <a:p>
            <a:pPr marL="12700">
              <a:spcBef>
                <a:spcPts val="15"/>
              </a:spcBef>
            </a:pPr>
            <a:r>
              <a:rPr lang="es-ES" spc="-5"/>
              <a:t>LAB 1.0 WAVEGUIDES</a:t>
            </a:r>
          </a:p>
        </p:txBody>
      </p:sp>
      <p:sp>
        <p:nvSpPr>
          <p:cNvPr id="11" name="CuadroTexto 1">
            <a:extLst>
              <a:ext uri="{FF2B5EF4-FFF2-40B4-BE49-F238E27FC236}">
                <a16:creationId xmlns:a16="http://schemas.microsoft.com/office/drawing/2014/main" id="{70E084A5-8FA6-C03A-5815-3E4B02156112}"/>
              </a:ext>
            </a:extLst>
          </p:cNvPr>
          <p:cNvSpPr txBox="1"/>
          <p:nvPr/>
        </p:nvSpPr>
        <p:spPr>
          <a:xfrm>
            <a:off x="496013" y="1535335"/>
            <a:ext cx="11199971" cy="707886"/>
          </a:xfrm>
          <a:prstGeom prst="rect">
            <a:avLst/>
          </a:prstGeom>
          <a:solidFill>
            <a:schemeClr val="bg1">
              <a:lumMod val="95000"/>
            </a:schemeClr>
          </a:solidFill>
          <a:ln w="28575">
            <a:solidFill>
              <a:srgbClr val="E0700D"/>
            </a:solidFill>
          </a:ln>
        </p:spPr>
        <p:txBody>
          <a:bodyPr wrap="square" rtlCol="0">
            <a:spAutoFit/>
          </a:bodyPr>
          <a:lstStyle/>
          <a:p>
            <a:pPr algn="just"/>
            <a:endParaRPr lang="en-US" sz="1400" dirty="0">
              <a:latin typeface="Arial" panose="020B0604020202020204" pitchFamily="34" charset="0"/>
              <a:cs typeface="Arial" panose="020B0604020202020204" pitchFamily="34" charset="0"/>
            </a:endParaRPr>
          </a:p>
          <a:p>
            <a:pPr algn="just"/>
            <a:r>
              <a:rPr lang="en-US" sz="1400" dirty="0">
                <a:latin typeface="Times New Roman" panose="02020603050405020304" pitchFamily="18" charset="0"/>
                <a:cs typeface="Times New Roman" panose="02020603050405020304" pitchFamily="18" charset="0"/>
              </a:rPr>
              <a:t>Neff = array([1.60524792+0.00010066j, 1.52829803+0.00017753j, 1.45072999+0.00019228j, 1.43325817+0.00021838j])</a:t>
            </a:r>
          </a:p>
          <a:p>
            <a:pPr algn="just"/>
            <a:endParaRPr lang="en-US" sz="1200" dirty="0">
              <a:latin typeface="Arial" panose="020B0604020202020204" pitchFamily="34" charset="0"/>
              <a:cs typeface="Arial" panose="020B0604020202020204" pitchFamily="34" charset="0"/>
            </a:endParaRPr>
          </a:p>
        </p:txBody>
      </p:sp>
      <p:sp>
        <p:nvSpPr>
          <p:cNvPr id="2" name="CuadroTexto 1">
            <a:extLst>
              <a:ext uri="{FF2B5EF4-FFF2-40B4-BE49-F238E27FC236}">
                <a16:creationId xmlns:a16="http://schemas.microsoft.com/office/drawing/2014/main" id="{04907234-8DF6-4EC0-95AA-09D57F772260}"/>
              </a:ext>
            </a:extLst>
          </p:cNvPr>
          <p:cNvSpPr txBox="1"/>
          <p:nvPr/>
        </p:nvSpPr>
        <p:spPr>
          <a:xfrm>
            <a:off x="496014" y="2616193"/>
            <a:ext cx="11199971" cy="707886"/>
          </a:xfrm>
          <a:prstGeom prst="rect">
            <a:avLst/>
          </a:prstGeom>
          <a:solidFill>
            <a:schemeClr val="bg1">
              <a:lumMod val="95000"/>
            </a:schemeClr>
          </a:solidFill>
          <a:ln w="28575">
            <a:solidFill>
              <a:srgbClr val="E0700D"/>
            </a:solidFill>
          </a:ln>
        </p:spPr>
        <p:txBody>
          <a:bodyPr wrap="square" rtlCol="0">
            <a:spAutoFit/>
          </a:bodyPr>
          <a:lstStyle/>
          <a:p>
            <a:pPr algn="just"/>
            <a:endParaRPr lang="en-US" sz="1400" dirty="0">
              <a:latin typeface="Times New Roman" panose="02020603050405020304" pitchFamily="18" charset="0"/>
              <a:cs typeface="Times New Roman" panose="02020603050405020304" pitchFamily="18" charset="0"/>
            </a:endParaRPr>
          </a:p>
          <a:p>
            <a:pPr algn="just"/>
            <a:r>
              <a:rPr lang="en-US" sz="1400" dirty="0" err="1">
                <a:latin typeface="Times New Roman" panose="02020603050405020304" pitchFamily="18" charset="0"/>
                <a:cs typeface="Times New Roman" panose="02020603050405020304" pitchFamily="18" charset="0"/>
              </a:rPr>
              <a:t>Modos</a:t>
            </a:r>
            <a:r>
              <a:rPr lang="en-US" sz="1400" dirty="0">
                <a:latin typeface="Times New Roman" panose="02020603050405020304" pitchFamily="18" charset="0"/>
                <a:cs typeface="Times New Roman" panose="02020603050405020304" pitchFamily="18" charset="0"/>
              </a:rPr>
              <a:t> TE =&gt; array([0.99505426, 0.01004259, 0.96264794, 0.047651 ])</a:t>
            </a:r>
          </a:p>
          <a:p>
            <a:pPr algn="just"/>
            <a:endParaRPr lang="en-US" sz="1200" dirty="0">
              <a:latin typeface="Arial" panose="020B0604020202020204" pitchFamily="34" charset="0"/>
              <a:cs typeface="Arial" panose="020B0604020202020204" pitchFamily="34" charset="0"/>
            </a:endParaRPr>
          </a:p>
        </p:txBody>
      </p:sp>
      <p:sp>
        <p:nvSpPr>
          <p:cNvPr id="6" name="CuadroTexto 1">
            <a:extLst>
              <a:ext uri="{FF2B5EF4-FFF2-40B4-BE49-F238E27FC236}">
                <a16:creationId xmlns:a16="http://schemas.microsoft.com/office/drawing/2014/main" id="{AA3E5D64-320C-12BE-97A0-5EB950374BFC}"/>
              </a:ext>
            </a:extLst>
          </p:cNvPr>
          <p:cNvSpPr txBox="1"/>
          <p:nvPr/>
        </p:nvSpPr>
        <p:spPr>
          <a:xfrm>
            <a:off x="483656" y="3779526"/>
            <a:ext cx="11199971" cy="492443"/>
          </a:xfrm>
          <a:prstGeom prst="rect">
            <a:avLst/>
          </a:prstGeom>
          <a:solidFill>
            <a:schemeClr val="bg1">
              <a:lumMod val="95000"/>
            </a:schemeClr>
          </a:solidFill>
          <a:ln w="28575">
            <a:solidFill>
              <a:srgbClr val="E0700D"/>
            </a:solidFill>
          </a:ln>
        </p:spPr>
        <p:txBody>
          <a:bodyPr wrap="square" rtlCol="0">
            <a:spAutoFit/>
          </a:bodyPr>
          <a:lstStyle/>
          <a:p>
            <a:pPr algn="just"/>
            <a:endParaRPr lang="en-US" sz="1200" dirty="0">
              <a:latin typeface="Arial" panose="020B0604020202020204" pitchFamily="34" charset="0"/>
              <a:cs typeface="Arial" panose="020B0604020202020204" pitchFamily="34" charset="0"/>
            </a:endParaRPr>
          </a:p>
          <a:p>
            <a:pPr algn="just"/>
            <a:r>
              <a:rPr lang="en-US" sz="1400" dirty="0" err="1">
                <a:latin typeface="Times New Roman" panose="02020603050405020304" pitchFamily="18" charset="0"/>
                <a:cs typeface="Times New Roman" panose="02020603050405020304" pitchFamily="18" charset="0"/>
              </a:rPr>
              <a:t>Modos</a:t>
            </a:r>
            <a:r>
              <a:rPr lang="en-US" sz="1400" dirty="0">
                <a:latin typeface="Times New Roman" panose="02020603050405020304" pitchFamily="18" charset="0"/>
                <a:cs typeface="Times New Roman" panose="02020603050405020304" pitchFamily="18" charset="0"/>
              </a:rPr>
              <a:t> TM =&gt; array([0.00494574, 0.98995741, 0.03735206, 0.952349 ])</a:t>
            </a:r>
          </a:p>
        </p:txBody>
      </p:sp>
      <p:sp>
        <p:nvSpPr>
          <p:cNvPr id="10" name="CuadroTexto 1">
            <a:extLst>
              <a:ext uri="{FF2B5EF4-FFF2-40B4-BE49-F238E27FC236}">
                <a16:creationId xmlns:a16="http://schemas.microsoft.com/office/drawing/2014/main" id="{D7B09FC9-1C9D-9460-F274-524E32FBB861}"/>
              </a:ext>
            </a:extLst>
          </p:cNvPr>
          <p:cNvSpPr txBox="1"/>
          <p:nvPr/>
        </p:nvSpPr>
        <p:spPr>
          <a:xfrm>
            <a:off x="496013" y="4702793"/>
            <a:ext cx="11199971" cy="1384995"/>
          </a:xfrm>
          <a:prstGeom prst="rect">
            <a:avLst/>
          </a:prstGeom>
          <a:solidFill>
            <a:schemeClr val="bg1">
              <a:lumMod val="95000"/>
            </a:schemeClr>
          </a:solidFill>
          <a:ln w="28575">
            <a:solidFill>
              <a:srgbClr val="E0700D"/>
            </a:solidFill>
          </a:ln>
        </p:spPr>
        <p:txBody>
          <a:bodyPr wrap="square" rtlCol="0">
            <a:spAutoFit/>
          </a:bodyPr>
          <a:lstStyle/>
          <a:p>
            <a:pPr algn="just"/>
            <a:r>
              <a:rPr lang="es-ES" sz="1400" dirty="0">
                <a:latin typeface="Times New Roman" panose="02020603050405020304" pitchFamily="18" charset="0"/>
                <a:cs typeface="Times New Roman" panose="02020603050405020304" pitchFamily="18" charset="0"/>
              </a:rPr>
              <a:t>A partir de la simulación se obtienen los índices efectivos (</a:t>
            </a:r>
            <a:r>
              <a:rPr lang="es-ES" sz="1400" dirty="0" err="1">
                <a:latin typeface="Times New Roman" panose="02020603050405020304" pitchFamily="18" charset="0"/>
                <a:cs typeface="Times New Roman" panose="02020603050405020304" pitchFamily="18" charset="0"/>
              </a:rPr>
              <a:t>Neff</a:t>
            </a:r>
            <a:r>
              <a:rPr lang="es-ES" sz="1400" dirty="0">
                <a:latin typeface="Times New Roman" panose="02020603050405020304" pitchFamily="18" charset="0"/>
                <a:cs typeface="Times New Roman" panose="02020603050405020304" pitchFamily="18" charset="0"/>
              </a:rPr>
              <a:t>) y la polarización de los modos propagados en la sección transversal de la </a:t>
            </a:r>
            <a:r>
              <a:rPr lang="es-ES" sz="1400" dirty="0" err="1">
                <a:latin typeface="Times New Roman" panose="02020603050405020304" pitchFamily="18" charset="0"/>
                <a:cs typeface="Times New Roman" panose="02020603050405020304" pitchFamily="18" charset="0"/>
              </a:rPr>
              <a:t>deep</a:t>
            </a:r>
            <a:r>
              <a:rPr lang="es-ES" sz="1400" dirty="0">
                <a:latin typeface="Times New Roman" panose="02020603050405020304" pitchFamily="18" charset="0"/>
                <a:cs typeface="Times New Roman" panose="02020603050405020304" pitchFamily="18" charset="0"/>
              </a:rPr>
              <a:t> </a:t>
            </a:r>
            <a:r>
              <a:rPr lang="es-ES" sz="1400" dirty="0" err="1">
                <a:latin typeface="Times New Roman" panose="02020603050405020304" pitchFamily="18" charset="0"/>
                <a:cs typeface="Times New Roman" panose="02020603050405020304" pitchFamily="18" charset="0"/>
              </a:rPr>
              <a:t>waveguide</a:t>
            </a:r>
            <a:r>
              <a:rPr lang="es-ES" sz="1400" dirty="0">
                <a:latin typeface="Times New Roman" panose="02020603050405020304" pitchFamily="18" charset="0"/>
                <a:cs typeface="Times New Roman" panose="02020603050405020304" pitchFamily="18" charset="0"/>
              </a:rPr>
              <a:t>. Analizando la parte real de los índices efectivos y considerando que el índice del núcleo es aproximadamente 2 y el del </a:t>
            </a:r>
            <a:r>
              <a:rPr lang="es-ES" sz="1400" dirty="0" err="1">
                <a:latin typeface="Times New Roman" panose="02020603050405020304" pitchFamily="18" charset="0"/>
                <a:cs typeface="Times New Roman" panose="02020603050405020304" pitchFamily="18" charset="0"/>
              </a:rPr>
              <a:t>cladding</a:t>
            </a:r>
            <a:r>
              <a:rPr lang="es-ES" sz="1400" dirty="0">
                <a:latin typeface="Times New Roman" panose="02020603050405020304" pitchFamily="18" charset="0"/>
                <a:cs typeface="Times New Roman" panose="02020603050405020304" pitchFamily="18" charset="0"/>
              </a:rPr>
              <a:t> alrededor de 1.45, se observa que los tres primeros modos están guiados, ya que sus índices efectivos se encuentran entre los valores del núcleo y del revestimiento. Por el contrario, el cuarto modo no está confinado, ya que su índice efectivo se aproxima al del </a:t>
            </a:r>
            <a:r>
              <a:rPr lang="es-ES" sz="1400" dirty="0" err="1">
                <a:latin typeface="Times New Roman" panose="02020603050405020304" pitchFamily="18" charset="0"/>
                <a:cs typeface="Times New Roman" panose="02020603050405020304" pitchFamily="18" charset="0"/>
              </a:rPr>
              <a:t>cladding</a:t>
            </a:r>
            <a:r>
              <a:rPr lang="es-ES" sz="1400" dirty="0">
                <a:latin typeface="Times New Roman" panose="02020603050405020304" pitchFamily="18" charset="0"/>
                <a:cs typeface="Times New Roman" panose="02020603050405020304" pitchFamily="18" charset="0"/>
              </a:rPr>
              <a:t>.</a:t>
            </a:r>
          </a:p>
          <a:p>
            <a:pPr algn="just"/>
            <a:r>
              <a:rPr lang="es-ES" sz="1400" dirty="0">
                <a:latin typeface="Times New Roman" panose="02020603050405020304" pitchFamily="18" charset="0"/>
                <a:cs typeface="Times New Roman" panose="02020603050405020304" pitchFamily="18" charset="0"/>
              </a:rPr>
              <a:t>Además, analizando los coeficientes asociados a cada modo se puede identificar su polarización, observándose que el primer y el tercer modo corresponden a modos TE, mientras que el segundo y el cuarto corresponden a modos TM.</a:t>
            </a:r>
          </a:p>
        </p:txBody>
      </p:sp>
    </p:spTree>
    <p:extLst>
      <p:ext uri="{BB962C8B-B14F-4D97-AF65-F5344CB8AC3E}">
        <p14:creationId xmlns:p14="http://schemas.microsoft.com/office/powerpoint/2010/main" val="121866313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4B7CED3-6E38-EFFD-FB74-98A17FE92705}"/>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0B66731B-48E4-9975-7387-197F07F62658}"/>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Field Plots </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10FA30D9-9DE1-6611-94C9-62F771FE78C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3871826F-788A-9B48-DC26-91C9E36FB9B9}"/>
              </a:ext>
            </a:extLst>
          </p:cNvPr>
          <p:cNvSpPr>
            <a:spLocks noGrp="1"/>
          </p:cNvSpPr>
          <p:nvPr>
            <p:ph type="sldNum" sz="quarter" idx="7"/>
          </p:nvPr>
        </p:nvSpPr>
        <p:spPr/>
        <p:txBody>
          <a:bodyPr/>
          <a:lstStyle/>
          <a:p>
            <a:fld id="{B6F15528-21DE-4FAA-801E-634DDDAF4B2B}" type="slidenum">
              <a:rPr lang="es-ES" smtClean="0"/>
              <a:t>8</a:t>
            </a:fld>
            <a:endParaRPr lang="es-ES"/>
          </a:p>
        </p:txBody>
      </p:sp>
      <p:sp>
        <p:nvSpPr>
          <p:cNvPr id="3" name="Marcador de pie de página 2">
            <a:extLst>
              <a:ext uri="{FF2B5EF4-FFF2-40B4-BE49-F238E27FC236}">
                <a16:creationId xmlns:a16="http://schemas.microsoft.com/office/drawing/2014/main" id="{9AF42192-6D99-4CE2-7492-F4EFE293A7B7}"/>
              </a:ext>
            </a:extLst>
          </p:cNvPr>
          <p:cNvSpPr>
            <a:spLocks noGrp="1"/>
          </p:cNvSpPr>
          <p:nvPr>
            <p:ph type="ftr" sz="quarter" idx="5"/>
          </p:nvPr>
        </p:nvSpPr>
        <p:spPr>
          <a:xfrm>
            <a:off x="168489" y="6610634"/>
            <a:ext cx="2743200" cy="184666"/>
          </a:xfrm>
        </p:spPr>
        <p:txBody>
          <a:bodyPr/>
          <a:lstStyle/>
          <a:p>
            <a:pPr marL="12700">
              <a:spcBef>
                <a:spcPts val="15"/>
              </a:spcBef>
            </a:pPr>
            <a:r>
              <a:rPr lang="es-ES" spc="-5"/>
              <a:t>LAB 1.0 WAVEGUIDES</a:t>
            </a:r>
          </a:p>
        </p:txBody>
      </p:sp>
      <p:sp>
        <p:nvSpPr>
          <p:cNvPr id="5" name="Rectángulo 4">
            <a:extLst>
              <a:ext uri="{FF2B5EF4-FFF2-40B4-BE49-F238E27FC236}">
                <a16:creationId xmlns:a16="http://schemas.microsoft.com/office/drawing/2014/main" id="{7666EB83-46BD-781A-4944-035A4F30C560}"/>
              </a:ext>
            </a:extLst>
          </p:cNvPr>
          <p:cNvSpPr/>
          <p:nvPr/>
        </p:nvSpPr>
        <p:spPr>
          <a:xfrm>
            <a:off x="619772" y="1214639"/>
            <a:ext cx="3447276" cy="23643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4852E50F-34E8-D5D9-04D1-41FFF9E664A2}"/>
              </a:ext>
            </a:extLst>
          </p:cNvPr>
          <p:cNvSpPr txBox="1"/>
          <p:nvPr/>
        </p:nvSpPr>
        <p:spPr>
          <a:xfrm>
            <a:off x="573589" y="843615"/>
            <a:ext cx="2059304"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TE_0</a:t>
            </a:r>
            <a:endParaRPr lang="es-ES" dirty="0">
              <a:latin typeface="Times New Roman" panose="02020603050405020304" pitchFamily="18" charset="0"/>
              <a:cs typeface="Times New Roman" panose="02020603050405020304" pitchFamily="18" charset="0"/>
            </a:endParaRPr>
          </a:p>
        </p:txBody>
      </p:sp>
      <p:sp>
        <p:nvSpPr>
          <p:cNvPr id="6" name="CuadroTexto 8">
            <a:extLst>
              <a:ext uri="{FF2B5EF4-FFF2-40B4-BE49-F238E27FC236}">
                <a16:creationId xmlns:a16="http://schemas.microsoft.com/office/drawing/2014/main" id="{9B20C6CE-B979-763E-B361-DB69A7B32560}"/>
              </a:ext>
            </a:extLst>
          </p:cNvPr>
          <p:cNvSpPr txBox="1"/>
          <p:nvPr/>
        </p:nvSpPr>
        <p:spPr>
          <a:xfrm>
            <a:off x="4305435" y="906134"/>
            <a:ext cx="2269787"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TM_0</a:t>
            </a:r>
            <a:endParaRPr lang="es-ES" dirty="0">
              <a:latin typeface="Times New Roman" panose="02020603050405020304" pitchFamily="18" charset="0"/>
              <a:cs typeface="Times New Roman" panose="02020603050405020304" pitchFamily="18" charset="0"/>
            </a:endParaRPr>
          </a:p>
        </p:txBody>
      </p:sp>
      <p:sp>
        <p:nvSpPr>
          <p:cNvPr id="11" name="CuadroTexto 8">
            <a:extLst>
              <a:ext uri="{FF2B5EF4-FFF2-40B4-BE49-F238E27FC236}">
                <a16:creationId xmlns:a16="http://schemas.microsoft.com/office/drawing/2014/main" id="{31AA0679-F63F-1F06-EF55-BFBD367F04D0}"/>
              </a:ext>
            </a:extLst>
          </p:cNvPr>
          <p:cNvSpPr txBox="1"/>
          <p:nvPr/>
        </p:nvSpPr>
        <p:spPr>
          <a:xfrm>
            <a:off x="486390" y="3662243"/>
            <a:ext cx="2269787"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TE_1</a:t>
            </a:r>
            <a:endParaRPr lang="es-ES" dirty="0">
              <a:latin typeface="Times New Roman" panose="02020603050405020304" pitchFamily="18" charset="0"/>
              <a:cs typeface="Times New Roman" panose="02020603050405020304" pitchFamily="18" charset="0"/>
            </a:endParaRPr>
          </a:p>
        </p:txBody>
      </p:sp>
      <p:sp>
        <p:nvSpPr>
          <p:cNvPr id="14" name="CuadroTexto 8">
            <a:extLst>
              <a:ext uri="{FF2B5EF4-FFF2-40B4-BE49-F238E27FC236}">
                <a16:creationId xmlns:a16="http://schemas.microsoft.com/office/drawing/2014/main" id="{13CD4331-11C2-EF20-E044-CB61C8E34BF7}"/>
              </a:ext>
            </a:extLst>
          </p:cNvPr>
          <p:cNvSpPr txBox="1"/>
          <p:nvPr/>
        </p:nvSpPr>
        <p:spPr>
          <a:xfrm>
            <a:off x="4305435" y="3611904"/>
            <a:ext cx="2269787" cy="369332"/>
          </a:xfrm>
          <a:prstGeom prst="rect">
            <a:avLst/>
          </a:prstGeom>
          <a:noFill/>
        </p:spPr>
        <p:txBody>
          <a:bodyPr wrap="square">
            <a:spAutoFit/>
          </a:bodyPr>
          <a:lstStyle/>
          <a:p>
            <a:r>
              <a:rPr lang="en-US" dirty="0">
                <a:latin typeface="Times New Roman" panose="02020603050405020304" pitchFamily="18" charset="0"/>
                <a:cs typeface="Times New Roman" panose="02020603050405020304" pitchFamily="18" charset="0"/>
              </a:rPr>
              <a:t>TM_1</a:t>
            </a:r>
            <a:endParaRPr lang="es-ES" dirty="0">
              <a:latin typeface="Times New Roman" panose="02020603050405020304" pitchFamily="18" charset="0"/>
              <a:cs typeface="Times New Roman" panose="02020603050405020304" pitchFamily="18" charset="0"/>
            </a:endParaRPr>
          </a:p>
        </p:txBody>
      </p:sp>
      <p:pic>
        <p:nvPicPr>
          <p:cNvPr id="17" name="Picture 16">
            <a:extLst>
              <a:ext uri="{FF2B5EF4-FFF2-40B4-BE49-F238E27FC236}">
                <a16:creationId xmlns:a16="http://schemas.microsoft.com/office/drawing/2014/main" id="{29FE3416-1436-CD1F-3514-50A65CB51D1A}"/>
              </a:ext>
            </a:extLst>
          </p:cNvPr>
          <p:cNvPicPr>
            <a:picLocks noChangeAspect="1"/>
          </p:cNvPicPr>
          <p:nvPr/>
        </p:nvPicPr>
        <p:blipFill>
          <a:blip r:embed="rId5"/>
          <a:stretch>
            <a:fillRect/>
          </a:stretch>
        </p:blipFill>
        <p:spPr>
          <a:xfrm>
            <a:off x="619772" y="1258966"/>
            <a:ext cx="3416241" cy="2320053"/>
          </a:xfrm>
          <a:prstGeom prst="rect">
            <a:avLst/>
          </a:prstGeom>
        </p:spPr>
      </p:pic>
      <p:sp>
        <p:nvSpPr>
          <p:cNvPr id="18" name="Rectángulo 4">
            <a:extLst>
              <a:ext uri="{FF2B5EF4-FFF2-40B4-BE49-F238E27FC236}">
                <a16:creationId xmlns:a16="http://schemas.microsoft.com/office/drawing/2014/main" id="{4691B8E8-4201-7FBF-4948-0320C0A969FC}"/>
              </a:ext>
            </a:extLst>
          </p:cNvPr>
          <p:cNvSpPr/>
          <p:nvPr/>
        </p:nvSpPr>
        <p:spPr>
          <a:xfrm>
            <a:off x="4336470" y="1212947"/>
            <a:ext cx="3447276" cy="23643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ángulo 4">
            <a:extLst>
              <a:ext uri="{FF2B5EF4-FFF2-40B4-BE49-F238E27FC236}">
                <a16:creationId xmlns:a16="http://schemas.microsoft.com/office/drawing/2014/main" id="{B9D81DFB-89FB-AE03-BF50-BE236EC6AFC0}"/>
              </a:ext>
            </a:extLst>
          </p:cNvPr>
          <p:cNvSpPr/>
          <p:nvPr/>
        </p:nvSpPr>
        <p:spPr>
          <a:xfrm>
            <a:off x="633420" y="3981940"/>
            <a:ext cx="3447276" cy="23643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Rectángulo 4">
            <a:extLst>
              <a:ext uri="{FF2B5EF4-FFF2-40B4-BE49-F238E27FC236}">
                <a16:creationId xmlns:a16="http://schemas.microsoft.com/office/drawing/2014/main" id="{C9D18BD9-796C-FA8C-1742-388647CD499A}"/>
              </a:ext>
            </a:extLst>
          </p:cNvPr>
          <p:cNvSpPr/>
          <p:nvPr/>
        </p:nvSpPr>
        <p:spPr>
          <a:xfrm>
            <a:off x="4336470" y="3969878"/>
            <a:ext cx="3447276" cy="2364380"/>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22" name="Picture 21">
            <a:extLst>
              <a:ext uri="{FF2B5EF4-FFF2-40B4-BE49-F238E27FC236}">
                <a16:creationId xmlns:a16="http://schemas.microsoft.com/office/drawing/2014/main" id="{2351FE22-7761-603A-976E-A0DBC8EC021B}"/>
              </a:ext>
            </a:extLst>
          </p:cNvPr>
          <p:cNvPicPr>
            <a:picLocks noChangeAspect="1"/>
          </p:cNvPicPr>
          <p:nvPr/>
        </p:nvPicPr>
        <p:blipFill>
          <a:blip r:embed="rId6"/>
          <a:stretch>
            <a:fillRect/>
          </a:stretch>
        </p:blipFill>
        <p:spPr>
          <a:xfrm>
            <a:off x="4420065" y="1258966"/>
            <a:ext cx="3351869" cy="2255842"/>
          </a:xfrm>
          <a:prstGeom prst="rect">
            <a:avLst/>
          </a:prstGeom>
        </p:spPr>
      </p:pic>
      <p:pic>
        <p:nvPicPr>
          <p:cNvPr id="24" name="Picture 23">
            <a:extLst>
              <a:ext uri="{FF2B5EF4-FFF2-40B4-BE49-F238E27FC236}">
                <a16:creationId xmlns:a16="http://schemas.microsoft.com/office/drawing/2014/main" id="{197859F4-4F63-B77E-7D68-536ACED6824B}"/>
              </a:ext>
            </a:extLst>
          </p:cNvPr>
          <p:cNvPicPr>
            <a:picLocks noChangeAspect="1"/>
          </p:cNvPicPr>
          <p:nvPr/>
        </p:nvPicPr>
        <p:blipFill>
          <a:blip r:embed="rId7"/>
          <a:stretch>
            <a:fillRect/>
          </a:stretch>
        </p:blipFill>
        <p:spPr>
          <a:xfrm>
            <a:off x="663191" y="4003739"/>
            <a:ext cx="3352512" cy="2255843"/>
          </a:xfrm>
          <a:prstGeom prst="rect">
            <a:avLst/>
          </a:prstGeom>
        </p:spPr>
      </p:pic>
      <p:pic>
        <p:nvPicPr>
          <p:cNvPr id="26" name="Picture 25">
            <a:extLst>
              <a:ext uri="{FF2B5EF4-FFF2-40B4-BE49-F238E27FC236}">
                <a16:creationId xmlns:a16="http://schemas.microsoft.com/office/drawing/2014/main" id="{287D9189-7635-8060-474D-C9C768931AC2}"/>
              </a:ext>
            </a:extLst>
          </p:cNvPr>
          <p:cNvPicPr>
            <a:picLocks noChangeAspect="1"/>
          </p:cNvPicPr>
          <p:nvPr/>
        </p:nvPicPr>
        <p:blipFill>
          <a:blip r:embed="rId8"/>
          <a:stretch>
            <a:fillRect/>
          </a:stretch>
        </p:blipFill>
        <p:spPr>
          <a:xfrm>
            <a:off x="4416090" y="4071304"/>
            <a:ext cx="3337420" cy="2200435"/>
          </a:xfrm>
          <a:prstGeom prst="rect">
            <a:avLst/>
          </a:prstGeom>
        </p:spPr>
      </p:pic>
      <p:sp>
        <p:nvSpPr>
          <p:cNvPr id="2" name="CuadroTexto 1">
            <a:extLst>
              <a:ext uri="{FF2B5EF4-FFF2-40B4-BE49-F238E27FC236}">
                <a16:creationId xmlns:a16="http://schemas.microsoft.com/office/drawing/2014/main" id="{C784BD01-73A6-E661-5341-8FD0F9B414A8}"/>
              </a:ext>
            </a:extLst>
          </p:cNvPr>
          <p:cNvSpPr txBox="1"/>
          <p:nvPr/>
        </p:nvSpPr>
        <p:spPr>
          <a:xfrm>
            <a:off x="8018873" y="1181040"/>
            <a:ext cx="3886076" cy="4893647"/>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Times New Roman" panose="02020603050405020304" pitchFamily="18" charset="0"/>
                <a:cs typeface="Times New Roman" panose="02020603050405020304" pitchFamily="18" charset="0"/>
              </a:rPr>
              <a:t>En las figuras se muestra la distribución espacial del campo eléctrico para los distintos modos en la sección transversal de la guía de onda. En el caso del modo fundamental TE0, el campo presenta un único máximo centrado en el núcleo, lo que indica un fuerte confinamiento del modo en esa región.</a:t>
            </a:r>
          </a:p>
          <a:p>
            <a:pPr algn="just"/>
            <a:r>
              <a:rPr lang="es-ES" sz="1200" dirty="0">
                <a:latin typeface="Times New Roman" panose="02020603050405020304" pitchFamily="18" charset="0"/>
                <a:cs typeface="Times New Roman" panose="02020603050405020304" pitchFamily="18" charset="0"/>
              </a:rPr>
              <a:t>Para el modo fundamental TM0 también se observa un único máximo, aunque no está tan confinado en el núcleo como TE0. En los modos de orden superior, como TE1 y TM1, aparece la presencia de más de un máximo del campo eléctrico dentro de la guía.</a:t>
            </a:r>
          </a:p>
          <a:p>
            <a:pPr algn="just"/>
            <a:r>
              <a:rPr lang="es-ES" sz="1200" dirty="0">
                <a:latin typeface="Times New Roman" panose="02020603050405020304" pitchFamily="18" charset="0"/>
                <a:cs typeface="Times New Roman" panose="02020603050405020304" pitchFamily="18" charset="0"/>
              </a:rPr>
              <a:t>Además, se observa que en los modos TE el campo dominante corresponde a la componente Ex​, cuya distribución se extiende principalmente a lo largo del eje x y se concentra en la región del núcleo, decayendo progresivamente hacia el </a:t>
            </a:r>
            <a:r>
              <a:rPr lang="es-ES" sz="1200" dirty="0" err="1">
                <a:latin typeface="Times New Roman" panose="02020603050405020304" pitchFamily="18" charset="0"/>
                <a:cs typeface="Times New Roman" panose="02020603050405020304" pitchFamily="18" charset="0"/>
              </a:rPr>
              <a:t>cladding</a:t>
            </a:r>
            <a:r>
              <a:rPr lang="es-ES" sz="1200" dirty="0">
                <a:latin typeface="Times New Roman" panose="02020603050405020304" pitchFamily="18" charset="0"/>
                <a:cs typeface="Times New Roman" panose="02020603050405020304" pitchFamily="18" charset="0"/>
              </a:rPr>
              <a:t>. Por otro lado, en los modos TM la componente dominante es </a:t>
            </a:r>
            <a:r>
              <a:rPr lang="es-ES" sz="1200" dirty="0" err="1">
                <a:latin typeface="Times New Roman" panose="02020603050405020304" pitchFamily="18" charset="0"/>
                <a:cs typeface="Times New Roman" panose="02020603050405020304" pitchFamily="18" charset="0"/>
              </a:rPr>
              <a:t>Ey</a:t>
            </a:r>
            <a:r>
              <a:rPr lang="es-ES" sz="1200" dirty="0">
                <a:latin typeface="Times New Roman" panose="02020603050405020304" pitchFamily="18" charset="0"/>
                <a:cs typeface="Times New Roman" panose="02020603050405020304" pitchFamily="18" charset="0"/>
              </a:rPr>
              <a:t>​, cuya variación principal se produce a lo largo del eje y.</a:t>
            </a:r>
          </a:p>
          <a:p>
            <a:pPr algn="just"/>
            <a:r>
              <a:rPr lang="es-ES" sz="1200" dirty="0">
                <a:latin typeface="Times New Roman" panose="02020603050405020304" pitchFamily="18" charset="0"/>
                <a:cs typeface="Times New Roman" panose="02020603050405020304" pitchFamily="18" charset="0"/>
              </a:rPr>
              <a:t>En general, se observa que el modo fundamental está más concentrado en el núcleo, mientras que los modos de orden superior presentan una distribución más extendida, lo que implica un confinamiento menor dentro de la guía de onda. De hecho, se puede observar como el modo TM1 no es un modo guiado, si no, que es un modo radiado, donde la onda no está nada confinada en el núcleo.</a:t>
            </a:r>
          </a:p>
          <a:p>
            <a:pPr algn="just"/>
            <a:endParaRPr lang="es-E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173727137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#2 – Wavelength behavior</a:t>
            </a:r>
            <a:br>
              <a:rPr lang="es-ES" sz="2500" spc="-5">
                <a:latin typeface="+mj-lt"/>
                <a:cs typeface="Lucida Sans"/>
              </a:rPr>
            </a:br>
            <a:r>
              <a:rPr lang="en-US" b="0"/>
              <a:t>Wavelength 1.5-1.6 µm (step 0.01 µm) – width 1.2 µm</a:t>
            </a:r>
            <a:endParaRPr sz="2500" b="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9</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_tradnl" sz="1200" dirty="0">
                <a:latin typeface="Times New Roman" panose="02020603050405020304" pitchFamily="18" charset="0"/>
                <a:cs typeface="Times New Roman" panose="02020603050405020304" pitchFamily="18" charset="0"/>
              </a:rPr>
              <a:t>En este apartado de la práctica, hemos representado el índice efectivo de cada uno de los modos en función de la longitud de onda. Se observa como </a:t>
            </a:r>
            <a:r>
              <a:rPr lang="es-ES_tradnl" sz="1200" dirty="0" err="1">
                <a:latin typeface="Times New Roman" panose="02020603050405020304" pitchFamily="18" charset="0"/>
                <a:cs typeface="Times New Roman" panose="02020603050405020304" pitchFamily="18" charset="0"/>
              </a:rPr>
              <a:t>neff</a:t>
            </a:r>
            <a:r>
              <a:rPr lang="es-ES_tradnl" sz="1200" dirty="0">
                <a:latin typeface="Times New Roman" panose="02020603050405020304" pitchFamily="18" charset="0"/>
                <a:cs typeface="Times New Roman" panose="02020603050405020304" pitchFamily="18" charset="0"/>
              </a:rPr>
              <a:t> se va decrementando conforme aumenta la longitud de onda, ya que, si aumenta la longitud de onda, el campo no puede oscilar muchas veces dentro del núcleo y, por tanto, los modos con muchos máximos se escapan del núcleo y se expanden a la cubierta. Por ello, el índice efectivo se reduce, ya que se acerca más al índice de la cubierta que al del núcleo. Se observa también que para la guía </a:t>
            </a:r>
            <a:r>
              <a:rPr lang="es-ES_tradnl" sz="1200" dirty="0" err="1">
                <a:latin typeface="Times New Roman" panose="02020603050405020304" pitchFamily="18" charset="0"/>
                <a:cs typeface="Times New Roman" panose="02020603050405020304" pitchFamily="18" charset="0"/>
              </a:rPr>
              <a:t>Shallow</a:t>
            </a:r>
            <a:r>
              <a:rPr lang="es-ES_tradnl" sz="1200" dirty="0">
                <a:latin typeface="Times New Roman" panose="02020603050405020304" pitchFamily="18" charset="0"/>
                <a:cs typeface="Times New Roman" panose="02020603050405020304" pitchFamily="18" charset="0"/>
              </a:rPr>
              <a:t> se propagan todos los modos, puesto que el índice efectivo es mayor que el índice de refracción del </a:t>
            </a:r>
            <a:r>
              <a:rPr lang="es-ES_tradnl" sz="1200" dirty="0" err="1">
                <a:latin typeface="Times New Roman" panose="02020603050405020304" pitchFamily="18" charset="0"/>
                <a:cs typeface="Times New Roman" panose="02020603050405020304" pitchFamily="18" charset="0"/>
              </a:rPr>
              <a:t>cladding</a:t>
            </a:r>
            <a:r>
              <a:rPr lang="es-ES_tradnl" sz="1200" dirty="0">
                <a:latin typeface="Times New Roman" panose="02020603050405020304" pitchFamily="18" charset="0"/>
                <a:cs typeface="Times New Roman" panose="02020603050405020304" pitchFamily="18" charset="0"/>
              </a:rPr>
              <a:t>. Mientras que en la guía Deep, se propagan dos o tres modos (el tercero habría que mirarlo de forma más exhaustiva, porque está en el límite). Para el mismo rango de longitud de onda, el índice efectivo de la guía </a:t>
            </a:r>
            <a:r>
              <a:rPr lang="es-ES_tradnl" sz="1200" dirty="0" err="1">
                <a:latin typeface="Times New Roman" panose="02020603050405020304" pitchFamily="18" charset="0"/>
                <a:cs typeface="Times New Roman" panose="02020603050405020304" pitchFamily="18" charset="0"/>
              </a:rPr>
              <a:t>Shallow</a:t>
            </a:r>
            <a:r>
              <a:rPr lang="es-ES_tradnl" sz="1200" dirty="0">
                <a:latin typeface="Times New Roman" panose="02020603050405020304" pitchFamily="18" charset="0"/>
                <a:cs typeface="Times New Roman" panose="02020603050405020304" pitchFamily="18" charset="0"/>
              </a:rPr>
              <a:t> es mayor que el de la Deep, y esto se debe principalmente a que en la </a:t>
            </a:r>
            <a:r>
              <a:rPr lang="es-ES_tradnl" sz="1200" dirty="0" err="1">
                <a:latin typeface="Times New Roman" panose="02020603050405020304" pitchFamily="18" charset="0"/>
                <a:cs typeface="Times New Roman" panose="02020603050405020304" pitchFamily="18" charset="0"/>
              </a:rPr>
              <a:t>Shallow</a:t>
            </a:r>
            <a:r>
              <a:rPr lang="es-ES_tradnl" sz="1200" dirty="0">
                <a:latin typeface="Times New Roman" panose="02020603050405020304" pitchFamily="18" charset="0"/>
                <a:cs typeface="Times New Roman" panose="02020603050405020304" pitchFamily="18" charset="0"/>
              </a:rPr>
              <a:t> en la sección transversal se emplea en una mayor región el material del núcleo. </a:t>
            </a: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8BD4C233-B5D9-B6AA-93A8-CF2F130CFF9C}"/>
              </a:ext>
            </a:extLst>
          </p:cNvPr>
          <p:cNvSpPr txBox="1"/>
          <p:nvPr/>
        </p:nvSpPr>
        <p:spPr>
          <a:xfrm>
            <a:off x="642989" y="4402885"/>
            <a:ext cx="2269787" cy="369332"/>
          </a:xfrm>
          <a:prstGeom prst="rect">
            <a:avLst/>
          </a:prstGeom>
          <a:noFill/>
        </p:spPr>
        <p:txBody>
          <a:bodyPr wrap="square">
            <a:spAutoFit/>
          </a:bodyPr>
          <a:lstStyle/>
          <a:p>
            <a:r>
              <a:rPr lang="en-US"/>
              <a:t>slab = 150nm</a:t>
            </a:r>
            <a:endParaRPr lang="es-ES"/>
          </a:p>
        </p:txBody>
      </p:sp>
      <p:pic>
        <p:nvPicPr>
          <p:cNvPr id="10" name="Picture 9">
            <a:extLst>
              <a:ext uri="{FF2B5EF4-FFF2-40B4-BE49-F238E27FC236}">
                <a16:creationId xmlns:a16="http://schemas.microsoft.com/office/drawing/2014/main" id="{F19FAD5A-B1EE-A1AB-E976-EFC7CED8263F}"/>
              </a:ext>
            </a:extLst>
          </p:cNvPr>
          <p:cNvPicPr>
            <a:picLocks noChangeAspect="1"/>
          </p:cNvPicPr>
          <p:nvPr/>
        </p:nvPicPr>
        <p:blipFill>
          <a:blip r:embed="rId5"/>
          <a:stretch>
            <a:fillRect/>
          </a:stretch>
        </p:blipFill>
        <p:spPr>
          <a:xfrm>
            <a:off x="6497313" y="1632162"/>
            <a:ext cx="5285325" cy="2878450"/>
          </a:xfrm>
          <a:prstGeom prst="rect">
            <a:avLst/>
          </a:prstGeom>
        </p:spPr>
      </p:pic>
      <p:pic>
        <p:nvPicPr>
          <p:cNvPr id="12" name="Picture 11">
            <a:extLst>
              <a:ext uri="{FF2B5EF4-FFF2-40B4-BE49-F238E27FC236}">
                <a16:creationId xmlns:a16="http://schemas.microsoft.com/office/drawing/2014/main" id="{5A618624-A94B-7553-87B6-41E1D5F7F162}"/>
              </a:ext>
            </a:extLst>
          </p:cNvPr>
          <p:cNvPicPr>
            <a:picLocks noChangeAspect="1"/>
          </p:cNvPicPr>
          <p:nvPr/>
        </p:nvPicPr>
        <p:blipFill>
          <a:blip r:embed="rId6"/>
          <a:stretch>
            <a:fillRect/>
          </a:stretch>
        </p:blipFill>
        <p:spPr>
          <a:xfrm>
            <a:off x="699766" y="1631891"/>
            <a:ext cx="5151919" cy="2832049"/>
          </a:xfrm>
          <a:prstGeom prst="rect">
            <a:avLst/>
          </a:prstGeom>
        </p:spPr>
      </p:pic>
    </p:spTree>
    <p:extLst>
      <p:ext uri="{BB962C8B-B14F-4D97-AF65-F5344CB8AC3E}">
        <p14:creationId xmlns:p14="http://schemas.microsoft.com/office/powerpoint/2010/main" val="371235600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05321"/>
          </a:xfrm>
          <a:prstGeom prst="rect">
            <a:avLst/>
          </a:prstGeom>
        </p:spPr>
        <p:txBody>
          <a:bodyPr vert="horz" wrap="square" lIns="0" tIns="12700" rIns="0" bIns="0" rtlCol="0">
            <a:spAutoFit/>
          </a:bodyPr>
          <a:lstStyle/>
          <a:p>
            <a:pPr marL="12700">
              <a:lnSpc>
                <a:spcPct val="100000"/>
              </a:lnSpc>
              <a:spcBef>
                <a:spcPts val="100"/>
              </a:spcBef>
            </a:pPr>
            <a:r>
              <a:rPr lang="en-US" sz="2500"/>
              <a:t>Learning outcome #3 – Width dependence</a:t>
            </a:r>
            <a:br>
              <a:rPr lang="es-ES" sz="2500" spc="-5">
                <a:latin typeface="+mj-lt"/>
                <a:cs typeface="Lucida Sans"/>
              </a:rPr>
            </a:br>
            <a:r>
              <a:rPr lang="en-US" b="0"/>
              <a:t>Width 0.6 - 1.6 µm (step 0.1 µm) – Wavelength 1.55 µm </a:t>
            </a:r>
            <a:endParaRPr sz="2500" b="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10</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646331"/>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t>E</a:t>
            </a:r>
            <a:r>
              <a:rPr lang="es-ES" sz="1200" dirty="0">
                <a:latin typeface="Times New Roman" panose="02020603050405020304" pitchFamily="18" charset="0"/>
                <a:cs typeface="Times New Roman" panose="02020603050405020304" pitchFamily="18" charset="0"/>
              </a:rPr>
              <a:t>n esta simulación se analiza cómo cambia el índice efectivo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al variar el ancho de la guía de onda para una longitud de onda fija de 1.55 </a:t>
            </a:r>
            <a:r>
              <a:rPr lang="el-GR" sz="1200" dirty="0">
                <a:latin typeface="Times New Roman" panose="02020603050405020304" pitchFamily="18" charset="0"/>
                <a:cs typeface="Times New Roman" panose="02020603050405020304" pitchFamily="18" charset="0"/>
              </a:rPr>
              <a:t>μ</a:t>
            </a:r>
            <a:r>
              <a:rPr lang="es-ES" sz="1200" dirty="0">
                <a:latin typeface="Times New Roman" panose="02020603050405020304" pitchFamily="18" charset="0"/>
                <a:cs typeface="Times New Roman" panose="02020603050405020304" pitchFamily="18" charset="0"/>
              </a:rPr>
              <a:t>m. Se observa que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aumenta al aumentar el ancho de la guía, ya que el campo queda más confinado dentro del núcleo y el modo interactúa más con el material de mayor índice.</a:t>
            </a:r>
          </a:p>
          <a:p>
            <a:pPr algn="just"/>
            <a:r>
              <a:rPr lang="es-ES" sz="1200" dirty="0">
                <a:latin typeface="Times New Roman" panose="02020603050405020304" pitchFamily="18" charset="0"/>
                <a:cs typeface="Times New Roman" panose="02020603050405020304" pitchFamily="18" charset="0"/>
              </a:rPr>
              <a:t>Además, al aumentar el ancho la guía puede soportar más oscilaciones del campo dentro del núcleo, por lo que pueden aparecer más modos guiados. </a:t>
            </a:r>
            <a:endParaRPr lang="en-US" sz="1200" dirty="0">
              <a:latin typeface="Arial" panose="020B0604020202020204" pitchFamily="34" charset="0"/>
              <a:cs typeface="Arial" panose="020B0604020202020204" pitchFamily="34"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40939E0-2466-E51D-EB1D-7304ACA8DF07}"/>
              </a:ext>
            </a:extLst>
          </p:cNvPr>
          <p:cNvPicPr>
            <a:picLocks noChangeAspect="1"/>
          </p:cNvPicPr>
          <p:nvPr/>
        </p:nvPicPr>
        <p:blipFill>
          <a:blip r:embed="rId5"/>
          <a:stretch>
            <a:fillRect/>
          </a:stretch>
        </p:blipFill>
        <p:spPr>
          <a:xfrm>
            <a:off x="3130592" y="1456391"/>
            <a:ext cx="5930815" cy="3229992"/>
          </a:xfrm>
          <a:prstGeom prst="rect">
            <a:avLst/>
          </a:prstGeom>
        </p:spPr>
      </p:pic>
    </p:spTree>
    <p:extLst>
      <p:ext uri="{BB962C8B-B14F-4D97-AF65-F5344CB8AC3E}">
        <p14:creationId xmlns:p14="http://schemas.microsoft.com/office/powerpoint/2010/main" val="29001174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1DA0F9-B230-D9FC-3CE7-03BD08CF54F7}"/>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394400B4-EE16-8E85-AB54-E82FE3B29345}"/>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#4 – Waveguide compact model</a:t>
            </a:r>
            <a:br>
              <a:rPr lang="en-US" sz="2500" spc="-5" dirty="0">
                <a:latin typeface="+mj-lt"/>
                <a:cs typeface="Lucida Sans"/>
              </a:rPr>
            </a:br>
            <a:r>
              <a:rPr lang="en-US" b="0" dirty="0"/>
              <a:t>- Find the compact models of the following waveguides: </a:t>
            </a:r>
            <a:br>
              <a:rPr lang="en-US" b="0" dirty="0"/>
            </a:br>
            <a:r>
              <a:rPr lang="en-US" dirty="0"/>
              <a:t>Deep</a:t>
            </a:r>
            <a:r>
              <a:rPr lang="en-US" b="0" dirty="0"/>
              <a:t> waveguide, h=300nm, w=1.2um</a:t>
            </a: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4D53B68D-17ED-7EFB-F2B4-10DA7A772E1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09AB8697-C1EE-6E9A-6550-ACA2C3AE6630}"/>
              </a:ext>
            </a:extLst>
          </p:cNvPr>
          <p:cNvSpPr>
            <a:spLocks noGrp="1"/>
          </p:cNvSpPr>
          <p:nvPr>
            <p:ph type="sldNum" sz="quarter" idx="7"/>
          </p:nvPr>
        </p:nvSpPr>
        <p:spPr/>
        <p:txBody>
          <a:bodyPr/>
          <a:lstStyle/>
          <a:p>
            <a:fld id="{B6F15528-21DE-4FAA-801E-634DDDAF4B2B}" type="slidenum">
              <a:rPr lang="es-ES" smtClean="0"/>
              <a:t>11</a:t>
            </a:fld>
            <a:endParaRPr lang="es-ES"/>
          </a:p>
        </p:txBody>
      </p:sp>
      <p:sp>
        <p:nvSpPr>
          <p:cNvPr id="3" name="Marcador de pie de página 2">
            <a:extLst>
              <a:ext uri="{FF2B5EF4-FFF2-40B4-BE49-F238E27FC236}">
                <a16:creationId xmlns:a16="http://schemas.microsoft.com/office/drawing/2014/main" id="{970D4A6C-5B37-EDF5-6242-74B16127E96B}"/>
              </a:ext>
            </a:extLst>
          </p:cNvPr>
          <p:cNvSpPr>
            <a:spLocks noGrp="1"/>
          </p:cNvSpPr>
          <p:nvPr>
            <p:ph type="ftr" sz="quarter" idx="5"/>
          </p:nvPr>
        </p:nvSpPr>
        <p:spPr/>
        <p:txBody>
          <a:bodyPr/>
          <a:lstStyle/>
          <a:p>
            <a:pPr marL="12700">
              <a:spcBef>
                <a:spcPts val="15"/>
              </a:spcBef>
            </a:pPr>
            <a:r>
              <a:rPr lang="es-ES" spc="-5"/>
              <a:t>LAB 1.0 WAVEGUIDES</a:t>
            </a:r>
          </a:p>
        </p:txBody>
      </p:sp>
      <p:sp>
        <p:nvSpPr>
          <p:cNvPr id="5" name="Rectángulo 4">
            <a:extLst>
              <a:ext uri="{FF2B5EF4-FFF2-40B4-BE49-F238E27FC236}">
                <a16:creationId xmlns:a16="http://schemas.microsoft.com/office/drawing/2014/main" id="{A6B92C76-6772-2E00-346F-532321092C04}"/>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 name="Imagen 8" descr="Gráfico, Gráfico de líneas&#10;&#10;Descripción generada automáticamente">
            <a:extLst>
              <a:ext uri="{FF2B5EF4-FFF2-40B4-BE49-F238E27FC236}">
                <a16:creationId xmlns:a16="http://schemas.microsoft.com/office/drawing/2014/main" id="{4488AA37-B5A8-2D6A-35D9-6A5A31FDA9F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202399" y="1610790"/>
            <a:ext cx="3837527" cy="3031380"/>
          </a:xfrm>
          <a:prstGeom prst="rect">
            <a:avLst/>
          </a:prstGeom>
        </p:spPr>
      </p:pic>
      <p:sp>
        <p:nvSpPr>
          <p:cNvPr id="10" name="CuadroTexto 9">
            <a:extLst>
              <a:ext uri="{FF2B5EF4-FFF2-40B4-BE49-F238E27FC236}">
                <a16:creationId xmlns:a16="http://schemas.microsoft.com/office/drawing/2014/main" id="{B4DFF472-86EA-AD83-892B-AB3C50ED727F}"/>
              </a:ext>
            </a:extLst>
          </p:cNvPr>
          <p:cNvSpPr txBox="1"/>
          <p:nvPr/>
        </p:nvSpPr>
        <p:spPr>
          <a:xfrm>
            <a:off x="6290330" y="1447800"/>
            <a:ext cx="5486559" cy="3600986"/>
          </a:xfrm>
          <a:prstGeom prst="rect">
            <a:avLst/>
          </a:prstGeom>
          <a:solidFill>
            <a:schemeClr val="bg1">
              <a:lumMod val="95000"/>
            </a:schemeClr>
          </a:solidFill>
          <a:ln w="28575">
            <a:solidFill>
              <a:srgbClr val="E0700D"/>
            </a:solidFill>
          </a:ln>
        </p:spPr>
        <p:txBody>
          <a:bodyPr wrap="square" rtlCol="0">
            <a:spAutoFit/>
          </a:bodyPr>
          <a:lstStyle/>
          <a:p>
            <a:pPr algn="just"/>
            <a:r>
              <a:rPr lang="en-US" sz="1200" dirty="0" err="1">
                <a:latin typeface="Times New Roman" panose="02020603050405020304" pitchFamily="18" charset="0"/>
                <a:cs typeface="Times New Roman" panose="02020603050405020304" pitchFamily="18" charset="0"/>
              </a:rPr>
              <a:t>En</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este</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apartado</a:t>
            </a:r>
            <a:r>
              <a:rPr lang="en-US" sz="1200" dirty="0">
                <a:latin typeface="Times New Roman" panose="02020603050405020304" pitchFamily="18" charset="0"/>
                <a:cs typeface="Times New Roman" panose="02020603050405020304" pitchFamily="18" charset="0"/>
              </a:rPr>
              <a:t>, a </a:t>
            </a:r>
            <a:r>
              <a:rPr lang="en-US" sz="1200" dirty="0" err="1">
                <a:latin typeface="Times New Roman" panose="02020603050405020304" pitchFamily="18" charset="0"/>
                <a:cs typeface="Times New Roman" panose="02020603050405020304" pitchFamily="18" charset="0"/>
              </a:rPr>
              <a:t>partir</a:t>
            </a:r>
            <a:r>
              <a:rPr lang="en-US" sz="1200" dirty="0">
                <a:latin typeface="Times New Roman" panose="02020603050405020304" pitchFamily="18" charset="0"/>
                <a:cs typeface="Times New Roman" panose="02020603050405020304" pitchFamily="18" charset="0"/>
              </a:rPr>
              <a:t> de </a:t>
            </a:r>
            <a:r>
              <a:rPr lang="en-US" sz="1200" dirty="0" err="1">
                <a:latin typeface="Times New Roman" panose="02020603050405020304" pitchFamily="18" charset="0"/>
                <a:cs typeface="Times New Roman" panose="02020603050405020304" pitchFamily="18" charset="0"/>
              </a:rPr>
              <a:t>neff</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obtuvimos</a:t>
            </a:r>
            <a:r>
              <a:rPr lang="en-US" sz="1200" dirty="0">
                <a:latin typeface="Times New Roman" panose="02020603050405020304" pitchFamily="18" charset="0"/>
                <a:cs typeface="Times New Roman" panose="02020603050405020304" pitchFamily="18" charset="0"/>
              </a:rPr>
              <a:t> </a:t>
            </a:r>
            <a:r>
              <a:rPr lang="es-ES" sz="1200" dirty="0">
                <a:latin typeface="Times New Roman" panose="02020603050405020304" pitchFamily="18" charset="0"/>
                <a:cs typeface="Times New Roman" panose="02020603050405020304" pitchFamily="18" charset="0"/>
              </a:rPr>
              <a:t>el índice de grupo ng y la dispersión D. Para ello se ha aproximado la dependencia del índice efectivo mediante un polinomio de segundo orden:</a:t>
            </a:r>
          </a:p>
          <a:p>
            <a:pPr algn="just"/>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a:t>
            </a:r>
            <a:r>
              <a:rPr lang="el-GR" sz="1200" dirty="0">
                <a:latin typeface="Times New Roman" panose="02020603050405020304" pitchFamily="18" charset="0"/>
                <a:cs typeface="Times New Roman" panose="02020603050405020304" pitchFamily="18" charset="0"/>
              </a:rPr>
              <a:t>λ)=</a:t>
            </a:r>
            <a:r>
              <a:rPr lang="es-ES" sz="1200" dirty="0">
                <a:latin typeface="Times New Roman" panose="02020603050405020304" pitchFamily="18" charset="0"/>
                <a:cs typeface="Times New Roman" panose="02020603050405020304" pitchFamily="18" charset="0"/>
              </a:rPr>
              <a:t>n1+n2(</a:t>
            </a:r>
            <a:r>
              <a:rPr lang="el-GR" sz="1200" dirty="0">
                <a:latin typeface="Times New Roman" panose="02020603050405020304" pitchFamily="18" charset="0"/>
                <a:cs typeface="Times New Roman" panose="02020603050405020304" pitchFamily="18" charset="0"/>
              </a:rPr>
              <a:t>λ−λ0)+</a:t>
            </a:r>
            <a:r>
              <a:rPr lang="es-ES" sz="1200" dirty="0">
                <a:latin typeface="Times New Roman" panose="02020603050405020304" pitchFamily="18" charset="0"/>
                <a:cs typeface="Times New Roman" panose="02020603050405020304" pitchFamily="18" charset="0"/>
              </a:rPr>
              <a:t>n3(</a:t>
            </a:r>
            <a:r>
              <a:rPr lang="el-GR" sz="1200" dirty="0">
                <a:latin typeface="Times New Roman" panose="02020603050405020304" pitchFamily="18" charset="0"/>
                <a:cs typeface="Times New Roman" panose="02020603050405020304" pitchFamily="18" charset="0"/>
              </a:rPr>
              <a:t>λ−λ0)^</a:t>
            </a:r>
            <a:r>
              <a:rPr lang="es-ES" sz="1200" dirty="0">
                <a:latin typeface="Times New Roman" panose="02020603050405020304" pitchFamily="18" charset="0"/>
                <a:cs typeface="Times New Roman" panose="02020603050405020304" pitchFamily="18" charset="0"/>
              </a:rPr>
              <a:t>2.</a:t>
            </a:r>
          </a:p>
          <a:p>
            <a:pPr algn="just"/>
            <a:r>
              <a:rPr lang="es-ES" sz="1200" dirty="0">
                <a:latin typeface="Times New Roman" panose="02020603050405020304" pitchFamily="18" charset="0"/>
                <a:cs typeface="Times New Roman" panose="02020603050405020304" pitchFamily="18" charset="0"/>
              </a:rPr>
              <a:t>Los coeficientes de este polinomio se han obtenido utilizando el método de las derivadas. A partir de estos coeficientes se han calculado posteriormente el índice de grupo ng y la dispersión D de la guía de onda.</a:t>
            </a:r>
          </a:p>
          <a:p>
            <a:pPr algn="just"/>
            <a:endParaRPr lang="es-ES" sz="1200" dirty="0">
              <a:latin typeface="Times New Roman" panose="02020603050405020304" pitchFamily="18" charset="0"/>
              <a:cs typeface="Times New Roman" panose="02020603050405020304" pitchFamily="18" charset="0"/>
            </a:endParaRPr>
          </a:p>
          <a:p>
            <a:pPr algn="just"/>
            <a:r>
              <a:rPr lang="es-ES" sz="1200" dirty="0">
                <a:latin typeface="Times New Roman" panose="02020603050405020304" pitchFamily="18" charset="0"/>
                <a:cs typeface="Times New Roman" panose="02020603050405020304" pitchFamily="18" charset="0"/>
              </a:rPr>
              <a:t>En la primera gráfica se representa la variación de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con la longitud de onda para los modos TE0 y TM0 de la guía </a:t>
            </a:r>
            <a:r>
              <a:rPr lang="es-ES" sz="1200" dirty="0" err="1">
                <a:latin typeface="Times New Roman" panose="02020603050405020304" pitchFamily="18" charset="0"/>
                <a:cs typeface="Times New Roman" panose="02020603050405020304" pitchFamily="18" charset="0"/>
              </a:rPr>
              <a:t>deep</a:t>
            </a:r>
            <a:r>
              <a:rPr lang="es-ES" sz="1200" dirty="0">
                <a:latin typeface="Times New Roman" panose="02020603050405020304" pitchFamily="18" charset="0"/>
                <a:cs typeface="Times New Roman" panose="02020603050405020304" pitchFamily="18" charset="0"/>
              </a:rPr>
              <a:t>. Se observa que el modo TE presenta valores de índice efectivo mayores que el modo TM, lo que indica un confinamiento mayor del modo TE en esta estructura.</a:t>
            </a:r>
          </a:p>
          <a:p>
            <a:pPr algn="just"/>
            <a:endParaRPr lang="es-E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Los </a:t>
            </a:r>
            <a:r>
              <a:rPr lang="en-US" sz="1200" dirty="0" err="1">
                <a:latin typeface="Times New Roman" panose="02020603050405020304" pitchFamily="18" charset="0"/>
                <a:cs typeface="Times New Roman" panose="02020603050405020304" pitchFamily="18" charset="0"/>
              </a:rPr>
              <a:t>resultados</a:t>
            </a:r>
            <a:r>
              <a:rPr lang="en-US" sz="1200" dirty="0">
                <a:latin typeface="Times New Roman" panose="02020603050405020304" pitchFamily="18" charset="0"/>
                <a:cs typeface="Times New Roman" panose="02020603050405020304" pitchFamily="18" charset="0"/>
              </a:rPr>
              <a:t> de </a:t>
            </a:r>
            <a:r>
              <a:rPr lang="en-US" sz="1200" dirty="0" err="1">
                <a:latin typeface="Times New Roman" panose="02020603050405020304" pitchFamily="18" charset="0"/>
                <a:cs typeface="Times New Roman" panose="02020603050405020304" pitchFamily="18" charset="0"/>
              </a:rPr>
              <a:t>índice</a:t>
            </a:r>
            <a:r>
              <a:rPr lang="en-US" sz="1200" dirty="0">
                <a:latin typeface="Times New Roman" panose="02020603050405020304" pitchFamily="18" charset="0"/>
                <a:cs typeface="Times New Roman" panose="02020603050405020304" pitchFamily="18" charset="0"/>
              </a:rPr>
              <a:t> de </a:t>
            </a:r>
            <a:r>
              <a:rPr lang="en-US" sz="1200" dirty="0" err="1">
                <a:latin typeface="Times New Roman" panose="02020603050405020304" pitchFamily="18" charset="0"/>
                <a:cs typeface="Times New Roman" panose="02020603050405020304" pitchFamily="18" charset="0"/>
              </a:rPr>
              <a:t>grupo</a:t>
            </a:r>
            <a:r>
              <a:rPr lang="en-US" sz="1200" dirty="0">
                <a:latin typeface="Times New Roman" panose="02020603050405020304" pitchFamily="18" charset="0"/>
                <a:cs typeface="Times New Roman" panose="02020603050405020304" pitchFamily="18" charset="0"/>
              </a:rPr>
              <a:t> y de dispersion </a:t>
            </a:r>
            <a:r>
              <a:rPr lang="en-US" sz="1200" dirty="0" err="1">
                <a:latin typeface="Times New Roman" panose="02020603050405020304" pitchFamily="18" charset="0"/>
                <a:cs typeface="Times New Roman" panose="02020603050405020304" pitchFamily="18" charset="0"/>
              </a:rPr>
              <a:t>en</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una</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guía</a:t>
            </a:r>
            <a:r>
              <a:rPr lang="en-US" sz="1200" dirty="0">
                <a:latin typeface="Times New Roman" panose="02020603050405020304" pitchFamily="18" charset="0"/>
                <a:cs typeface="Times New Roman" panose="02020603050405020304" pitchFamily="18" charset="0"/>
              </a:rPr>
              <a:t> Deep para </a:t>
            </a:r>
            <a:r>
              <a:rPr lang="en-US" sz="1200" dirty="0" err="1">
                <a:latin typeface="Times New Roman" panose="02020603050405020304" pitchFamily="18" charset="0"/>
                <a:cs typeface="Times New Roman" panose="02020603050405020304" pitchFamily="18" charset="0"/>
              </a:rPr>
              <a:t>cada</a:t>
            </a:r>
            <a:r>
              <a:rPr lang="en-US" sz="1200" dirty="0">
                <a:latin typeface="Times New Roman" panose="02020603050405020304" pitchFamily="18" charset="0"/>
                <a:cs typeface="Times New Roman" panose="02020603050405020304" pitchFamily="18" charset="0"/>
              </a:rPr>
              <a:t> uno de </a:t>
            </a:r>
            <a:r>
              <a:rPr lang="en-US" sz="1200" dirty="0" err="1">
                <a:latin typeface="Times New Roman" panose="02020603050405020304" pitchFamily="18" charset="0"/>
                <a:cs typeface="Times New Roman" panose="02020603050405020304" pitchFamily="18" charset="0"/>
              </a:rPr>
              <a:t>los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modos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han</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sido</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los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siguientes</a:t>
            </a:r>
            <a:r>
              <a:rPr lang="en-US" sz="1200" dirty="0">
                <a:latin typeface="Times New Roman" panose="02020603050405020304" pitchFamily="18" charset="0"/>
                <a:cs typeface="Times New Roman" panose="02020603050405020304" pitchFamily="18" charset="0"/>
              </a:rPr>
              <a:t>:</a:t>
            </a:r>
          </a:p>
          <a:p>
            <a:pPr algn="just"/>
            <a:endParaRPr lang="en-U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TE0: D= </a:t>
            </a:r>
            <a:r>
              <a:rPr lang="es-ES" sz="1200" dirty="0">
                <a:latin typeface="Times New Roman" panose="02020603050405020304" pitchFamily="18" charset="0"/>
                <a:cs typeface="Times New Roman" panose="02020603050405020304" pitchFamily="18" charset="0"/>
              </a:rPr>
              <a:t>-1.0067e+03 (</a:t>
            </a:r>
            <a:r>
              <a:rPr lang="es-ES" sz="1200" dirty="0" err="1">
                <a:latin typeface="Times New Roman" panose="02020603050405020304" pitchFamily="18" charset="0"/>
                <a:cs typeface="Times New Roman" panose="02020603050405020304" pitchFamily="18" charset="0"/>
              </a:rPr>
              <a:t>ps</a:t>
            </a:r>
            <a:r>
              <a:rPr lang="es-ES" sz="1200" dirty="0">
                <a:latin typeface="Times New Roman" panose="02020603050405020304" pitchFamily="18" charset="0"/>
                <a:cs typeface="Times New Roman" panose="02020603050405020304" pitchFamily="18" charset="0"/>
              </a:rPr>
              <a:t>/km*nm); </a:t>
            </a:r>
            <a:r>
              <a:rPr lang="en-US" sz="1200" dirty="0">
                <a:latin typeface="Times New Roman" panose="02020603050405020304" pitchFamily="18" charset="0"/>
                <a:cs typeface="Times New Roman" panose="02020603050405020304" pitchFamily="18" charset="0"/>
              </a:rPr>
              <a:t>ng=1.94</a:t>
            </a:r>
          </a:p>
          <a:p>
            <a:pPr algn="just"/>
            <a:r>
              <a:rPr lang="en-US" sz="1200" dirty="0">
                <a:latin typeface="Times New Roman" panose="02020603050405020304" pitchFamily="18" charset="0"/>
                <a:cs typeface="Times New Roman" panose="02020603050405020304" pitchFamily="18" charset="0"/>
              </a:rPr>
              <a:t>TM0: D= </a:t>
            </a:r>
            <a:r>
              <a:rPr lang="es-ES" sz="1200" dirty="0">
                <a:latin typeface="Times New Roman" panose="02020603050405020304" pitchFamily="18" charset="0"/>
                <a:cs typeface="Times New Roman" panose="02020603050405020304" pitchFamily="18" charset="0"/>
              </a:rPr>
              <a:t>-1.5907e+03</a:t>
            </a:r>
            <a:r>
              <a:rPr lang="en-US" sz="1200" dirty="0">
                <a:latin typeface="Times New Roman" panose="02020603050405020304" pitchFamily="18" charset="0"/>
                <a:cs typeface="Times New Roman" panose="02020603050405020304" pitchFamily="18" charset="0"/>
              </a:rPr>
              <a:t> </a:t>
            </a:r>
            <a:r>
              <a:rPr lang="es-ES" sz="1200" dirty="0">
                <a:latin typeface="Times New Roman" panose="02020603050405020304" pitchFamily="18" charset="0"/>
                <a:cs typeface="Times New Roman" panose="02020603050405020304" pitchFamily="18" charset="0"/>
              </a:rPr>
              <a:t>(</a:t>
            </a:r>
            <a:r>
              <a:rPr lang="es-ES" sz="1200" dirty="0" err="1">
                <a:latin typeface="Times New Roman" panose="02020603050405020304" pitchFamily="18" charset="0"/>
                <a:cs typeface="Times New Roman" panose="02020603050405020304" pitchFamily="18" charset="0"/>
              </a:rPr>
              <a:t>ps</a:t>
            </a:r>
            <a:r>
              <a:rPr lang="es-ES" sz="1200" dirty="0">
                <a:latin typeface="Times New Roman" panose="02020603050405020304" pitchFamily="18" charset="0"/>
                <a:cs typeface="Times New Roman" panose="02020603050405020304" pitchFamily="18" charset="0"/>
              </a:rPr>
              <a:t>/km*nm); </a:t>
            </a:r>
            <a:r>
              <a:rPr lang="en-US" sz="1200" dirty="0">
                <a:latin typeface="Times New Roman" panose="02020603050405020304" pitchFamily="18" charset="0"/>
                <a:cs typeface="Times New Roman" panose="02020603050405020304" pitchFamily="18" charset="0"/>
              </a:rPr>
              <a:t>ng=</a:t>
            </a:r>
            <a:r>
              <a:rPr lang="es-ES" sz="1200" dirty="0">
                <a:latin typeface="Times New Roman" panose="02020603050405020304" pitchFamily="18" charset="0"/>
                <a:cs typeface="Times New Roman" panose="02020603050405020304" pitchFamily="18" charset="0"/>
              </a:rPr>
              <a:t>1.7721</a:t>
            </a:r>
            <a:endParaRPr lang="en-US" sz="1200" dirty="0">
              <a:latin typeface="Times New Roman" panose="02020603050405020304" pitchFamily="18" charset="0"/>
              <a:cs typeface="Times New Roman" panose="02020603050405020304" pitchFamily="18" charset="0"/>
            </a:endParaRPr>
          </a:p>
          <a:p>
            <a:pPr algn="just"/>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3605440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C00FB-0121-F9A0-91F5-56F1487D048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637BC53-30CB-F19E-9C84-F53431710246}"/>
              </a:ext>
            </a:extLst>
          </p:cNvPr>
          <p:cNvSpPr txBox="1">
            <a:spLocks noGrp="1"/>
          </p:cNvSpPr>
          <p:nvPr>
            <p:ph type="title"/>
          </p:nvPr>
        </p:nvSpPr>
        <p:spPr>
          <a:xfrm>
            <a:off x="685800" y="408883"/>
            <a:ext cx="10994410" cy="1397819"/>
          </a:xfrm>
          <a:prstGeom prst="rect">
            <a:avLst/>
          </a:prstGeom>
        </p:spPr>
        <p:txBody>
          <a:bodyPr vert="horz" wrap="square" lIns="0" tIns="12700" rIns="0" bIns="0" rtlCol="0">
            <a:spAutoFit/>
          </a:bodyPr>
          <a:lstStyle/>
          <a:p>
            <a:pPr marL="12700">
              <a:lnSpc>
                <a:spcPct val="100000"/>
              </a:lnSpc>
              <a:spcBef>
                <a:spcPts val="100"/>
              </a:spcBef>
            </a:pPr>
            <a:r>
              <a:rPr lang="en-US" sz="2500"/>
              <a:t>Learning outcome #4 – Waveguide compact model</a:t>
            </a:r>
            <a:br>
              <a:rPr lang="en-US" sz="2500" spc="-5">
                <a:latin typeface="+mj-lt"/>
                <a:cs typeface="Lucida Sans"/>
              </a:rPr>
            </a:br>
            <a:r>
              <a:rPr lang="en-US" b="0"/>
              <a:t>- Find the compact models of the following waveguides: </a:t>
            </a:r>
            <a:br>
              <a:rPr lang="en-US" b="0"/>
            </a:br>
            <a:r>
              <a:rPr lang="en-US"/>
              <a:t>Shallow</a:t>
            </a:r>
            <a:r>
              <a:rPr lang="en-US" b="0"/>
              <a:t> waveguide, core h=300nm, slab h=150 nm, w = 1.2um </a:t>
            </a:r>
            <a:br>
              <a:rPr lang="en-US" b="0"/>
            </a:br>
            <a:endParaRPr lang="en-US" sz="2500" b="0">
              <a:latin typeface="+mj-lt"/>
              <a:cs typeface="Lucida Sans"/>
            </a:endParaRPr>
          </a:p>
        </p:txBody>
      </p:sp>
      <p:pic>
        <p:nvPicPr>
          <p:cNvPr id="83" name="Gráfico 82">
            <a:extLst>
              <a:ext uri="{FF2B5EF4-FFF2-40B4-BE49-F238E27FC236}">
                <a16:creationId xmlns:a16="http://schemas.microsoft.com/office/drawing/2014/main" id="{02138351-2446-8385-B627-B952631D91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8AEC9F7-720D-087C-CAFA-761CEF1EFE96}"/>
              </a:ext>
            </a:extLst>
          </p:cNvPr>
          <p:cNvSpPr>
            <a:spLocks noGrp="1"/>
          </p:cNvSpPr>
          <p:nvPr>
            <p:ph type="sldNum" sz="quarter" idx="7"/>
          </p:nvPr>
        </p:nvSpPr>
        <p:spPr/>
        <p:txBody>
          <a:bodyPr/>
          <a:lstStyle/>
          <a:p>
            <a:fld id="{B6F15528-21DE-4FAA-801E-634DDDAF4B2B}" type="slidenum">
              <a:rPr lang="es-ES" smtClean="0"/>
              <a:t>12</a:t>
            </a:fld>
            <a:endParaRPr lang="es-ES"/>
          </a:p>
        </p:txBody>
      </p:sp>
      <p:sp>
        <p:nvSpPr>
          <p:cNvPr id="3" name="Marcador de pie de página 2">
            <a:extLst>
              <a:ext uri="{FF2B5EF4-FFF2-40B4-BE49-F238E27FC236}">
                <a16:creationId xmlns:a16="http://schemas.microsoft.com/office/drawing/2014/main" id="{6B51FB65-13D3-FB21-CC66-092F054DA382}"/>
              </a:ext>
            </a:extLst>
          </p:cNvPr>
          <p:cNvSpPr>
            <a:spLocks noGrp="1"/>
          </p:cNvSpPr>
          <p:nvPr>
            <p:ph type="ftr" sz="quarter" idx="5"/>
          </p:nvPr>
        </p:nvSpPr>
        <p:spPr/>
        <p:txBody>
          <a:bodyPr/>
          <a:lstStyle/>
          <a:p>
            <a:pPr marL="12700">
              <a:spcBef>
                <a:spcPts val="15"/>
              </a:spcBef>
            </a:pPr>
            <a:r>
              <a:rPr lang="es-ES" spc="-5"/>
              <a:t>LAB 1.0 WAVEGUIDES</a:t>
            </a:r>
          </a:p>
        </p:txBody>
      </p:sp>
      <p:sp>
        <p:nvSpPr>
          <p:cNvPr id="5" name="Rectángulo 4">
            <a:extLst>
              <a:ext uri="{FF2B5EF4-FFF2-40B4-BE49-F238E27FC236}">
                <a16:creationId xmlns:a16="http://schemas.microsoft.com/office/drawing/2014/main" id="{6BB3B320-865A-DECC-3DBE-EE042F5FF588}"/>
              </a:ext>
            </a:extLst>
          </p:cNvPr>
          <p:cNvSpPr/>
          <p:nvPr/>
        </p:nvSpPr>
        <p:spPr>
          <a:xfrm>
            <a:off x="609441" y="1447800"/>
            <a:ext cx="5486559"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2" name="Imagen 11" descr="Gráfico, Gráfico de líneas&#10;&#10;Descripción generada automáticamente">
            <a:extLst>
              <a:ext uri="{FF2B5EF4-FFF2-40B4-BE49-F238E27FC236}">
                <a16:creationId xmlns:a16="http://schemas.microsoft.com/office/drawing/2014/main" id="{15FC45A1-7B30-A300-892E-5242C9B96E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066800" y="1475611"/>
            <a:ext cx="4114800" cy="3250406"/>
          </a:xfrm>
          <a:prstGeom prst="rect">
            <a:avLst/>
          </a:prstGeom>
        </p:spPr>
      </p:pic>
      <p:sp>
        <p:nvSpPr>
          <p:cNvPr id="13" name="CuadroTexto 12">
            <a:extLst>
              <a:ext uri="{FF2B5EF4-FFF2-40B4-BE49-F238E27FC236}">
                <a16:creationId xmlns:a16="http://schemas.microsoft.com/office/drawing/2014/main" id="{49854E16-3736-B23B-89E3-537E223D01C3}"/>
              </a:ext>
            </a:extLst>
          </p:cNvPr>
          <p:cNvSpPr txBox="1"/>
          <p:nvPr/>
        </p:nvSpPr>
        <p:spPr>
          <a:xfrm>
            <a:off x="6290330" y="1447800"/>
            <a:ext cx="5486559" cy="1569660"/>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Times New Roman" panose="02020603050405020304" pitchFamily="18" charset="0"/>
                <a:cs typeface="Times New Roman" panose="02020603050405020304" pitchFamily="18" charset="0"/>
              </a:rPr>
              <a:t>En esta diapositiva se muestra la misma representación que antes, pero ahora para una guía </a:t>
            </a:r>
            <a:r>
              <a:rPr lang="es-ES" sz="1200" dirty="0" err="1">
                <a:latin typeface="Times New Roman" panose="02020603050405020304" pitchFamily="18" charset="0"/>
                <a:cs typeface="Times New Roman" panose="02020603050405020304" pitchFamily="18" charset="0"/>
              </a:rPr>
              <a:t>Shallow</a:t>
            </a:r>
            <a:r>
              <a:rPr lang="es-ES" sz="1200" dirty="0">
                <a:latin typeface="Times New Roman" panose="02020603050405020304" pitchFamily="18" charset="0"/>
                <a:cs typeface="Times New Roman" panose="02020603050405020304" pitchFamily="18" charset="0"/>
              </a:rPr>
              <a:t>. </a:t>
            </a:r>
          </a:p>
          <a:p>
            <a:pPr algn="just"/>
            <a:endParaRPr lang="es-E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Los </a:t>
            </a:r>
            <a:r>
              <a:rPr lang="en-US" sz="1200" dirty="0" err="1">
                <a:latin typeface="Times New Roman" panose="02020603050405020304" pitchFamily="18" charset="0"/>
                <a:cs typeface="Times New Roman" panose="02020603050405020304" pitchFamily="18" charset="0"/>
              </a:rPr>
              <a:t>resultados</a:t>
            </a:r>
            <a:r>
              <a:rPr lang="en-US" sz="1200" dirty="0">
                <a:latin typeface="Times New Roman" panose="02020603050405020304" pitchFamily="18" charset="0"/>
                <a:cs typeface="Times New Roman" panose="02020603050405020304" pitchFamily="18" charset="0"/>
              </a:rPr>
              <a:t> de </a:t>
            </a:r>
            <a:r>
              <a:rPr lang="en-US" sz="1200" dirty="0" err="1">
                <a:latin typeface="Times New Roman" panose="02020603050405020304" pitchFamily="18" charset="0"/>
                <a:cs typeface="Times New Roman" panose="02020603050405020304" pitchFamily="18" charset="0"/>
              </a:rPr>
              <a:t>índice</a:t>
            </a:r>
            <a:r>
              <a:rPr lang="en-US" sz="1200" dirty="0">
                <a:latin typeface="Times New Roman" panose="02020603050405020304" pitchFamily="18" charset="0"/>
                <a:cs typeface="Times New Roman" panose="02020603050405020304" pitchFamily="18" charset="0"/>
              </a:rPr>
              <a:t> de </a:t>
            </a:r>
            <a:r>
              <a:rPr lang="en-US" sz="1200" dirty="0" err="1">
                <a:latin typeface="Times New Roman" panose="02020603050405020304" pitchFamily="18" charset="0"/>
                <a:cs typeface="Times New Roman" panose="02020603050405020304" pitchFamily="18" charset="0"/>
              </a:rPr>
              <a:t>grupo</a:t>
            </a:r>
            <a:r>
              <a:rPr lang="en-US" sz="1200" dirty="0">
                <a:latin typeface="Times New Roman" panose="02020603050405020304" pitchFamily="18" charset="0"/>
                <a:cs typeface="Times New Roman" panose="02020603050405020304" pitchFamily="18" charset="0"/>
              </a:rPr>
              <a:t> y de dispersion </a:t>
            </a:r>
            <a:r>
              <a:rPr lang="en-US" sz="1200" dirty="0" err="1">
                <a:latin typeface="Times New Roman" panose="02020603050405020304" pitchFamily="18" charset="0"/>
                <a:cs typeface="Times New Roman" panose="02020603050405020304" pitchFamily="18" charset="0"/>
              </a:rPr>
              <a:t>en</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una</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guía</a:t>
            </a:r>
            <a:r>
              <a:rPr lang="en-US" sz="1200" dirty="0">
                <a:latin typeface="Times New Roman" panose="02020603050405020304" pitchFamily="18" charset="0"/>
                <a:cs typeface="Times New Roman" panose="02020603050405020304" pitchFamily="18" charset="0"/>
              </a:rPr>
              <a:t> Shallow para </a:t>
            </a:r>
            <a:r>
              <a:rPr lang="en-US" sz="1200" dirty="0" err="1">
                <a:latin typeface="Times New Roman" panose="02020603050405020304" pitchFamily="18" charset="0"/>
                <a:cs typeface="Times New Roman" panose="02020603050405020304" pitchFamily="18" charset="0"/>
              </a:rPr>
              <a:t>cada</a:t>
            </a:r>
            <a:r>
              <a:rPr lang="en-US" sz="1200" dirty="0">
                <a:latin typeface="Times New Roman" panose="02020603050405020304" pitchFamily="18" charset="0"/>
                <a:cs typeface="Times New Roman" panose="02020603050405020304" pitchFamily="18" charset="0"/>
              </a:rPr>
              <a:t> uno de </a:t>
            </a:r>
            <a:r>
              <a:rPr lang="en-US" sz="1200" dirty="0" err="1">
                <a:latin typeface="Times New Roman" panose="02020603050405020304" pitchFamily="18" charset="0"/>
                <a:cs typeface="Times New Roman" panose="02020603050405020304" pitchFamily="18" charset="0"/>
              </a:rPr>
              <a:t>los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modos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han</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sido</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los</a:t>
            </a:r>
            <a:r>
              <a:rPr lang="en-US" sz="1200" dirty="0">
                <a:latin typeface="Times New Roman" panose="02020603050405020304" pitchFamily="18" charset="0"/>
                <a:cs typeface="Times New Roman" panose="02020603050405020304" pitchFamily="18" charset="0"/>
              </a:rPr>
              <a:t> </a:t>
            </a:r>
            <a:r>
              <a:rPr lang="en-US" sz="1200" dirty="0" err="1">
                <a:latin typeface="Times New Roman" panose="02020603050405020304" pitchFamily="18" charset="0"/>
                <a:cs typeface="Times New Roman" panose="02020603050405020304" pitchFamily="18" charset="0"/>
              </a:rPr>
              <a:t>siguientes</a:t>
            </a:r>
            <a:r>
              <a:rPr lang="en-US" sz="1200" dirty="0">
                <a:latin typeface="Times New Roman" panose="02020603050405020304" pitchFamily="18" charset="0"/>
                <a:cs typeface="Times New Roman" panose="02020603050405020304" pitchFamily="18" charset="0"/>
              </a:rPr>
              <a:t>:</a:t>
            </a:r>
          </a:p>
          <a:p>
            <a:pPr algn="just"/>
            <a:endParaRPr lang="en-U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TE0: D= </a:t>
            </a:r>
            <a:r>
              <a:rPr lang="es-ES" sz="1200" dirty="0">
                <a:latin typeface="Times New Roman" panose="02020603050405020304" pitchFamily="18" charset="0"/>
                <a:cs typeface="Times New Roman" panose="02020603050405020304" pitchFamily="18" charset="0"/>
              </a:rPr>
              <a:t>-9.8952e+02 (</a:t>
            </a:r>
            <a:r>
              <a:rPr lang="es-ES" sz="1200" dirty="0" err="1">
                <a:latin typeface="Times New Roman" panose="02020603050405020304" pitchFamily="18" charset="0"/>
                <a:cs typeface="Times New Roman" panose="02020603050405020304" pitchFamily="18" charset="0"/>
              </a:rPr>
              <a:t>ps</a:t>
            </a:r>
            <a:r>
              <a:rPr lang="es-ES" sz="1200" dirty="0">
                <a:latin typeface="Times New Roman" panose="02020603050405020304" pitchFamily="18" charset="0"/>
                <a:cs typeface="Times New Roman" panose="02020603050405020304" pitchFamily="18" charset="0"/>
              </a:rPr>
              <a:t>/km*nm); </a:t>
            </a:r>
            <a:r>
              <a:rPr lang="en-US" sz="1200" dirty="0">
                <a:latin typeface="Times New Roman" panose="02020603050405020304" pitchFamily="18" charset="0"/>
                <a:cs typeface="Times New Roman" panose="02020603050405020304" pitchFamily="18" charset="0"/>
              </a:rPr>
              <a:t>ng=</a:t>
            </a:r>
            <a:r>
              <a:rPr lang="es-ES" sz="1200" dirty="0">
                <a:latin typeface="Times New Roman" panose="02020603050405020304" pitchFamily="18" charset="0"/>
                <a:cs typeface="Times New Roman" panose="02020603050405020304" pitchFamily="18" charset="0"/>
              </a:rPr>
              <a:t>1.9158</a:t>
            </a:r>
            <a:endParaRPr lang="en-US" sz="1200" dirty="0">
              <a:latin typeface="Times New Roman" panose="02020603050405020304" pitchFamily="18" charset="0"/>
              <a:cs typeface="Times New Roman" panose="02020603050405020304" pitchFamily="18" charset="0"/>
            </a:endParaRPr>
          </a:p>
          <a:p>
            <a:pPr algn="just"/>
            <a:r>
              <a:rPr lang="en-US" sz="1200" dirty="0">
                <a:latin typeface="Times New Roman" panose="02020603050405020304" pitchFamily="18" charset="0"/>
                <a:cs typeface="Times New Roman" panose="02020603050405020304" pitchFamily="18" charset="0"/>
              </a:rPr>
              <a:t>TM0: D= </a:t>
            </a:r>
            <a:r>
              <a:rPr lang="es-ES" sz="1200" dirty="0">
                <a:latin typeface="Times New Roman" panose="02020603050405020304" pitchFamily="18" charset="0"/>
                <a:cs typeface="Times New Roman" panose="02020603050405020304" pitchFamily="18" charset="0"/>
              </a:rPr>
              <a:t>-9.8952e+02 (</a:t>
            </a:r>
            <a:r>
              <a:rPr lang="es-ES" sz="1200" dirty="0" err="1">
                <a:latin typeface="Times New Roman" panose="02020603050405020304" pitchFamily="18" charset="0"/>
                <a:cs typeface="Times New Roman" panose="02020603050405020304" pitchFamily="18" charset="0"/>
              </a:rPr>
              <a:t>ps</a:t>
            </a:r>
            <a:r>
              <a:rPr lang="es-ES" sz="1200" dirty="0">
                <a:latin typeface="Times New Roman" panose="02020603050405020304" pitchFamily="18" charset="0"/>
                <a:cs typeface="Times New Roman" panose="02020603050405020304" pitchFamily="18" charset="0"/>
              </a:rPr>
              <a:t>/km*nm); </a:t>
            </a:r>
            <a:r>
              <a:rPr lang="en-US" sz="1200" dirty="0">
                <a:latin typeface="Times New Roman" panose="02020603050405020304" pitchFamily="18" charset="0"/>
                <a:cs typeface="Times New Roman" panose="02020603050405020304" pitchFamily="18" charset="0"/>
              </a:rPr>
              <a:t>ng=</a:t>
            </a:r>
            <a:r>
              <a:rPr lang="es-ES" sz="1200" dirty="0">
                <a:latin typeface="Times New Roman" panose="02020603050405020304" pitchFamily="18" charset="0"/>
                <a:cs typeface="Times New Roman" panose="02020603050405020304" pitchFamily="18" charset="0"/>
              </a:rPr>
              <a:t>1.9158</a:t>
            </a:r>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55045919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434E70-43B1-3881-1771-20FB4358471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42C31CE-19F0-B995-0997-9A2D6A879BF7}"/>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s-ES" sz="2500" dirty="0" err="1"/>
              <a:t>Learning</a:t>
            </a:r>
            <a:r>
              <a:rPr lang="es-ES" sz="2500" dirty="0"/>
              <a:t> </a:t>
            </a:r>
            <a:r>
              <a:rPr lang="es-ES" sz="2500" dirty="0" err="1"/>
              <a:t>outcome</a:t>
            </a:r>
            <a:r>
              <a:rPr lang="es-ES" sz="2500" dirty="0"/>
              <a:t> #5 – Bend </a:t>
            </a:r>
            <a:r>
              <a:rPr lang="es-ES" sz="2500" dirty="0" err="1"/>
              <a:t>waveguide</a:t>
            </a:r>
            <a:r>
              <a:rPr lang="es-ES" sz="2500" dirty="0"/>
              <a:t> </a:t>
            </a:r>
            <a:r>
              <a:rPr lang="es-ES" sz="2500" dirty="0" err="1"/>
              <a:t>radius</a:t>
            </a:r>
            <a:r>
              <a:rPr lang="es-ES" sz="2500" dirty="0"/>
              <a:t> vs. </a:t>
            </a:r>
            <a:r>
              <a:rPr lang="es-ES" sz="2500" dirty="0" err="1"/>
              <a:t>loss</a:t>
            </a:r>
            <a:r>
              <a:rPr lang="es-ES" sz="2500" dirty="0"/>
              <a:t> – </a:t>
            </a:r>
            <a:r>
              <a:rPr lang="es-ES" sz="2500" dirty="0" err="1"/>
              <a:t>deep</a:t>
            </a:r>
            <a:br>
              <a:rPr lang="es-ES" sz="2500" dirty="0"/>
            </a:br>
            <a:r>
              <a:rPr lang="es-ES" b="0" dirty="0" err="1"/>
              <a:t>Find</a:t>
            </a:r>
            <a:r>
              <a:rPr lang="es-ES" b="0" dirty="0"/>
              <a:t>  neff_TE0 </a:t>
            </a:r>
            <a:r>
              <a:rPr lang="es-ES" b="0" dirty="0" err="1"/>
              <a:t>for</a:t>
            </a:r>
            <a:r>
              <a:rPr lang="es-ES" b="0" dirty="0"/>
              <a:t> </a:t>
            </a:r>
            <a:r>
              <a:rPr lang="es-ES" b="0" dirty="0" err="1"/>
              <a:t>wvl</a:t>
            </a:r>
            <a:r>
              <a:rPr lang="es-ES" b="0" dirty="0"/>
              <a:t> 1.55 µm, </a:t>
            </a:r>
            <a:r>
              <a:rPr lang="es-ES" b="0" dirty="0" err="1"/>
              <a:t>width</a:t>
            </a:r>
            <a:r>
              <a:rPr lang="es-ES" b="0" dirty="0"/>
              <a:t> 1.2 µm </a:t>
            </a:r>
            <a:r>
              <a:rPr lang="es-ES" b="0" dirty="0" err="1"/>
              <a:t>for</a:t>
            </a:r>
            <a:r>
              <a:rPr lang="es-ES" b="0" dirty="0"/>
              <a:t> R=25,50,75,100, 125,150 µm</a:t>
            </a:r>
            <a:br>
              <a:rPr lang="es-ES" sz="2500" dirty="0"/>
            </a:br>
            <a:endParaRPr lang="es-ES" sz="2500" b="0" dirty="0">
              <a:latin typeface="+mj-lt"/>
              <a:cs typeface="Lucida Sans"/>
            </a:endParaRPr>
          </a:p>
        </p:txBody>
      </p:sp>
      <p:pic>
        <p:nvPicPr>
          <p:cNvPr id="83" name="Gráfico 82">
            <a:extLst>
              <a:ext uri="{FF2B5EF4-FFF2-40B4-BE49-F238E27FC236}">
                <a16:creationId xmlns:a16="http://schemas.microsoft.com/office/drawing/2014/main" id="{D688A609-F3DC-EE34-C536-683E70F32EAE}"/>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B6C672C6-89D4-7E67-2B94-811D081786A7}"/>
              </a:ext>
            </a:extLst>
          </p:cNvPr>
          <p:cNvSpPr>
            <a:spLocks noGrp="1"/>
          </p:cNvSpPr>
          <p:nvPr>
            <p:ph type="sldNum" sz="quarter" idx="7"/>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s-ES" sz="18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s-ES" sz="18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Marcador de pie de página 2">
            <a:extLst>
              <a:ext uri="{FF2B5EF4-FFF2-40B4-BE49-F238E27FC236}">
                <a16:creationId xmlns:a16="http://schemas.microsoft.com/office/drawing/2014/main" id="{AA1F4313-D710-7A3E-7A8F-EB77DEE3C1A7}"/>
              </a:ext>
            </a:extLst>
          </p:cNvPr>
          <p:cNvSpPr>
            <a:spLocks noGrp="1"/>
          </p:cNvSpPr>
          <p:nvPr>
            <p:ph type="ftr" sz="quarter" idx="5"/>
          </p:nvPr>
        </p:nvSpPr>
        <p:spPr/>
        <p:txBody>
          <a:bodyPr/>
          <a:lstStyle/>
          <a:p>
            <a:pPr marL="12700" marR="0" lvl="0" indent="0" algn="l" defTabSz="914400" rtl="0" eaLnBrk="1" fontAlgn="auto" latinLnBrk="0" hangingPunct="1">
              <a:lnSpc>
                <a:spcPct val="100000"/>
              </a:lnSpc>
              <a:spcBef>
                <a:spcPts val="15"/>
              </a:spcBef>
              <a:spcAft>
                <a:spcPts val="0"/>
              </a:spcAft>
              <a:buClrTx/>
              <a:buSzTx/>
              <a:buFontTx/>
              <a:buNone/>
              <a:tabLst/>
              <a:defRPr/>
            </a:pPr>
            <a:r>
              <a:rPr kumimoji="0" lang="es-ES" sz="1200" b="0" i="0" u="none" strike="noStrike" kern="1200" cap="none" spc="-5" normalizeH="0" baseline="0" noProof="0" dirty="0">
                <a:ln>
                  <a:noFill/>
                </a:ln>
                <a:solidFill>
                  <a:srgbClr val="585858"/>
                </a:solidFill>
                <a:effectLst/>
                <a:uLnTx/>
                <a:uFillTx/>
                <a:latin typeface="Arial"/>
                <a:ea typeface="+mn-ea"/>
                <a:cs typeface="Arial"/>
              </a:rPr>
              <a:t>LAB 1.0 WAVEGUIDES</a:t>
            </a:r>
          </a:p>
        </p:txBody>
      </p:sp>
      <p:sp>
        <p:nvSpPr>
          <p:cNvPr id="2" name="CuadroTexto 1">
            <a:extLst>
              <a:ext uri="{FF2B5EF4-FFF2-40B4-BE49-F238E27FC236}">
                <a16:creationId xmlns:a16="http://schemas.microsoft.com/office/drawing/2014/main" id="{FDE3A197-9508-F9F1-1FEB-FF883D78C151}"/>
              </a:ext>
            </a:extLst>
          </p:cNvPr>
          <p:cNvSpPr txBox="1"/>
          <p:nvPr/>
        </p:nvSpPr>
        <p:spPr>
          <a:xfrm>
            <a:off x="5502302" y="1568160"/>
            <a:ext cx="6041411" cy="3231654"/>
          </a:xfrm>
          <a:prstGeom prst="rect">
            <a:avLst/>
          </a:prstGeom>
          <a:solidFill>
            <a:schemeClr val="bg1">
              <a:lumMod val="95000"/>
            </a:schemeClr>
          </a:solidFill>
          <a:ln w="28575">
            <a:solidFill>
              <a:srgbClr val="E0700D"/>
            </a:solidFill>
          </a:ln>
        </p:spPr>
        <p:txBody>
          <a:bodyPr wrap="square" rtlCol="0">
            <a:spAutoFit/>
          </a:bodyPr>
          <a:lstStyle/>
          <a:p>
            <a:pPr lvl="0" algn="just"/>
            <a:r>
              <a:rPr lang="es-ES" sz="1200" dirty="0">
                <a:latin typeface="Times New Roman" panose="02020603050405020304" pitchFamily="18" charset="0"/>
                <a:cs typeface="Times New Roman" panose="02020603050405020304" pitchFamily="18" charset="0"/>
              </a:rPr>
              <a:t>Observando la gráfica de pérdidas en función del radio de curvatura, se puede determinar que para la radiación de los modos (curva azul) las pérdidas son mayores cuando el radio es pequeño, mientras que disminuyen a medida que el radio aumenta. Esto se debe a que un radio de curvatura pequeño provoca que el modo óptico se desplace hacia el exterior de la curva y parte del campo se escape fuera de la guía, mientras que para radios mayores la guía se comporta de forma más similar a una guía recta y las pérdidas por radiación disminuyen. Por otro lado, las pérdidas de propagación muestran el comportamiento contrario: cuanto mayor es el radio de curvatura, mayor es la longitud del </a:t>
            </a:r>
            <a:r>
              <a:rPr lang="es-ES" sz="1200" dirty="0" err="1">
                <a:latin typeface="Times New Roman" panose="02020603050405020304" pitchFamily="18" charset="0"/>
                <a:cs typeface="Times New Roman" panose="02020603050405020304" pitchFamily="18" charset="0"/>
              </a:rPr>
              <a:t>bend</a:t>
            </a:r>
            <a:r>
              <a:rPr lang="es-ES" sz="1200" dirty="0">
                <a:latin typeface="Times New Roman" panose="02020603050405020304" pitchFamily="18" charset="0"/>
                <a:cs typeface="Times New Roman" panose="02020603050405020304" pitchFamily="18" charset="0"/>
              </a:rPr>
              <a:t> y, por tanto, aumentan las pérdidas asociadas al material. </a:t>
            </a:r>
          </a:p>
          <a:p>
            <a:pPr lvl="0" algn="just"/>
            <a:r>
              <a:rPr lang="es-ES" sz="1200" dirty="0">
                <a:latin typeface="Times New Roman" panose="02020603050405020304" pitchFamily="18" charset="0"/>
                <a:cs typeface="Times New Roman" panose="02020603050405020304" pitchFamily="18" charset="0"/>
              </a:rPr>
              <a:t>Como consecuencia, la pérdida total decrece rápidamente para radios pequeños, donde domina la radiación del modo, pero para radios mayores comienza a aumentar ligeramente debido al mayor efecto de las pérdidas de propagación. Observando la curva de pérdidas totales, se puede concluir que el radio seguro (</a:t>
            </a:r>
            <a:r>
              <a:rPr lang="es-ES" sz="1200" dirty="0" err="1">
                <a:latin typeface="Times New Roman" panose="02020603050405020304" pitchFamily="18" charset="0"/>
                <a:cs typeface="Times New Roman" panose="02020603050405020304" pitchFamily="18" charset="0"/>
              </a:rPr>
              <a:t>safe</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radius</a:t>
            </a:r>
            <a:r>
              <a:rPr lang="es-ES" sz="1200" dirty="0">
                <a:latin typeface="Times New Roman" panose="02020603050405020304" pitchFamily="18" charset="0"/>
                <a:cs typeface="Times New Roman" panose="02020603050405020304" pitchFamily="18" charset="0"/>
              </a:rPr>
              <a:t>) es aproximadamente 31 </a:t>
            </a:r>
            <a:r>
              <a:rPr lang="es-ES" sz="1200" dirty="0" err="1">
                <a:latin typeface="Times New Roman" panose="02020603050405020304" pitchFamily="18" charset="0"/>
                <a:cs typeface="Times New Roman" panose="02020603050405020304" pitchFamily="18" charset="0"/>
              </a:rPr>
              <a:t>μm</a:t>
            </a:r>
            <a:r>
              <a:rPr lang="es-ES" sz="1200" dirty="0">
                <a:latin typeface="Times New Roman" panose="02020603050405020304" pitchFamily="18" charset="0"/>
                <a:cs typeface="Times New Roman" panose="02020603050405020304" pitchFamily="18" charset="0"/>
              </a:rPr>
              <a:t>, ya que a partir de este valor las pérdidas son inferiores a 0.1 dB por </a:t>
            </a:r>
            <a:r>
              <a:rPr lang="es-ES" sz="1200" dirty="0" err="1">
                <a:latin typeface="Times New Roman" panose="02020603050405020304" pitchFamily="18" charset="0"/>
                <a:cs typeface="Times New Roman" panose="02020603050405020304" pitchFamily="18" charset="0"/>
              </a:rPr>
              <a:t>bend</a:t>
            </a:r>
            <a:r>
              <a:rPr lang="es-ES" sz="1200" dirty="0">
                <a:latin typeface="Times New Roman" panose="02020603050405020304" pitchFamily="18" charset="0"/>
                <a:cs typeface="Times New Roman" panose="02020603050405020304" pitchFamily="18" charset="0"/>
              </a:rPr>
              <a:t> de 90°, lo que significa que para radios mayores las pérdidas introducidas por el </a:t>
            </a:r>
            <a:r>
              <a:rPr lang="es-ES" sz="1200" dirty="0" err="1">
                <a:latin typeface="Times New Roman" panose="02020603050405020304" pitchFamily="18" charset="0"/>
                <a:cs typeface="Times New Roman" panose="02020603050405020304" pitchFamily="18" charset="0"/>
              </a:rPr>
              <a:t>bend</a:t>
            </a:r>
            <a:r>
              <a:rPr lang="es-ES" sz="1200" dirty="0">
                <a:latin typeface="Times New Roman" panose="02020603050405020304" pitchFamily="18" charset="0"/>
                <a:cs typeface="Times New Roman" panose="02020603050405020304" pitchFamily="18" charset="0"/>
              </a:rPr>
              <a:t> dejan de ser significativas en el diseño del circuito fotónico.</a:t>
            </a:r>
            <a:endParaRPr kumimoji="0" lang="es-ES" sz="1200" i="0" u="sng"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endParaRPr>
          </a:p>
          <a:p>
            <a:pPr marL="0" marR="0" lvl="0" indent="0" algn="just" defTabSz="914400" rtl="0" eaLnBrk="1" fontAlgn="auto" latinLnBrk="0" hangingPunct="1">
              <a:lnSpc>
                <a:spcPct val="100000"/>
              </a:lnSpc>
              <a:spcBef>
                <a:spcPts val="0"/>
              </a:spcBef>
              <a:spcAft>
                <a:spcPts val="0"/>
              </a:spcAft>
              <a:buClrTx/>
              <a:buSzTx/>
              <a:buFontTx/>
              <a:buNone/>
              <a:tabLst/>
              <a:defRPr/>
            </a:pPr>
            <a:endParaRPr kumimoji="0" lang="es-ES" sz="1200" b="0" i="0" u="none" strike="noStrike" kern="1200" cap="none" spc="0" normalizeH="0" baseline="0" noProof="0" dirty="0">
              <a:ln>
                <a:noFill/>
              </a:ln>
              <a:solidFill>
                <a:prstClr val="black"/>
              </a:solidFill>
              <a:effectLst/>
              <a:uLnTx/>
              <a:uFillTx/>
              <a:latin typeface="Arial" panose="020B0604020202020204" pitchFamily="34" charset="0"/>
              <a:ea typeface="+mn-ea"/>
              <a:cs typeface="Arial" panose="020B0604020202020204" pitchFamily="34" charset="0"/>
            </a:endParaRPr>
          </a:p>
        </p:txBody>
      </p:sp>
      <p:sp>
        <p:nvSpPr>
          <p:cNvPr id="7" name="Rectángulo 6">
            <a:extLst>
              <a:ext uri="{FF2B5EF4-FFF2-40B4-BE49-F238E27FC236}">
                <a16:creationId xmlns:a16="http://schemas.microsoft.com/office/drawing/2014/main" id="{B5FE8755-B0BF-14B7-64E6-4BBB2560B9A6}"/>
              </a:ext>
            </a:extLst>
          </p:cNvPr>
          <p:cNvSpPr/>
          <p:nvPr/>
        </p:nvSpPr>
        <p:spPr>
          <a:xfrm>
            <a:off x="609441" y="1418373"/>
            <a:ext cx="4724559" cy="37632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 sz="18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5" name="Imagen 4">
            <a:extLst>
              <a:ext uri="{FF2B5EF4-FFF2-40B4-BE49-F238E27FC236}">
                <a16:creationId xmlns:a16="http://schemas.microsoft.com/office/drawing/2014/main" id="{0DD090C0-FE75-FDF2-FAC5-9054E681ACAC}"/>
              </a:ext>
            </a:extLst>
          </p:cNvPr>
          <p:cNvPicPr>
            <a:picLocks noChangeAspect="1"/>
          </p:cNvPicPr>
          <p:nvPr/>
        </p:nvPicPr>
        <p:blipFill>
          <a:blip r:embed="rId5"/>
          <a:stretch>
            <a:fillRect/>
          </a:stretch>
        </p:blipFill>
        <p:spPr>
          <a:xfrm>
            <a:off x="685801" y="1474484"/>
            <a:ext cx="4596500" cy="3630916"/>
          </a:xfrm>
          <a:prstGeom prst="rect">
            <a:avLst/>
          </a:prstGeom>
        </p:spPr>
      </p:pic>
    </p:spTree>
    <p:extLst>
      <p:ext uri="{BB962C8B-B14F-4D97-AF65-F5344CB8AC3E}">
        <p14:creationId xmlns:p14="http://schemas.microsoft.com/office/powerpoint/2010/main" val="366043824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01A919-355A-A1E8-4DED-ABB34D5A497B}"/>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CD45104F-D479-12DF-9FDA-5A9B40C3C59E}"/>
              </a:ext>
            </a:extLst>
          </p:cNvPr>
          <p:cNvSpPr txBox="1">
            <a:spLocks noGrp="1"/>
          </p:cNvSpPr>
          <p:nvPr>
            <p:ph type="title"/>
          </p:nvPr>
        </p:nvSpPr>
        <p:spPr>
          <a:xfrm>
            <a:off x="685800" y="408883"/>
            <a:ext cx="10994410" cy="1090042"/>
          </a:xfrm>
          <a:prstGeom prst="rect">
            <a:avLst/>
          </a:prstGeom>
        </p:spPr>
        <p:txBody>
          <a:bodyPr vert="horz" wrap="square" lIns="0" tIns="12700" rIns="0" bIns="0" rtlCol="0">
            <a:spAutoFit/>
          </a:bodyPr>
          <a:lstStyle/>
          <a:p>
            <a:pPr marL="12700">
              <a:lnSpc>
                <a:spcPct val="100000"/>
              </a:lnSpc>
              <a:spcBef>
                <a:spcPts val="100"/>
              </a:spcBef>
            </a:pPr>
            <a:r>
              <a:rPr lang="es-ES" sz="2500" dirty="0" err="1"/>
              <a:t>Learning</a:t>
            </a:r>
            <a:r>
              <a:rPr lang="es-ES" sz="2500" dirty="0"/>
              <a:t> </a:t>
            </a:r>
            <a:r>
              <a:rPr lang="es-ES" sz="2500" dirty="0" err="1"/>
              <a:t>outcome</a:t>
            </a:r>
            <a:r>
              <a:rPr lang="es-ES" sz="2500" dirty="0"/>
              <a:t> #5 – Bend </a:t>
            </a:r>
            <a:r>
              <a:rPr lang="es-ES" sz="2500" dirty="0" err="1"/>
              <a:t>waveguide</a:t>
            </a:r>
            <a:r>
              <a:rPr lang="es-ES" sz="2500" dirty="0"/>
              <a:t> </a:t>
            </a:r>
            <a:r>
              <a:rPr lang="es-ES" sz="2500" dirty="0" err="1"/>
              <a:t>radius</a:t>
            </a:r>
            <a:r>
              <a:rPr lang="es-ES" sz="2500" dirty="0"/>
              <a:t> vs. </a:t>
            </a:r>
            <a:r>
              <a:rPr lang="es-ES" sz="2500" dirty="0" err="1"/>
              <a:t>loss</a:t>
            </a:r>
            <a:r>
              <a:rPr lang="es-ES" sz="2500" dirty="0"/>
              <a:t> – </a:t>
            </a:r>
            <a:r>
              <a:rPr lang="es-ES" sz="2500" dirty="0" err="1"/>
              <a:t>deep</a:t>
            </a:r>
            <a:br>
              <a:rPr lang="es-ES" sz="2500" dirty="0"/>
            </a:br>
            <a:r>
              <a:rPr lang="es-ES" b="0" dirty="0" err="1"/>
              <a:t>Find</a:t>
            </a:r>
            <a:r>
              <a:rPr lang="es-ES" b="0" dirty="0"/>
              <a:t>  neff_TE0 </a:t>
            </a:r>
            <a:r>
              <a:rPr lang="es-ES" b="0" dirty="0" err="1"/>
              <a:t>for</a:t>
            </a:r>
            <a:r>
              <a:rPr lang="es-ES" b="0" dirty="0"/>
              <a:t> </a:t>
            </a:r>
            <a:r>
              <a:rPr lang="es-ES" b="0" dirty="0" err="1"/>
              <a:t>wvl</a:t>
            </a:r>
            <a:r>
              <a:rPr lang="es-ES" b="0" dirty="0"/>
              <a:t> 1.55 µm, </a:t>
            </a:r>
            <a:r>
              <a:rPr lang="es-ES" b="0" dirty="0" err="1"/>
              <a:t>width</a:t>
            </a:r>
            <a:r>
              <a:rPr lang="es-ES" b="0" dirty="0"/>
              <a:t> 1.2 µm </a:t>
            </a:r>
            <a:r>
              <a:rPr lang="es-ES" b="0" dirty="0" err="1"/>
              <a:t>for</a:t>
            </a:r>
            <a:r>
              <a:rPr lang="es-ES" b="0" dirty="0"/>
              <a:t> R=25,50,75,100, 125,150 µm</a:t>
            </a:r>
            <a:br>
              <a:rPr lang="es-ES" sz="2500" dirty="0"/>
            </a:br>
            <a:endParaRPr lang="es-ES" sz="2500" b="0" dirty="0">
              <a:latin typeface="+mj-lt"/>
              <a:cs typeface="Lucida Sans"/>
            </a:endParaRPr>
          </a:p>
        </p:txBody>
      </p:sp>
      <p:pic>
        <p:nvPicPr>
          <p:cNvPr id="83" name="Gráfico 82">
            <a:extLst>
              <a:ext uri="{FF2B5EF4-FFF2-40B4-BE49-F238E27FC236}">
                <a16:creationId xmlns:a16="http://schemas.microsoft.com/office/drawing/2014/main" id="{57C16208-16A2-28B6-0A97-BACE07A01E5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93B0D68B-B982-DB4C-6568-C3D6C599F21A}"/>
              </a:ext>
            </a:extLst>
          </p:cNvPr>
          <p:cNvSpPr>
            <a:spLocks noGrp="1"/>
          </p:cNvSpPr>
          <p:nvPr>
            <p:ph type="sldNum" sz="quarter" idx="7"/>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s-ES" sz="18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s-ES" sz="18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Marcador de pie de página 2">
            <a:extLst>
              <a:ext uri="{FF2B5EF4-FFF2-40B4-BE49-F238E27FC236}">
                <a16:creationId xmlns:a16="http://schemas.microsoft.com/office/drawing/2014/main" id="{A0C93B72-E40A-E8A2-5FC8-9EC788DA8D04}"/>
              </a:ext>
            </a:extLst>
          </p:cNvPr>
          <p:cNvSpPr>
            <a:spLocks noGrp="1"/>
          </p:cNvSpPr>
          <p:nvPr>
            <p:ph type="ftr" sz="quarter" idx="5"/>
          </p:nvPr>
        </p:nvSpPr>
        <p:spPr/>
        <p:txBody>
          <a:bodyPr/>
          <a:lstStyle/>
          <a:p>
            <a:pPr marL="12700" marR="0" lvl="0" indent="0" algn="l" defTabSz="914400" rtl="0" eaLnBrk="1" fontAlgn="auto" latinLnBrk="0" hangingPunct="1">
              <a:lnSpc>
                <a:spcPct val="100000"/>
              </a:lnSpc>
              <a:spcBef>
                <a:spcPts val="15"/>
              </a:spcBef>
              <a:spcAft>
                <a:spcPts val="0"/>
              </a:spcAft>
              <a:buClrTx/>
              <a:buSzTx/>
              <a:buFontTx/>
              <a:buNone/>
              <a:tabLst/>
              <a:defRPr/>
            </a:pPr>
            <a:r>
              <a:rPr kumimoji="0" lang="es-ES" sz="1200" b="0" i="0" u="none" strike="noStrike" kern="1200" cap="none" spc="-5" normalizeH="0" baseline="0" noProof="0" dirty="0">
                <a:ln>
                  <a:noFill/>
                </a:ln>
                <a:solidFill>
                  <a:srgbClr val="585858"/>
                </a:solidFill>
                <a:effectLst/>
                <a:uLnTx/>
                <a:uFillTx/>
                <a:latin typeface="Arial"/>
                <a:ea typeface="+mn-ea"/>
                <a:cs typeface="Arial"/>
              </a:rPr>
              <a:t>LAB 1.0 WAVEGUIDES</a:t>
            </a:r>
          </a:p>
        </p:txBody>
      </p:sp>
      <p:sp>
        <p:nvSpPr>
          <p:cNvPr id="2" name="CuadroTexto 1">
            <a:extLst>
              <a:ext uri="{FF2B5EF4-FFF2-40B4-BE49-F238E27FC236}">
                <a16:creationId xmlns:a16="http://schemas.microsoft.com/office/drawing/2014/main" id="{81B4416C-C8CE-2AD6-E1EA-6961675C62A4}"/>
              </a:ext>
            </a:extLst>
          </p:cNvPr>
          <p:cNvSpPr txBox="1"/>
          <p:nvPr/>
        </p:nvSpPr>
        <p:spPr>
          <a:xfrm>
            <a:off x="6106842" y="2644170"/>
            <a:ext cx="5475717" cy="1569660"/>
          </a:xfrm>
          <a:prstGeom prst="rect">
            <a:avLst/>
          </a:prstGeom>
          <a:solidFill>
            <a:schemeClr val="bg1">
              <a:lumMod val="95000"/>
            </a:schemeClr>
          </a:solidFill>
          <a:ln w="28575">
            <a:solidFill>
              <a:srgbClr val="E0700D"/>
            </a:solidFill>
          </a:ln>
        </p:spPr>
        <p:txBody>
          <a:bodyPr wrap="square" rtlCol="0">
            <a:spAutoFit/>
          </a:bodyPr>
          <a:lstStyle/>
          <a:p>
            <a:pPr lvl="0" algn="just">
              <a:defRPr/>
            </a:pPr>
            <a:r>
              <a:rPr kumimoji="0" lang="es-ES" sz="1200" b="0"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Observando esta gráfica se aprecia que </a:t>
            </a:r>
            <a:r>
              <a:rPr lang="es-ES" sz="1200" dirty="0">
                <a:latin typeface="Times New Roman" panose="02020603050405020304" pitchFamily="18" charset="0"/>
                <a:cs typeface="Times New Roman" panose="02020603050405020304" pitchFamily="18" charset="0"/>
              </a:rPr>
              <a:t>el valor de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disminuye ligeramente a medida que aumenta el radio, aunque la variación es muy pequeña (del orden de 10^-3)</a:t>
            </a:r>
            <a:r>
              <a:rPr kumimoji="0" lang="es-ES" sz="1200" b="0"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rPr>
              <a:t>. Esto ocurre por que a medida que aumenta el radio, la guía se comporta cada vez más como una guía recta, y el índice efectivo tiende a estabilizarse en un valor prácticamente constante, que es aproximadamente el que toma el modo TE0 a esa longitud de onda. Por tanto, se puede concluir que, para radios grandes, </a:t>
            </a:r>
            <a:r>
              <a:rPr lang="es-ES" sz="1200" dirty="0">
                <a:latin typeface="Times New Roman" panose="02020603050405020304" pitchFamily="18" charset="0"/>
                <a:cs typeface="Times New Roman" panose="02020603050405020304" pitchFamily="18" charset="0"/>
              </a:rPr>
              <a:t>la influencia de la curvatura en el modo (y por tanto en su índice efectivo) es prácticamente despreciable</a:t>
            </a:r>
            <a:r>
              <a:rPr lang="es-ES" sz="1200" dirty="0">
                <a:solidFill>
                  <a:prstClr val="black"/>
                </a:solidFill>
                <a:latin typeface="Times New Roman" panose="02020603050405020304" pitchFamily="18" charset="0"/>
                <a:cs typeface="Times New Roman" panose="02020603050405020304" pitchFamily="18" charset="0"/>
              </a:rPr>
              <a:t>.</a:t>
            </a:r>
            <a:endParaRPr kumimoji="0" lang="es-ES" sz="1200" b="0"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endParaRPr>
          </a:p>
        </p:txBody>
      </p:sp>
      <p:sp>
        <p:nvSpPr>
          <p:cNvPr id="7" name="Rectángulo 6">
            <a:extLst>
              <a:ext uri="{FF2B5EF4-FFF2-40B4-BE49-F238E27FC236}">
                <a16:creationId xmlns:a16="http://schemas.microsoft.com/office/drawing/2014/main" id="{904FF998-1F98-CE90-DEDB-9F1DCF32EAF1}"/>
              </a:ext>
            </a:extLst>
          </p:cNvPr>
          <p:cNvSpPr/>
          <p:nvPr/>
        </p:nvSpPr>
        <p:spPr>
          <a:xfrm>
            <a:off x="609441" y="1418372"/>
            <a:ext cx="5181759" cy="4068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 sz="18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9" name="Imagen 8">
            <a:extLst>
              <a:ext uri="{FF2B5EF4-FFF2-40B4-BE49-F238E27FC236}">
                <a16:creationId xmlns:a16="http://schemas.microsoft.com/office/drawing/2014/main" id="{326B8A56-2E9D-5640-EFDE-2A131EBA5500}"/>
              </a:ext>
            </a:extLst>
          </p:cNvPr>
          <p:cNvPicPr>
            <a:picLocks noChangeAspect="1"/>
          </p:cNvPicPr>
          <p:nvPr/>
        </p:nvPicPr>
        <p:blipFill>
          <a:blip r:embed="rId5"/>
          <a:stretch>
            <a:fillRect/>
          </a:stretch>
        </p:blipFill>
        <p:spPr>
          <a:xfrm>
            <a:off x="638173" y="1447800"/>
            <a:ext cx="5040922" cy="3810000"/>
          </a:xfrm>
          <a:prstGeom prst="rect">
            <a:avLst/>
          </a:prstGeom>
        </p:spPr>
      </p:pic>
    </p:spTree>
    <p:extLst>
      <p:ext uri="{BB962C8B-B14F-4D97-AF65-F5344CB8AC3E}">
        <p14:creationId xmlns:p14="http://schemas.microsoft.com/office/powerpoint/2010/main" val="669481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1C00FB-0121-F9A0-91F5-56F1487D048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A637BC53-30CB-F19E-9C84-F53431710246}"/>
              </a:ext>
            </a:extLst>
          </p:cNvPr>
          <p:cNvSpPr txBox="1">
            <a:spLocks noGrp="1"/>
          </p:cNvSpPr>
          <p:nvPr>
            <p:ph type="title"/>
          </p:nvPr>
        </p:nvSpPr>
        <p:spPr>
          <a:xfrm>
            <a:off x="4495800" y="1752600"/>
            <a:ext cx="10994410" cy="1259319"/>
          </a:xfrm>
          <a:prstGeom prst="rect">
            <a:avLst/>
          </a:prstGeom>
        </p:spPr>
        <p:txBody>
          <a:bodyPr vert="horz" wrap="square" lIns="0" tIns="12700" rIns="0" bIns="0" rtlCol="0">
            <a:spAutoFit/>
          </a:bodyPr>
          <a:lstStyle/>
          <a:p>
            <a:pPr marL="12700">
              <a:lnSpc>
                <a:spcPct val="100000"/>
              </a:lnSpc>
              <a:spcBef>
                <a:spcPts val="100"/>
              </a:spcBef>
            </a:pPr>
            <a:r>
              <a:rPr lang="en-US" sz="3600" dirty="0" err="1"/>
              <a:t>Parte</a:t>
            </a:r>
            <a:r>
              <a:rPr lang="en-US" sz="3600" dirty="0"/>
              <a:t> Extra</a:t>
            </a:r>
            <a:br>
              <a:rPr lang="en-US" sz="2500" spc="-5" dirty="0">
                <a:latin typeface="+mj-lt"/>
                <a:cs typeface="Lucida Sans"/>
              </a:rPr>
            </a:br>
            <a:br>
              <a:rPr lang="en-US" b="0" dirty="0"/>
            </a:br>
            <a:endParaRPr lang="en-US" sz="2500" b="0" dirty="0">
              <a:latin typeface="+mj-lt"/>
              <a:cs typeface="Lucida Sans"/>
            </a:endParaRPr>
          </a:p>
        </p:txBody>
      </p:sp>
      <p:pic>
        <p:nvPicPr>
          <p:cNvPr id="83" name="Gráfico 82">
            <a:extLst>
              <a:ext uri="{FF2B5EF4-FFF2-40B4-BE49-F238E27FC236}">
                <a16:creationId xmlns:a16="http://schemas.microsoft.com/office/drawing/2014/main" id="{02138351-2446-8385-B627-B952631D91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8AEC9F7-720D-087C-CAFA-761CEF1EFE96}"/>
              </a:ext>
            </a:extLst>
          </p:cNvPr>
          <p:cNvSpPr>
            <a:spLocks noGrp="1"/>
          </p:cNvSpPr>
          <p:nvPr>
            <p:ph type="sldNum" sz="quarter" idx="7"/>
          </p:nvPr>
        </p:nvSpPr>
        <p:spPr/>
        <p:txBody>
          <a:bodyPr/>
          <a:lstStyle/>
          <a:p>
            <a:fld id="{B6F15528-21DE-4FAA-801E-634DDDAF4B2B}" type="slidenum">
              <a:rPr lang="es-ES" smtClean="0"/>
              <a:t>15</a:t>
            </a:fld>
            <a:endParaRPr lang="es-ES"/>
          </a:p>
        </p:txBody>
      </p:sp>
      <p:sp>
        <p:nvSpPr>
          <p:cNvPr id="3" name="Marcador de pie de página 2">
            <a:extLst>
              <a:ext uri="{FF2B5EF4-FFF2-40B4-BE49-F238E27FC236}">
                <a16:creationId xmlns:a16="http://schemas.microsoft.com/office/drawing/2014/main" id="{6B51FB65-13D3-FB21-CC66-092F054DA382}"/>
              </a:ext>
            </a:extLst>
          </p:cNvPr>
          <p:cNvSpPr>
            <a:spLocks noGrp="1"/>
          </p:cNvSpPr>
          <p:nvPr>
            <p:ph type="ftr" sz="quarter" idx="5"/>
          </p:nvPr>
        </p:nvSpPr>
        <p:spPr/>
        <p:txBody>
          <a:bodyPr/>
          <a:lstStyle/>
          <a:p>
            <a:pPr marL="12700">
              <a:spcBef>
                <a:spcPts val="15"/>
              </a:spcBef>
            </a:pPr>
            <a:r>
              <a:rPr lang="es-ES" spc="-5"/>
              <a:t>LAB 1.0 WAVEGUIDES</a:t>
            </a:r>
          </a:p>
        </p:txBody>
      </p:sp>
      <p:sp>
        <p:nvSpPr>
          <p:cNvPr id="13" name="CuadroTexto 12">
            <a:extLst>
              <a:ext uri="{FF2B5EF4-FFF2-40B4-BE49-F238E27FC236}">
                <a16:creationId xmlns:a16="http://schemas.microsoft.com/office/drawing/2014/main" id="{49854E16-3736-B23B-89E3-537E223D01C3}"/>
              </a:ext>
            </a:extLst>
          </p:cNvPr>
          <p:cNvSpPr txBox="1"/>
          <p:nvPr/>
        </p:nvSpPr>
        <p:spPr>
          <a:xfrm>
            <a:off x="838200" y="2873945"/>
            <a:ext cx="10820400"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Times New Roman" panose="02020603050405020304" pitchFamily="18" charset="0"/>
                <a:cs typeface="Times New Roman" panose="02020603050405020304" pitchFamily="18" charset="0"/>
              </a:rPr>
              <a:t>En esta sección se presenta un estudio adicional en el que se analiza el comportamiento de una guía de onda basada en la tecnología Silicon-</a:t>
            </a:r>
            <a:r>
              <a:rPr lang="es-ES" sz="1200" dirty="0" err="1">
                <a:latin typeface="Times New Roman" panose="02020603050405020304" pitchFamily="18" charset="0"/>
                <a:cs typeface="Times New Roman" panose="02020603050405020304" pitchFamily="18" charset="0"/>
              </a:rPr>
              <a:t>On</a:t>
            </a:r>
            <a:r>
              <a:rPr lang="es-ES" sz="1200" dirty="0">
                <a:latin typeface="Times New Roman" panose="02020603050405020304" pitchFamily="18" charset="0"/>
                <a:cs typeface="Times New Roman" panose="02020603050405020304" pitchFamily="18" charset="0"/>
              </a:rPr>
              <a:t>-</a:t>
            </a:r>
            <a:r>
              <a:rPr lang="es-ES" sz="1200" dirty="0" err="1">
                <a:latin typeface="Times New Roman" panose="02020603050405020304" pitchFamily="18" charset="0"/>
                <a:cs typeface="Times New Roman" panose="02020603050405020304" pitchFamily="18" charset="0"/>
              </a:rPr>
              <a:t>Insulator</a:t>
            </a:r>
            <a:r>
              <a:rPr lang="es-ES" sz="1200" dirty="0">
                <a:latin typeface="Times New Roman" panose="02020603050405020304" pitchFamily="18" charset="0"/>
                <a:cs typeface="Times New Roman" panose="02020603050405020304" pitchFamily="18" charset="0"/>
              </a:rPr>
              <a:t> (SOI). En las simulaciones anteriores se había considerado Silicon </a:t>
            </a:r>
            <a:r>
              <a:rPr lang="es-ES" sz="1200" dirty="0" err="1">
                <a:latin typeface="Times New Roman" panose="02020603050405020304" pitchFamily="18" charset="0"/>
                <a:cs typeface="Times New Roman" panose="02020603050405020304" pitchFamily="18" charset="0"/>
              </a:rPr>
              <a:t>Nitride</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como material del núcleo y Silicon </a:t>
            </a:r>
            <a:r>
              <a:rPr lang="es-ES" sz="1200" dirty="0" err="1">
                <a:latin typeface="Times New Roman" panose="02020603050405020304" pitchFamily="18" charset="0"/>
                <a:cs typeface="Times New Roman" panose="02020603050405020304" pitchFamily="18" charset="0"/>
              </a:rPr>
              <a:t>Dioxide</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SiO</a:t>
            </a:r>
            <a:r>
              <a:rPr lang="es-ES" sz="1200" dirty="0">
                <a:latin typeface="Times New Roman" panose="02020603050405020304" pitchFamily="18" charset="0"/>
                <a:cs typeface="Times New Roman" panose="02020603050405020304" pitchFamily="18" charset="0"/>
              </a:rPr>
              <a:t>₂) como </a:t>
            </a:r>
            <a:r>
              <a:rPr lang="es-ES" sz="1200" dirty="0" err="1">
                <a:latin typeface="Times New Roman" panose="02020603050405020304" pitchFamily="18" charset="0"/>
                <a:cs typeface="Times New Roman" panose="02020603050405020304" pitchFamily="18" charset="0"/>
              </a:rPr>
              <a:t>cladding</a:t>
            </a:r>
            <a:r>
              <a:rPr lang="es-ES" sz="1200" dirty="0">
                <a:latin typeface="Times New Roman" panose="02020603050405020304" pitchFamily="18" charset="0"/>
                <a:cs typeface="Times New Roman" panose="02020603050405020304" pitchFamily="18" charset="0"/>
              </a:rPr>
              <a:t>. En este nuevo estudio se modifica el material del núcleo, utilizando Silicon (Si), manteniendo </a:t>
            </a:r>
            <a:r>
              <a:rPr lang="es-ES" sz="1200" dirty="0" err="1">
                <a:latin typeface="Times New Roman" panose="02020603050405020304" pitchFamily="18" charset="0"/>
                <a:cs typeface="Times New Roman" panose="02020603050405020304" pitchFamily="18" charset="0"/>
              </a:rPr>
              <a:t>SiO</a:t>
            </a:r>
            <a:r>
              <a:rPr lang="es-ES" sz="1200" dirty="0">
                <a:latin typeface="Times New Roman" panose="02020603050405020304" pitchFamily="18" charset="0"/>
                <a:cs typeface="Times New Roman" panose="02020603050405020304" pitchFamily="18" charset="0"/>
              </a:rPr>
              <a:t>₂ como material de revestimiento.</a:t>
            </a:r>
          </a:p>
          <a:p>
            <a:pPr algn="just"/>
            <a:r>
              <a:rPr lang="es-ES" sz="1200" dirty="0">
                <a:latin typeface="Times New Roman" panose="02020603050405020304" pitchFamily="18" charset="0"/>
                <a:cs typeface="Times New Roman" panose="02020603050405020304" pitchFamily="18" charset="0"/>
              </a:rPr>
              <a:t>Además, se consideran como dimensiones: 220 nm de altura y 500 nm de ancho para el núcleo. </a:t>
            </a:r>
          </a:p>
          <a:p>
            <a:pPr algn="just"/>
            <a:endParaRPr lang="en-US" sz="1200" dirty="0">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297131563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1656EC-E197-239C-60DD-C11F7BA4B44A}"/>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5431EA70-9578-8BF1-5A05-77CDC26788B4}"/>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#2 – Wavelength behavior. EXTRA.</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B6A02C28-9CC3-6E88-B695-04A48E5FDEA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FB7F118F-AD79-0ED0-CE53-A8EE4409B4F8}"/>
              </a:ext>
            </a:extLst>
          </p:cNvPr>
          <p:cNvSpPr>
            <a:spLocks noGrp="1"/>
          </p:cNvSpPr>
          <p:nvPr>
            <p:ph type="sldNum" sz="quarter" idx="7"/>
          </p:nvPr>
        </p:nvSpPr>
        <p:spPr/>
        <p:txBody>
          <a:bodyPr/>
          <a:lstStyle/>
          <a:p>
            <a:fld id="{B6F15528-21DE-4FAA-801E-634DDDAF4B2B}" type="slidenum">
              <a:rPr lang="es-ES" smtClean="0"/>
              <a:t>16</a:t>
            </a:fld>
            <a:endParaRPr lang="es-ES"/>
          </a:p>
        </p:txBody>
      </p:sp>
      <p:sp>
        <p:nvSpPr>
          <p:cNvPr id="3" name="Marcador de pie de página 2">
            <a:extLst>
              <a:ext uri="{FF2B5EF4-FFF2-40B4-BE49-F238E27FC236}">
                <a16:creationId xmlns:a16="http://schemas.microsoft.com/office/drawing/2014/main" id="{10846C9D-3FE3-8524-3349-96E1AD1712B3}"/>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CA5F0FDF-2A95-453B-4ECA-AEB637FF2694}"/>
              </a:ext>
            </a:extLst>
          </p:cNvPr>
          <p:cNvSpPr txBox="1"/>
          <p:nvPr/>
        </p:nvSpPr>
        <p:spPr>
          <a:xfrm>
            <a:off x="609441" y="4860334"/>
            <a:ext cx="11199971" cy="1015663"/>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Times New Roman" panose="02020603050405020304" pitchFamily="18" charset="0"/>
                <a:cs typeface="Times New Roman" panose="02020603050405020304" pitchFamily="18" charset="0"/>
              </a:rPr>
              <a:t>En este apartado se muestra nuevamente la variación del índice efectivo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con la longitud de onda, para las configuraciones </a:t>
            </a:r>
            <a:r>
              <a:rPr lang="es-ES" sz="1200" dirty="0" err="1">
                <a:latin typeface="Times New Roman" panose="02020603050405020304" pitchFamily="18" charset="0"/>
                <a:cs typeface="Times New Roman" panose="02020603050405020304" pitchFamily="18" charset="0"/>
              </a:rPr>
              <a:t>deep</a:t>
            </a:r>
            <a:r>
              <a:rPr lang="es-ES" sz="1200" dirty="0">
                <a:latin typeface="Times New Roman" panose="02020603050405020304" pitchFamily="18" charset="0"/>
                <a:cs typeface="Times New Roman" panose="02020603050405020304" pitchFamily="18" charset="0"/>
              </a:rPr>
              <a:t> y </a:t>
            </a:r>
            <a:r>
              <a:rPr lang="es-ES" sz="1200" dirty="0" err="1">
                <a:latin typeface="Times New Roman" panose="02020603050405020304" pitchFamily="18" charset="0"/>
                <a:cs typeface="Times New Roman" panose="02020603050405020304" pitchFamily="18" charset="0"/>
              </a:rPr>
              <a:t>shallow</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waveguide</a:t>
            </a:r>
            <a:r>
              <a:rPr lang="es-ES" sz="1200" dirty="0">
                <a:latin typeface="Times New Roman" panose="02020603050405020304" pitchFamily="18" charset="0"/>
                <a:cs typeface="Times New Roman" panose="02020603050405020304" pitchFamily="18" charset="0"/>
              </a:rPr>
              <a:t>, pero en este caso cambiando el material del núcleo a Si.</a:t>
            </a:r>
          </a:p>
          <a:p>
            <a:pPr algn="just"/>
            <a:r>
              <a:rPr lang="es-ES" sz="1200" dirty="0">
                <a:latin typeface="Times New Roman" panose="02020603050405020304" pitchFamily="18" charset="0"/>
                <a:cs typeface="Times New Roman" panose="02020603050405020304" pitchFamily="18" charset="0"/>
              </a:rPr>
              <a:t>Para ambas configuraciones al comparar con las simulaciones anteriores con núcleo de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se observa que el uso de silicio produce valores de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significativamente mayores. Esto se debe a que el índice de refracción del silicio es considerablemente mayor que el del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lo que genera un mayor contraste de índice con el </a:t>
            </a:r>
            <a:r>
              <a:rPr lang="es-ES" sz="1200" dirty="0" err="1">
                <a:latin typeface="Times New Roman" panose="02020603050405020304" pitchFamily="18" charset="0"/>
                <a:cs typeface="Times New Roman" panose="02020603050405020304" pitchFamily="18" charset="0"/>
              </a:rPr>
              <a:t>SiO</a:t>
            </a:r>
            <a:r>
              <a:rPr lang="es-ES" sz="1200" dirty="0">
                <a:latin typeface="Times New Roman" panose="02020603050405020304" pitchFamily="18" charset="0"/>
                <a:cs typeface="Times New Roman" panose="02020603050405020304" pitchFamily="18" charset="0"/>
              </a:rPr>
              <a:t>₂ y por tanto un confinamiento mucho más fuerte del modo en el núcleo.</a:t>
            </a:r>
            <a:endParaRPr lang="es-ES_tradnl" sz="1200" dirty="0">
              <a:latin typeface="Times New Roman" panose="02020603050405020304" pitchFamily="18" charset="0"/>
              <a:cs typeface="Times New Roman" panose="02020603050405020304" pitchFamily="18" charset="0"/>
            </a:endParaRPr>
          </a:p>
        </p:txBody>
      </p:sp>
      <p:sp>
        <p:nvSpPr>
          <p:cNvPr id="5" name="Rectángulo 4">
            <a:extLst>
              <a:ext uri="{FF2B5EF4-FFF2-40B4-BE49-F238E27FC236}">
                <a16:creationId xmlns:a16="http://schemas.microsoft.com/office/drawing/2014/main" id="{88F19863-7091-B8CA-F848-DBEA5CEEA027}"/>
              </a:ext>
            </a:extLst>
          </p:cNvPr>
          <p:cNvSpPr/>
          <p:nvPr/>
        </p:nvSpPr>
        <p:spPr>
          <a:xfrm>
            <a:off x="6094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Rectángulo 6">
            <a:extLst>
              <a:ext uri="{FF2B5EF4-FFF2-40B4-BE49-F238E27FC236}">
                <a16:creationId xmlns:a16="http://schemas.microsoft.com/office/drawing/2014/main" id="{21F754A5-65BC-14A3-5F55-75716FFA9027}"/>
              </a:ext>
            </a:extLst>
          </p:cNvPr>
          <p:cNvSpPr/>
          <p:nvPr/>
        </p:nvSpPr>
        <p:spPr>
          <a:xfrm>
            <a:off x="6476841" y="1418373"/>
            <a:ext cx="53325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CuadroTexto 8">
            <a:extLst>
              <a:ext uri="{FF2B5EF4-FFF2-40B4-BE49-F238E27FC236}">
                <a16:creationId xmlns:a16="http://schemas.microsoft.com/office/drawing/2014/main" id="{8BD4C233-B5D9-B6AA-93A8-CF2F130CFF9C}"/>
              </a:ext>
            </a:extLst>
          </p:cNvPr>
          <p:cNvSpPr txBox="1"/>
          <p:nvPr/>
        </p:nvSpPr>
        <p:spPr>
          <a:xfrm>
            <a:off x="642989" y="4402885"/>
            <a:ext cx="3624211" cy="369332"/>
          </a:xfrm>
          <a:prstGeom prst="rect">
            <a:avLst/>
          </a:prstGeom>
          <a:noFill/>
        </p:spPr>
        <p:txBody>
          <a:bodyPr wrap="square">
            <a:spAutoFit/>
          </a:bodyPr>
          <a:lstStyle/>
          <a:p>
            <a:r>
              <a:rPr lang="en-US" dirty="0"/>
              <a:t>Shallow waveguide for Si core</a:t>
            </a:r>
            <a:endParaRPr lang="es-ES" dirty="0"/>
          </a:p>
        </p:txBody>
      </p:sp>
      <p:sp>
        <p:nvSpPr>
          <p:cNvPr id="4" name="CuadroTexto 3">
            <a:extLst>
              <a:ext uri="{FF2B5EF4-FFF2-40B4-BE49-F238E27FC236}">
                <a16:creationId xmlns:a16="http://schemas.microsoft.com/office/drawing/2014/main" id="{D3CE50E7-8709-F578-5C87-58AE4C47C142}"/>
              </a:ext>
            </a:extLst>
          </p:cNvPr>
          <p:cNvSpPr txBox="1"/>
          <p:nvPr/>
        </p:nvSpPr>
        <p:spPr>
          <a:xfrm>
            <a:off x="6629400" y="4343305"/>
            <a:ext cx="3624211" cy="369332"/>
          </a:xfrm>
          <a:prstGeom prst="rect">
            <a:avLst/>
          </a:prstGeom>
          <a:noFill/>
        </p:spPr>
        <p:txBody>
          <a:bodyPr wrap="square">
            <a:spAutoFit/>
          </a:bodyPr>
          <a:lstStyle/>
          <a:p>
            <a:r>
              <a:rPr lang="en-US" dirty="0"/>
              <a:t>Deep waveguide for Si core</a:t>
            </a:r>
            <a:endParaRPr lang="es-ES" dirty="0"/>
          </a:p>
        </p:txBody>
      </p:sp>
      <p:pic>
        <p:nvPicPr>
          <p:cNvPr id="8" name="Imagen 7" descr="Gráfico&#10;&#10;Descripción generada automáticamente">
            <a:extLst>
              <a:ext uri="{FF2B5EF4-FFF2-40B4-BE49-F238E27FC236}">
                <a16:creationId xmlns:a16="http://schemas.microsoft.com/office/drawing/2014/main" id="{BDFC783C-3F06-D78D-7789-9BD0F19FD7C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612730" y="1518071"/>
            <a:ext cx="5060791" cy="2684897"/>
          </a:xfrm>
          <a:prstGeom prst="rect">
            <a:avLst/>
          </a:prstGeom>
        </p:spPr>
      </p:pic>
      <p:pic>
        <p:nvPicPr>
          <p:cNvPr id="13" name="Imagen 12" descr="Gráfico, Gráfico de líneas&#10;&#10;Descripción generada automáticamente">
            <a:extLst>
              <a:ext uri="{FF2B5EF4-FFF2-40B4-BE49-F238E27FC236}">
                <a16:creationId xmlns:a16="http://schemas.microsoft.com/office/drawing/2014/main" id="{1FF5A13D-B0F9-3BD4-A35F-7D4BA9050B58}"/>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42989" y="1488732"/>
            <a:ext cx="5258733" cy="2813314"/>
          </a:xfrm>
          <a:prstGeom prst="rect">
            <a:avLst/>
          </a:prstGeom>
        </p:spPr>
      </p:pic>
    </p:spTree>
    <p:extLst>
      <p:ext uri="{BB962C8B-B14F-4D97-AF65-F5344CB8AC3E}">
        <p14:creationId xmlns:p14="http://schemas.microsoft.com/office/powerpoint/2010/main" val="212727056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90AC3D-36B7-D786-3825-B4DD6EADD689}"/>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6AA2E789-F7AE-F068-274C-E0F13A22DBCA}"/>
              </a:ext>
            </a:extLst>
          </p:cNvPr>
          <p:cNvSpPr txBox="1">
            <a:spLocks noGrp="1"/>
          </p:cNvSpPr>
          <p:nvPr>
            <p:ph type="title"/>
          </p:nvPr>
        </p:nvSpPr>
        <p:spPr>
          <a:xfrm>
            <a:off x="685800" y="408883"/>
            <a:ext cx="10994410" cy="782265"/>
          </a:xfrm>
          <a:prstGeom prst="rect">
            <a:avLst/>
          </a:prstGeom>
        </p:spPr>
        <p:txBody>
          <a:bodyPr vert="horz" wrap="square" lIns="0" tIns="12700" rIns="0" bIns="0" rtlCol="0">
            <a:spAutoFit/>
          </a:bodyPr>
          <a:lstStyle/>
          <a:p>
            <a:pPr marL="12700">
              <a:lnSpc>
                <a:spcPct val="100000"/>
              </a:lnSpc>
              <a:spcBef>
                <a:spcPts val="100"/>
              </a:spcBef>
            </a:pPr>
            <a:r>
              <a:rPr lang="en-US" sz="2500" dirty="0"/>
              <a:t>Learning outcome #3 – Width dependence. EXTRA.</a:t>
            </a:r>
            <a:br>
              <a:rPr lang="es-ES" sz="2500" spc="-5" dirty="0">
                <a:latin typeface="+mj-lt"/>
                <a:cs typeface="Lucida Sans"/>
              </a:rPr>
            </a:br>
            <a:endParaRPr sz="2500" b="0" dirty="0">
              <a:latin typeface="+mj-lt"/>
              <a:cs typeface="Lucida Sans"/>
            </a:endParaRPr>
          </a:p>
        </p:txBody>
      </p:sp>
      <p:pic>
        <p:nvPicPr>
          <p:cNvPr id="83" name="Gráfico 82">
            <a:extLst>
              <a:ext uri="{FF2B5EF4-FFF2-40B4-BE49-F238E27FC236}">
                <a16:creationId xmlns:a16="http://schemas.microsoft.com/office/drawing/2014/main" id="{3AEAD01B-7604-8009-5694-A556497AEF2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696E3846-1BD2-4F23-48AA-C7AF2A1EE6EB}"/>
              </a:ext>
            </a:extLst>
          </p:cNvPr>
          <p:cNvSpPr>
            <a:spLocks noGrp="1"/>
          </p:cNvSpPr>
          <p:nvPr>
            <p:ph type="sldNum" sz="quarter" idx="7"/>
          </p:nvPr>
        </p:nvSpPr>
        <p:spPr/>
        <p:txBody>
          <a:bodyPr/>
          <a:lstStyle/>
          <a:p>
            <a:fld id="{B6F15528-21DE-4FAA-801E-634DDDAF4B2B}" type="slidenum">
              <a:rPr lang="es-ES" smtClean="0"/>
              <a:t>17</a:t>
            </a:fld>
            <a:endParaRPr lang="es-ES"/>
          </a:p>
        </p:txBody>
      </p:sp>
      <p:sp>
        <p:nvSpPr>
          <p:cNvPr id="3" name="Marcador de pie de página 2">
            <a:extLst>
              <a:ext uri="{FF2B5EF4-FFF2-40B4-BE49-F238E27FC236}">
                <a16:creationId xmlns:a16="http://schemas.microsoft.com/office/drawing/2014/main" id="{E32C0E2B-75B6-4768-A4C7-F165A264DA0B}"/>
              </a:ext>
            </a:extLst>
          </p:cNvPr>
          <p:cNvSpPr>
            <a:spLocks noGrp="1"/>
          </p:cNvSpPr>
          <p:nvPr>
            <p:ph type="ftr" sz="quarter" idx="5"/>
          </p:nvPr>
        </p:nvSpPr>
        <p:spPr/>
        <p:txBody>
          <a:bodyPr/>
          <a:lstStyle/>
          <a:p>
            <a:pPr marL="12700">
              <a:spcBef>
                <a:spcPts val="15"/>
              </a:spcBef>
            </a:pPr>
            <a:r>
              <a:rPr lang="es-ES" spc="-5"/>
              <a:t>LAB 1.0 WAVEGUIDES</a:t>
            </a:r>
          </a:p>
        </p:txBody>
      </p:sp>
      <p:sp>
        <p:nvSpPr>
          <p:cNvPr id="2" name="CuadroTexto 1">
            <a:extLst>
              <a:ext uri="{FF2B5EF4-FFF2-40B4-BE49-F238E27FC236}">
                <a16:creationId xmlns:a16="http://schemas.microsoft.com/office/drawing/2014/main" id="{82A62DD6-5488-72A1-9926-0CAEE59089A9}"/>
              </a:ext>
            </a:extLst>
          </p:cNvPr>
          <p:cNvSpPr txBox="1"/>
          <p:nvPr/>
        </p:nvSpPr>
        <p:spPr>
          <a:xfrm>
            <a:off x="609441" y="4860334"/>
            <a:ext cx="11199971" cy="1200329"/>
          </a:xfrm>
          <a:prstGeom prst="rect">
            <a:avLst/>
          </a:prstGeom>
          <a:solidFill>
            <a:schemeClr val="bg1">
              <a:lumMod val="95000"/>
            </a:schemeClr>
          </a:solidFill>
          <a:ln w="28575">
            <a:solidFill>
              <a:srgbClr val="E0700D"/>
            </a:solidFill>
          </a:ln>
        </p:spPr>
        <p:txBody>
          <a:bodyPr wrap="square" rtlCol="0">
            <a:spAutoFit/>
          </a:bodyPr>
          <a:lstStyle/>
          <a:p>
            <a:pPr algn="just"/>
            <a:r>
              <a:rPr lang="es-ES" sz="1200" dirty="0">
                <a:latin typeface="Times New Roman" panose="02020603050405020304" pitchFamily="18" charset="0"/>
                <a:cs typeface="Times New Roman" panose="02020603050405020304" pitchFamily="18" charset="0"/>
              </a:rPr>
              <a:t>En esta sección se analiza la dependencia del índice efectivo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con el ancho de la guía de onda para la estructura basada en Silicon-</a:t>
            </a:r>
            <a:r>
              <a:rPr lang="es-ES" sz="1200" dirty="0" err="1">
                <a:latin typeface="Times New Roman" panose="02020603050405020304" pitchFamily="18" charset="0"/>
                <a:cs typeface="Times New Roman" panose="02020603050405020304" pitchFamily="18" charset="0"/>
              </a:rPr>
              <a:t>On</a:t>
            </a:r>
            <a:r>
              <a:rPr lang="es-ES" sz="1200" dirty="0">
                <a:latin typeface="Times New Roman" panose="02020603050405020304" pitchFamily="18" charset="0"/>
                <a:cs typeface="Times New Roman" panose="02020603050405020304" pitchFamily="18" charset="0"/>
              </a:rPr>
              <a:t>-</a:t>
            </a:r>
            <a:r>
              <a:rPr lang="es-ES" sz="1200" dirty="0" err="1">
                <a:latin typeface="Times New Roman" panose="02020603050405020304" pitchFamily="18" charset="0"/>
                <a:cs typeface="Times New Roman" panose="02020603050405020304" pitchFamily="18" charset="0"/>
              </a:rPr>
              <a:t>Insulator</a:t>
            </a:r>
            <a:r>
              <a:rPr lang="es-ES" sz="1200" dirty="0">
                <a:latin typeface="Times New Roman" panose="02020603050405020304" pitchFamily="18" charset="0"/>
                <a:cs typeface="Times New Roman" panose="02020603050405020304" pitchFamily="18" charset="0"/>
              </a:rPr>
              <a:t> (SOI). En la figura se muestra el barrido de anchura realizado entre 300 nm y 1 </a:t>
            </a:r>
            <a:r>
              <a:rPr lang="el-GR" sz="1200" dirty="0">
                <a:latin typeface="Times New Roman" panose="02020603050405020304" pitchFamily="18" charset="0"/>
                <a:cs typeface="Times New Roman" panose="02020603050405020304" pitchFamily="18" charset="0"/>
              </a:rPr>
              <a:t>μ</a:t>
            </a:r>
            <a:r>
              <a:rPr lang="es-ES" sz="1200" dirty="0">
                <a:latin typeface="Times New Roman" panose="02020603050405020304" pitchFamily="18" charset="0"/>
                <a:cs typeface="Times New Roman" panose="02020603050405020304" pitchFamily="18" charset="0"/>
              </a:rPr>
              <a:t>m para una longitud de onda fija de 1.55 </a:t>
            </a:r>
            <a:r>
              <a:rPr lang="el-GR" sz="1200" dirty="0">
                <a:latin typeface="Times New Roman" panose="02020603050405020304" pitchFamily="18" charset="0"/>
                <a:cs typeface="Times New Roman" panose="02020603050405020304" pitchFamily="18" charset="0"/>
              </a:rPr>
              <a:t>μ</a:t>
            </a:r>
            <a:r>
              <a:rPr lang="es-ES" sz="1200" dirty="0">
                <a:latin typeface="Times New Roman" panose="02020603050405020304" pitchFamily="18" charset="0"/>
                <a:cs typeface="Times New Roman" panose="02020603050405020304" pitchFamily="18" charset="0"/>
              </a:rPr>
              <a:t>m.</a:t>
            </a:r>
          </a:p>
          <a:p>
            <a:pPr algn="just"/>
            <a:r>
              <a:rPr lang="es-ES" sz="1200" dirty="0">
                <a:latin typeface="Times New Roman" panose="02020603050405020304" pitchFamily="18" charset="0"/>
                <a:cs typeface="Times New Roman" panose="02020603050405020304" pitchFamily="18" charset="0"/>
              </a:rPr>
              <a:t>De forma similar a lo observado anteriormente con el núcleo de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se observa que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aumenta al aumentar el ancho de la guía. Esto se debe a que una guía más ancha permite que el modo óptico esté más confinado dentro del núcleo.</a:t>
            </a:r>
          </a:p>
          <a:p>
            <a:pPr algn="just"/>
            <a:r>
              <a:rPr lang="es-ES" sz="1200" dirty="0">
                <a:latin typeface="Times New Roman" panose="02020603050405020304" pitchFamily="18" charset="0"/>
                <a:cs typeface="Times New Roman" panose="02020603050405020304" pitchFamily="18" charset="0"/>
              </a:rPr>
              <a:t>Sin embargo, en el caso del núcleo de silicio, los valores de </a:t>
            </a:r>
            <a:r>
              <a:rPr lang="es-ES" sz="1200" dirty="0" err="1">
                <a:latin typeface="Times New Roman" panose="02020603050405020304" pitchFamily="18" charset="0"/>
                <a:cs typeface="Times New Roman" panose="02020603050405020304" pitchFamily="18" charset="0"/>
              </a:rPr>
              <a:t>neff</a:t>
            </a:r>
            <a:r>
              <a:rPr lang="es-ES" sz="1200" dirty="0">
                <a:latin typeface="Times New Roman" panose="02020603050405020304" pitchFamily="18" charset="0"/>
                <a:cs typeface="Times New Roman" panose="02020603050405020304" pitchFamily="18" charset="0"/>
              </a:rPr>
              <a:t> son considerablemente mayores que en la estructura basada en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debido al mayor índice de refracción del silicio (≈3.45). Este mayor contraste de índice con el </a:t>
            </a:r>
            <a:r>
              <a:rPr lang="es-ES" sz="1200" dirty="0" err="1">
                <a:latin typeface="Times New Roman" panose="02020603050405020304" pitchFamily="18" charset="0"/>
                <a:cs typeface="Times New Roman" panose="02020603050405020304" pitchFamily="18" charset="0"/>
              </a:rPr>
              <a:t>SiO</a:t>
            </a:r>
            <a:r>
              <a:rPr lang="es-ES" sz="1200" dirty="0">
                <a:latin typeface="Times New Roman" panose="02020603050405020304" pitchFamily="18" charset="0"/>
                <a:cs typeface="Times New Roman" panose="02020603050405020304" pitchFamily="18" charset="0"/>
              </a:rPr>
              <a:t>₂ produce un confinamiento más fuerte del modo y permite que la guía soporte un mayor número de </a:t>
            </a:r>
            <a:r>
              <a:rPr lang="es-ES" sz="1200">
                <a:latin typeface="Times New Roman" panose="02020603050405020304" pitchFamily="18" charset="0"/>
                <a:cs typeface="Times New Roman" panose="02020603050405020304" pitchFamily="18" charset="0"/>
              </a:rPr>
              <a:t>modos guiados.</a:t>
            </a:r>
            <a:endParaRPr lang="es-ES" sz="1200" dirty="0">
              <a:latin typeface="Times New Roman" panose="02020603050405020304" pitchFamily="18" charset="0"/>
              <a:cs typeface="Times New Roman" panose="02020603050405020304" pitchFamily="18" charset="0"/>
            </a:endParaRPr>
          </a:p>
        </p:txBody>
      </p:sp>
      <p:sp>
        <p:nvSpPr>
          <p:cNvPr id="7" name="Rectángulo 6">
            <a:extLst>
              <a:ext uri="{FF2B5EF4-FFF2-40B4-BE49-F238E27FC236}">
                <a16:creationId xmlns:a16="http://schemas.microsoft.com/office/drawing/2014/main" id="{FBC7D187-267A-ADD4-764C-D3820B8ED302}"/>
              </a:ext>
            </a:extLst>
          </p:cNvPr>
          <p:cNvSpPr/>
          <p:nvPr/>
        </p:nvSpPr>
        <p:spPr>
          <a:xfrm>
            <a:off x="609441" y="1418373"/>
            <a:ext cx="11199971" cy="3306028"/>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Imagen 5" descr="Gráfico, Gráfico de líneas&#10;&#10;Descripción generada automáticamente">
            <a:extLst>
              <a:ext uri="{FF2B5EF4-FFF2-40B4-BE49-F238E27FC236}">
                <a16:creationId xmlns:a16="http://schemas.microsoft.com/office/drawing/2014/main" id="{11753C71-607F-2625-0309-C68D89DE665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590800" y="1529634"/>
            <a:ext cx="5887419" cy="3083505"/>
          </a:xfrm>
          <a:prstGeom prst="rect">
            <a:avLst/>
          </a:prstGeom>
        </p:spPr>
      </p:pic>
    </p:spTree>
    <p:extLst>
      <p:ext uri="{BB962C8B-B14F-4D97-AF65-F5344CB8AC3E}">
        <p14:creationId xmlns:p14="http://schemas.microsoft.com/office/powerpoint/2010/main" val="182566127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FBEA1DA-19F0-E4D0-8C51-731CAE2C60ED}"/>
            </a:ext>
          </a:extLst>
        </p:cNvPr>
        <p:cNvGrpSpPr/>
        <p:nvPr/>
      </p:nvGrpSpPr>
      <p:grpSpPr>
        <a:xfrm>
          <a:off x="0" y="0"/>
          <a:ext cx="0" cy="0"/>
          <a:chOff x="0" y="0"/>
          <a:chExt cx="0" cy="0"/>
        </a:xfrm>
      </p:grpSpPr>
      <p:sp>
        <p:nvSpPr>
          <p:cNvPr id="16" name="object 16">
            <a:extLst>
              <a:ext uri="{FF2B5EF4-FFF2-40B4-BE49-F238E27FC236}">
                <a16:creationId xmlns:a16="http://schemas.microsoft.com/office/drawing/2014/main" id="{76A20E75-EEAE-C167-BA10-D952EA370355}"/>
              </a:ext>
            </a:extLst>
          </p:cNvPr>
          <p:cNvSpPr txBox="1">
            <a:spLocks noGrp="1"/>
          </p:cNvSpPr>
          <p:nvPr>
            <p:ph type="title"/>
          </p:nvPr>
        </p:nvSpPr>
        <p:spPr>
          <a:xfrm>
            <a:off x="685800" y="408883"/>
            <a:ext cx="10994410" cy="397545"/>
          </a:xfrm>
          <a:prstGeom prst="rect">
            <a:avLst/>
          </a:prstGeom>
        </p:spPr>
        <p:txBody>
          <a:bodyPr vert="horz" wrap="square" lIns="0" tIns="12700" rIns="0" bIns="0" rtlCol="0">
            <a:spAutoFit/>
          </a:bodyPr>
          <a:lstStyle/>
          <a:p>
            <a:pPr marL="12700">
              <a:lnSpc>
                <a:spcPct val="100000"/>
              </a:lnSpc>
              <a:spcBef>
                <a:spcPts val="100"/>
              </a:spcBef>
            </a:pPr>
            <a:r>
              <a:rPr lang="es-ES" sz="2500" dirty="0" err="1"/>
              <a:t>Learning</a:t>
            </a:r>
            <a:r>
              <a:rPr lang="es-ES" sz="2500" dirty="0"/>
              <a:t> </a:t>
            </a:r>
            <a:r>
              <a:rPr lang="es-ES" sz="2500" dirty="0" err="1"/>
              <a:t>outcome</a:t>
            </a:r>
            <a:r>
              <a:rPr lang="es-ES" sz="2500" dirty="0"/>
              <a:t> #5 – EXTRA</a:t>
            </a:r>
            <a:endParaRPr lang="es-ES" sz="2500" b="0" dirty="0">
              <a:latin typeface="+mj-lt"/>
              <a:cs typeface="Lucida Sans"/>
            </a:endParaRPr>
          </a:p>
        </p:txBody>
      </p:sp>
      <p:pic>
        <p:nvPicPr>
          <p:cNvPr id="83" name="Gráfico 82">
            <a:extLst>
              <a:ext uri="{FF2B5EF4-FFF2-40B4-BE49-F238E27FC236}">
                <a16:creationId xmlns:a16="http://schemas.microsoft.com/office/drawing/2014/main" id="{9D0F6B9F-5869-1248-02F3-2A0AC10932C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045006" y="6356057"/>
            <a:ext cx="6409575" cy="363174"/>
          </a:xfrm>
          <a:prstGeom prst="rect">
            <a:avLst/>
          </a:prstGeom>
        </p:spPr>
      </p:pic>
      <p:sp>
        <p:nvSpPr>
          <p:cNvPr id="84" name="Marcador de número de diapositiva 83">
            <a:extLst>
              <a:ext uri="{FF2B5EF4-FFF2-40B4-BE49-F238E27FC236}">
                <a16:creationId xmlns:a16="http://schemas.microsoft.com/office/drawing/2014/main" id="{2E528A98-69CC-4A73-1835-E1A7A6FD74FF}"/>
              </a:ext>
            </a:extLst>
          </p:cNvPr>
          <p:cNvSpPr>
            <a:spLocks noGrp="1"/>
          </p:cNvSpPr>
          <p:nvPr>
            <p:ph type="sldNum" sz="quarter" idx="7"/>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B6F15528-21DE-4FAA-801E-634DDDAF4B2B}" type="slidenum">
              <a:rPr kumimoji="0" lang="es-ES" sz="1800" b="0" i="0" u="none" strike="noStrike" kern="1200" cap="none" spc="0" normalizeH="0" baseline="0" noProof="0" smtClean="0">
                <a:ln>
                  <a:noFill/>
                </a:ln>
                <a:solidFill>
                  <a:prstClr val="black">
                    <a:tint val="75000"/>
                  </a:prstClr>
                </a:solidFill>
                <a:effectLst/>
                <a:uLnTx/>
                <a:uFillTx/>
                <a:latin typeface="Calibri"/>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s-ES" sz="1800" b="0" i="0" u="none" strike="noStrike" kern="1200" cap="none" spc="0" normalizeH="0" baseline="0" noProof="0" dirty="0">
              <a:ln>
                <a:noFill/>
              </a:ln>
              <a:solidFill>
                <a:prstClr val="black">
                  <a:tint val="75000"/>
                </a:prstClr>
              </a:solidFill>
              <a:effectLst/>
              <a:uLnTx/>
              <a:uFillTx/>
              <a:latin typeface="Calibri"/>
              <a:ea typeface="+mn-ea"/>
              <a:cs typeface="+mn-cs"/>
            </a:endParaRPr>
          </a:p>
        </p:txBody>
      </p:sp>
      <p:sp>
        <p:nvSpPr>
          <p:cNvPr id="3" name="Marcador de pie de página 2">
            <a:extLst>
              <a:ext uri="{FF2B5EF4-FFF2-40B4-BE49-F238E27FC236}">
                <a16:creationId xmlns:a16="http://schemas.microsoft.com/office/drawing/2014/main" id="{D8BC1667-F10B-094B-F165-3029FE2CE0F1}"/>
              </a:ext>
            </a:extLst>
          </p:cNvPr>
          <p:cNvSpPr>
            <a:spLocks noGrp="1"/>
          </p:cNvSpPr>
          <p:nvPr>
            <p:ph type="ftr" sz="quarter" idx="5"/>
          </p:nvPr>
        </p:nvSpPr>
        <p:spPr/>
        <p:txBody>
          <a:bodyPr/>
          <a:lstStyle/>
          <a:p>
            <a:pPr marL="12700" marR="0" lvl="0" indent="0" algn="l" defTabSz="914400" rtl="0" eaLnBrk="1" fontAlgn="auto" latinLnBrk="0" hangingPunct="1">
              <a:lnSpc>
                <a:spcPct val="100000"/>
              </a:lnSpc>
              <a:spcBef>
                <a:spcPts val="15"/>
              </a:spcBef>
              <a:spcAft>
                <a:spcPts val="0"/>
              </a:spcAft>
              <a:buClrTx/>
              <a:buSzTx/>
              <a:buFontTx/>
              <a:buNone/>
              <a:tabLst/>
              <a:defRPr/>
            </a:pPr>
            <a:r>
              <a:rPr kumimoji="0" lang="es-ES" sz="1200" b="0" i="0" u="none" strike="noStrike" kern="1200" cap="none" spc="-5" normalizeH="0" baseline="0" noProof="0" dirty="0">
                <a:ln>
                  <a:noFill/>
                </a:ln>
                <a:solidFill>
                  <a:srgbClr val="585858"/>
                </a:solidFill>
                <a:effectLst/>
                <a:uLnTx/>
                <a:uFillTx/>
                <a:latin typeface="Arial"/>
                <a:ea typeface="+mn-ea"/>
                <a:cs typeface="Arial"/>
              </a:rPr>
              <a:t>LAB 1.0 WAVEGUIDES</a:t>
            </a:r>
          </a:p>
        </p:txBody>
      </p:sp>
      <p:sp>
        <p:nvSpPr>
          <p:cNvPr id="7" name="Rectángulo 6">
            <a:extLst>
              <a:ext uri="{FF2B5EF4-FFF2-40B4-BE49-F238E27FC236}">
                <a16:creationId xmlns:a16="http://schemas.microsoft.com/office/drawing/2014/main" id="{A75159BE-A509-EA50-0B30-1135E3B95D5C}"/>
              </a:ext>
            </a:extLst>
          </p:cNvPr>
          <p:cNvSpPr/>
          <p:nvPr/>
        </p:nvSpPr>
        <p:spPr>
          <a:xfrm>
            <a:off x="609441" y="1418373"/>
            <a:ext cx="3810159" cy="2925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 sz="1800" b="0" i="0" u="none" strike="noStrike" kern="1200" cap="none" spc="0" normalizeH="0" baseline="0" noProof="0" dirty="0">
              <a:ln>
                <a:noFill/>
              </a:ln>
              <a:solidFill>
                <a:prstClr val="white"/>
              </a:solidFill>
              <a:effectLst/>
              <a:uLnTx/>
              <a:uFillTx/>
              <a:latin typeface="Calibri"/>
              <a:ea typeface="+mn-ea"/>
              <a:cs typeface="+mn-cs"/>
            </a:endParaRPr>
          </a:p>
        </p:txBody>
      </p:sp>
      <p:pic>
        <p:nvPicPr>
          <p:cNvPr id="5" name="Imagen 4">
            <a:extLst>
              <a:ext uri="{FF2B5EF4-FFF2-40B4-BE49-F238E27FC236}">
                <a16:creationId xmlns:a16="http://schemas.microsoft.com/office/drawing/2014/main" id="{E98D637C-68F9-5819-A600-B3F4F64683ED}"/>
              </a:ext>
            </a:extLst>
          </p:cNvPr>
          <p:cNvPicPr>
            <a:picLocks noChangeAspect="1"/>
          </p:cNvPicPr>
          <p:nvPr/>
        </p:nvPicPr>
        <p:blipFill>
          <a:blip r:embed="rId5"/>
          <a:stretch>
            <a:fillRect/>
          </a:stretch>
        </p:blipFill>
        <p:spPr>
          <a:xfrm>
            <a:off x="685801" y="1474484"/>
            <a:ext cx="3535394" cy="2792716"/>
          </a:xfrm>
          <a:prstGeom prst="rect">
            <a:avLst/>
          </a:prstGeom>
        </p:spPr>
      </p:pic>
      <p:pic>
        <p:nvPicPr>
          <p:cNvPr id="6" name="Imagen 5">
            <a:extLst>
              <a:ext uri="{FF2B5EF4-FFF2-40B4-BE49-F238E27FC236}">
                <a16:creationId xmlns:a16="http://schemas.microsoft.com/office/drawing/2014/main" id="{E88D61FA-736A-9245-0274-45FE2A1B82D3}"/>
              </a:ext>
            </a:extLst>
          </p:cNvPr>
          <p:cNvPicPr>
            <a:picLocks noChangeAspect="1"/>
          </p:cNvPicPr>
          <p:nvPr/>
        </p:nvPicPr>
        <p:blipFill>
          <a:blip r:embed="rId6"/>
          <a:stretch>
            <a:fillRect/>
          </a:stretch>
        </p:blipFill>
        <p:spPr>
          <a:xfrm>
            <a:off x="4646516" y="1408329"/>
            <a:ext cx="3700826" cy="2858872"/>
          </a:xfrm>
          <a:prstGeom prst="rect">
            <a:avLst/>
          </a:prstGeom>
        </p:spPr>
      </p:pic>
      <p:sp>
        <p:nvSpPr>
          <p:cNvPr id="9" name="Rectángulo 8">
            <a:extLst>
              <a:ext uri="{FF2B5EF4-FFF2-40B4-BE49-F238E27FC236}">
                <a16:creationId xmlns:a16="http://schemas.microsoft.com/office/drawing/2014/main" id="{FBEAC2B7-FEBE-A53F-5888-B22178CEEEF3}"/>
              </a:ext>
            </a:extLst>
          </p:cNvPr>
          <p:cNvSpPr/>
          <p:nvPr/>
        </p:nvSpPr>
        <p:spPr>
          <a:xfrm>
            <a:off x="4648200" y="1408328"/>
            <a:ext cx="3810159" cy="2925027"/>
          </a:xfrm>
          <a:prstGeom prst="rect">
            <a:avLst/>
          </a:prstGeom>
          <a:noFill/>
          <a:ln w="28575">
            <a:solidFill>
              <a:srgbClr val="E0700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s-ES" sz="1800" b="0" i="0" u="none" strike="noStrike" kern="1200" cap="none" spc="0" normalizeH="0" baseline="0" noProof="0" dirty="0">
              <a:ln>
                <a:noFill/>
              </a:ln>
              <a:solidFill>
                <a:prstClr val="white"/>
              </a:solidFill>
              <a:effectLst/>
              <a:uLnTx/>
              <a:uFillTx/>
              <a:latin typeface="Calibri"/>
              <a:ea typeface="+mn-ea"/>
              <a:cs typeface="+mn-cs"/>
            </a:endParaRPr>
          </a:p>
        </p:txBody>
      </p:sp>
      <p:sp>
        <p:nvSpPr>
          <p:cNvPr id="10" name="CuadroTexto 9">
            <a:extLst>
              <a:ext uri="{FF2B5EF4-FFF2-40B4-BE49-F238E27FC236}">
                <a16:creationId xmlns:a16="http://schemas.microsoft.com/office/drawing/2014/main" id="{53410AA9-6E0B-E142-CAD6-A82527391081}"/>
              </a:ext>
            </a:extLst>
          </p:cNvPr>
          <p:cNvSpPr txBox="1"/>
          <p:nvPr/>
        </p:nvSpPr>
        <p:spPr>
          <a:xfrm>
            <a:off x="498424" y="1038996"/>
            <a:ext cx="2059304" cy="369332"/>
          </a:xfrm>
          <a:prstGeom prst="rect">
            <a:avLst/>
          </a:prstGeom>
          <a:noFill/>
        </p:spPr>
        <p:txBody>
          <a:bodyPr wrap="square">
            <a:spAutoFit/>
          </a:bodyPr>
          <a:lstStyle/>
          <a:p>
            <a:r>
              <a:rPr lang="en-US" dirty="0" err="1">
                <a:latin typeface="Times New Roman" panose="02020603050405020304" pitchFamily="18" charset="0"/>
                <a:cs typeface="Times New Roman" panose="02020603050405020304" pitchFamily="18" charset="0"/>
              </a:rPr>
              <a:t>Tecnologia</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SiNx</a:t>
            </a:r>
            <a:endParaRPr lang="es-ES" dirty="0">
              <a:latin typeface="Times New Roman" panose="02020603050405020304" pitchFamily="18" charset="0"/>
              <a:cs typeface="Times New Roman" panose="02020603050405020304" pitchFamily="18" charset="0"/>
            </a:endParaRPr>
          </a:p>
        </p:txBody>
      </p:sp>
      <p:sp>
        <p:nvSpPr>
          <p:cNvPr id="11" name="CuadroTexto 10">
            <a:extLst>
              <a:ext uri="{FF2B5EF4-FFF2-40B4-BE49-F238E27FC236}">
                <a16:creationId xmlns:a16="http://schemas.microsoft.com/office/drawing/2014/main" id="{093EDE06-9AAD-57CD-95E6-98167A7C2E56}"/>
              </a:ext>
            </a:extLst>
          </p:cNvPr>
          <p:cNvSpPr txBox="1"/>
          <p:nvPr/>
        </p:nvSpPr>
        <p:spPr>
          <a:xfrm>
            <a:off x="4646516" y="1037387"/>
            <a:ext cx="2059304" cy="369332"/>
          </a:xfrm>
          <a:prstGeom prst="rect">
            <a:avLst/>
          </a:prstGeom>
          <a:noFill/>
        </p:spPr>
        <p:txBody>
          <a:bodyPr wrap="square">
            <a:spAutoFit/>
          </a:bodyPr>
          <a:lstStyle/>
          <a:p>
            <a:r>
              <a:rPr lang="en-US" dirty="0" err="1">
                <a:latin typeface="Times New Roman" panose="02020603050405020304" pitchFamily="18" charset="0"/>
                <a:cs typeface="Times New Roman" panose="02020603050405020304" pitchFamily="18" charset="0"/>
              </a:rPr>
              <a:t>Tecnologia</a:t>
            </a:r>
            <a:r>
              <a:rPr lang="en-US" dirty="0">
                <a:latin typeface="Times New Roman" panose="02020603050405020304" pitchFamily="18" charset="0"/>
                <a:cs typeface="Times New Roman" panose="02020603050405020304" pitchFamily="18" charset="0"/>
              </a:rPr>
              <a:t> SOI</a:t>
            </a:r>
            <a:endParaRPr lang="es-ES" dirty="0">
              <a:latin typeface="Times New Roman" panose="02020603050405020304" pitchFamily="18" charset="0"/>
              <a:cs typeface="Times New Roman" panose="02020603050405020304" pitchFamily="18" charset="0"/>
            </a:endParaRPr>
          </a:p>
        </p:txBody>
      </p:sp>
      <p:sp>
        <p:nvSpPr>
          <p:cNvPr id="12" name="CuadroTexto 11">
            <a:extLst>
              <a:ext uri="{FF2B5EF4-FFF2-40B4-BE49-F238E27FC236}">
                <a16:creationId xmlns:a16="http://schemas.microsoft.com/office/drawing/2014/main" id="{DC4C4D05-F22D-3C41-A66C-E85373FE21C0}"/>
              </a:ext>
            </a:extLst>
          </p:cNvPr>
          <p:cNvSpPr txBox="1"/>
          <p:nvPr/>
        </p:nvSpPr>
        <p:spPr>
          <a:xfrm>
            <a:off x="609440" y="4427110"/>
            <a:ext cx="11201559" cy="1200329"/>
          </a:xfrm>
          <a:prstGeom prst="rect">
            <a:avLst/>
          </a:prstGeom>
          <a:solidFill>
            <a:schemeClr val="bg1">
              <a:lumMod val="95000"/>
            </a:schemeClr>
          </a:solidFill>
          <a:ln w="28575">
            <a:solidFill>
              <a:srgbClr val="E0700D"/>
            </a:solidFill>
          </a:ln>
        </p:spPr>
        <p:txBody>
          <a:bodyPr wrap="square" rtlCol="0">
            <a:spAutoFit/>
          </a:bodyPr>
          <a:lstStyle/>
          <a:p>
            <a:pPr lvl="0" algn="just"/>
            <a:r>
              <a:rPr lang="es-ES" sz="1200" dirty="0">
                <a:latin typeface="Times New Roman" panose="02020603050405020304" pitchFamily="18" charset="0"/>
                <a:cs typeface="Times New Roman" panose="02020603050405020304" pitchFamily="18" charset="0"/>
              </a:rPr>
              <a:t>Al comparar ambas tecnologías, se observa que para la tecnología </a:t>
            </a:r>
            <a:r>
              <a:rPr lang="es-ES" sz="1200" dirty="0" err="1">
                <a:latin typeface="Times New Roman" panose="02020603050405020304" pitchFamily="18" charset="0"/>
                <a:cs typeface="Times New Roman" panose="02020603050405020304" pitchFamily="18" charset="0"/>
              </a:rPr>
              <a:t>SiNx</a:t>
            </a:r>
            <a:r>
              <a:rPr lang="es-ES" sz="1200" dirty="0">
                <a:latin typeface="Times New Roman" panose="02020603050405020304" pitchFamily="18" charset="0"/>
                <a:cs typeface="Times New Roman" panose="02020603050405020304" pitchFamily="18" charset="0"/>
              </a:rPr>
              <a:t> el </a:t>
            </a:r>
            <a:r>
              <a:rPr lang="es-ES" sz="1200" dirty="0" err="1">
                <a:latin typeface="Times New Roman" panose="02020603050405020304" pitchFamily="18" charset="0"/>
                <a:cs typeface="Times New Roman" panose="02020603050405020304" pitchFamily="18" charset="0"/>
              </a:rPr>
              <a:t>safe</a:t>
            </a:r>
            <a:r>
              <a:rPr lang="es-ES" sz="1200" dirty="0">
                <a:latin typeface="Times New Roman" panose="02020603050405020304" pitchFamily="18" charset="0"/>
                <a:cs typeface="Times New Roman" panose="02020603050405020304" pitchFamily="18" charset="0"/>
              </a:rPr>
              <a:t> </a:t>
            </a:r>
            <a:r>
              <a:rPr lang="es-ES" sz="1200" dirty="0" err="1">
                <a:latin typeface="Times New Roman" panose="02020603050405020304" pitchFamily="18" charset="0"/>
                <a:cs typeface="Times New Roman" panose="02020603050405020304" pitchFamily="18" charset="0"/>
              </a:rPr>
              <a:t>radius</a:t>
            </a:r>
            <a:r>
              <a:rPr lang="es-ES" sz="1200" dirty="0">
                <a:latin typeface="Times New Roman" panose="02020603050405020304" pitchFamily="18" charset="0"/>
                <a:cs typeface="Times New Roman" panose="02020603050405020304" pitchFamily="18" charset="0"/>
              </a:rPr>
              <a:t> obtenido era aproximadamente 31 </a:t>
            </a:r>
            <a:r>
              <a:rPr lang="es-ES" sz="1200" dirty="0" err="1">
                <a:latin typeface="Times New Roman" panose="02020603050405020304" pitchFamily="18" charset="0"/>
                <a:cs typeface="Times New Roman" panose="02020603050405020304" pitchFamily="18" charset="0"/>
              </a:rPr>
              <a:t>μm</a:t>
            </a:r>
            <a:r>
              <a:rPr lang="es-ES" sz="1200" dirty="0">
                <a:latin typeface="Times New Roman" panose="02020603050405020304" pitchFamily="18" charset="0"/>
                <a:cs typeface="Times New Roman" panose="02020603050405020304" pitchFamily="18" charset="0"/>
              </a:rPr>
              <a:t>, mientras que al utilizar silicio como material del núcleo (tecnología SOI) el máximo de pérdidas observado es de aproximadamente 0.014 dB/90°, valor muy inferior al límite de 0.1 dB/90° considerado como seguro. Esto indica que incluso para radios de curvatura cercanos a 5 </a:t>
            </a:r>
            <a:r>
              <a:rPr lang="es-ES" sz="1200" dirty="0" err="1">
                <a:latin typeface="Times New Roman" panose="02020603050405020304" pitchFamily="18" charset="0"/>
                <a:cs typeface="Times New Roman" panose="02020603050405020304" pitchFamily="18" charset="0"/>
              </a:rPr>
              <a:t>μm</a:t>
            </a:r>
            <a:r>
              <a:rPr lang="es-ES" sz="1200" dirty="0">
                <a:latin typeface="Times New Roman" panose="02020603050405020304" pitchFamily="18" charset="0"/>
                <a:cs typeface="Times New Roman" panose="02020603050405020304" pitchFamily="18" charset="0"/>
              </a:rPr>
              <a:t>, las pérdidas introducidas por el </a:t>
            </a:r>
            <a:r>
              <a:rPr lang="es-ES" sz="1200" dirty="0" err="1">
                <a:latin typeface="Times New Roman" panose="02020603050405020304" pitchFamily="18" charset="0"/>
                <a:cs typeface="Times New Roman" panose="02020603050405020304" pitchFamily="18" charset="0"/>
              </a:rPr>
              <a:t>bend</a:t>
            </a:r>
            <a:r>
              <a:rPr lang="es-ES" sz="1200" dirty="0">
                <a:latin typeface="Times New Roman" panose="02020603050405020304" pitchFamily="18" charset="0"/>
                <a:cs typeface="Times New Roman" panose="02020603050405020304" pitchFamily="18" charset="0"/>
              </a:rPr>
              <a:t> son prácticamente despreciables. Este comportamiento se debe a que el silicio presenta un índice de refracción mucho mayor que el </a:t>
            </a:r>
            <a:r>
              <a:rPr lang="es-ES" sz="1200" dirty="0" err="1">
                <a:latin typeface="Times New Roman" panose="02020603050405020304" pitchFamily="18" charset="0"/>
                <a:cs typeface="Times New Roman" panose="02020603050405020304" pitchFamily="18" charset="0"/>
              </a:rPr>
              <a:t>SiN</a:t>
            </a:r>
            <a:r>
              <a:rPr lang="es-ES" sz="1200" dirty="0">
                <a:latin typeface="Times New Roman" panose="02020603050405020304" pitchFamily="18" charset="0"/>
                <a:cs typeface="Times New Roman" panose="02020603050405020304" pitchFamily="18" charset="0"/>
              </a:rPr>
              <a:t>, lo que genera un mayor contraste de índice entre el núcleo y la cubierta de </a:t>
            </a:r>
            <a:r>
              <a:rPr lang="es-ES" sz="1200" dirty="0" err="1">
                <a:latin typeface="Times New Roman" panose="02020603050405020304" pitchFamily="18" charset="0"/>
                <a:cs typeface="Times New Roman" panose="02020603050405020304" pitchFamily="18" charset="0"/>
              </a:rPr>
              <a:t>SiO</a:t>
            </a:r>
            <a:r>
              <a:rPr lang="es-ES" sz="1200" dirty="0">
                <a:latin typeface="Times New Roman" panose="02020603050405020304" pitchFamily="18" charset="0"/>
                <a:cs typeface="Times New Roman" panose="02020603050405020304" pitchFamily="18" charset="0"/>
              </a:rPr>
              <a:t>₂. Como consecuencia, el modo óptico queda más confinado dentro del núcleo y se reduce la radiación del campo hacia el exterior, permitiendo utilizar radios de curvatura significativamente menores sin introducir pérdidas importantes.</a:t>
            </a:r>
            <a:endParaRPr kumimoji="0" lang="es-ES" sz="1200" i="0" u="none" strike="noStrike" kern="1200" cap="none" spc="0" normalizeH="0" baseline="0" noProof="0" dirty="0">
              <a:ln>
                <a:noFill/>
              </a:ln>
              <a:solidFill>
                <a:prstClr val="black"/>
              </a:solidFill>
              <a:effectLst/>
              <a:uLnTx/>
              <a:uFillTx/>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3606628269"/>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object 3"/>
          <p:cNvSpPr/>
          <p:nvPr/>
        </p:nvSpPr>
        <p:spPr>
          <a:xfrm>
            <a:off x="3945635" y="2636520"/>
            <a:ext cx="8246363" cy="1584959"/>
          </a:xfrm>
          <a:prstGeom prst="rect">
            <a:avLst/>
          </a:prstGeom>
          <a:blipFill>
            <a:blip r:embed="rId2" cstate="print"/>
            <a:stretch>
              <a:fillRect/>
            </a:stretch>
          </a:blipFill>
        </p:spPr>
        <p:txBody>
          <a:bodyPr wrap="square" lIns="0" tIns="0" rIns="0" bIns="0" rtlCol="0"/>
          <a:lstStyle/>
          <a:p>
            <a:endParaRPr/>
          </a:p>
        </p:txBody>
      </p:sp>
      <p:sp>
        <p:nvSpPr>
          <p:cNvPr id="4" name="object 4"/>
          <p:cNvSpPr txBox="1">
            <a:spLocks noGrp="1"/>
          </p:cNvSpPr>
          <p:nvPr>
            <p:ph type="title"/>
          </p:nvPr>
        </p:nvSpPr>
        <p:spPr>
          <a:xfrm>
            <a:off x="4513326" y="3165729"/>
            <a:ext cx="2233295" cy="513715"/>
          </a:xfrm>
          <a:prstGeom prst="rect">
            <a:avLst/>
          </a:prstGeom>
        </p:spPr>
        <p:txBody>
          <a:bodyPr vert="horz" wrap="square" lIns="0" tIns="13335" rIns="0" bIns="0" rtlCol="0">
            <a:spAutoFit/>
          </a:bodyPr>
          <a:lstStyle/>
          <a:p>
            <a:pPr marL="12700">
              <a:lnSpc>
                <a:spcPct val="100000"/>
              </a:lnSpc>
              <a:spcBef>
                <a:spcPts val="105"/>
              </a:spcBef>
            </a:pPr>
            <a:r>
              <a:rPr sz="3200" b="1" spc="-5">
                <a:solidFill>
                  <a:srgbClr val="FFFFFF"/>
                </a:solidFill>
                <a:latin typeface="Lucida Sans"/>
                <a:cs typeface="Lucida Sans"/>
              </a:rPr>
              <a:t>Thank</a:t>
            </a:r>
            <a:r>
              <a:rPr sz="3200" b="1" spc="-55">
                <a:solidFill>
                  <a:srgbClr val="FFFFFF"/>
                </a:solidFill>
                <a:latin typeface="Lucida Sans"/>
                <a:cs typeface="Lucida Sans"/>
              </a:rPr>
              <a:t> </a:t>
            </a:r>
            <a:r>
              <a:rPr sz="3200" b="1">
                <a:solidFill>
                  <a:srgbClr val="FFFFFF"/>
                </a:solidFill>
                <a:latin typeface="Lucida Sans"/>
                <a:cs typeface="Lucida Sans"/>
              </a:rPr>
              <a:t>you</a:t>
            </a:r>
            <a:endParaRPr sz="3200">
              <a:latin typeface="Lucida Sans"/>
              <a:cs typeface="Lucida Sans"/>
            </a:endParaRPr>
          </a:p>
        </p:txBody>
      </p:sp>
      <p:sp>
        <p:nvSpPr>
          <p:cNvPr id="5" name="Marcador de número de diapositiva 4">
            <a:extLst>
              <a:ext uri="{FF2B5EF4-FFF2-40B4-BE49-F238E27FC236}">
                <a16:creationId xmlns:a16="http://schemas.microsoft.com/office/drawing/2014/main" id="{B052DA19-AD24-7D24-2AE9-51F8F5A7F5E0}"/>
              </a:ext>
            </a:extLst>
          </p:cNvPr>
          <p:cNvSpPr>
            <a:spLocks noGrp="1"/>
          </p:cNvSpPr>
          <p:nvPr>
            <p:ph type="sldNum" sz="quarter" idx="7"/>
          </p:nvPr>
        </p:nvSpPr>
        <p:spPr/>
        <p:txBody>
          <a:bodyPr/>
          <a:lstStyle/>
          <a:p>
            <a:fld id="{B6F15528-21DE-4FAA-801E-634DDDAF4B2B}" type="slidenum">
              <a:rPr lang="es-ES" smtClean="0"/>
              <a:t>19</a:t>
            </a:fld>
            <a:endParaRPr lang="es-E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00"/>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14599</TotalTime>
  <Words>2910</Words>
  <Application>Microsoft Office PowerPoint</Application>
  <PresentationFormat>Panorámica</PresentationFormat>
  <Paragraphs>164</Paragraphs>
  <Slides>19</Slides>
  <Notes>16</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19</vt:i4>
      </vt:variant>
    </vt:vector>
  </HeadingPairs>
  <TitlesOfParts>
    <vt:vector size="26" baseType="lpstr">
      <vt:lpstr>Aptos</vt:lpstr>
      <vt:lpstr>Arial</vt:lpstr>
      <vt:lpstr>Calibri</vt:lpstr>
      <vt:lpstr>Lucida Sans</vt:lpstr>
      <vt:lpstr>Times New Roman</vt:lpstr>
      <vt:lpstr>Wingdings</vt:lpstr>
      <vt:lpstr>Office Theme</vt:lpstr>
      <vt:lpstr>Presentación de PowerPoint</vt:lpstr>
      <vt:lpstr>Instructions General</vt:lpstr>
      <vt:lpstr>Learning outcome #1 – Effective index of a waveguide </vt:lpstr>
      <vt:lpstr>Índice de refracción de los materiales silicon (Si), silicon nitride (SiNx) and silicon dioxide (SiO2)</vt:lpstr>
      <vt:lpstr>Índice de refracción de los materiales silicon (Si), silicon nitride (SiNx) and silicon dioxide (SiO2)</vt:lpstr>
      <vt:lpstr>Definición de la Cross-Section Wavelength 1.55 µm – width 1.2 µm - height 300 nm</vt:lpstr>
      <vt:lpstr>Simulaciones – Resultados numéricos Neff y modos TE y TM para la sección cruzada de la guía deep</vt:lpstr>
      <vt:lpstr>Field Plots  </vt:lpstr>
      <vt:lpstr>Learning outcome #2 – Wavelength behavior Wavelength 1.5-1.6 µm (step 0.01 µm) – width 1.2 µm</vt:lpstr>
      <vt:lpstr>Learning outcome #3 – Width dependence Width 0.6 - 1.6 µm (step 0.1 µm) – Wavelength 1.55 µm </vt:lpstr>
      <vt:lpstr>Learning outcome #4 – Waveguide compact model - Find the compact models of the following waveguides:  Deep waveguide, h=300nm, w=1.2um </vt:lpstr>
      <vt:lpstr>Learning outcome #4 – Waveguide compact model - Find the compact models of the following waveguides:  Shallow waveguide, core h=300nm, slab h=150 nm, w = 1.2um  </vt:lpstr>
      <vt:lpstr>Learning outcome #5 – Bend waveguide radius vs. loss – deep Find  neff_TE0 for wvl 1.55 µm, width 1.2 µm for R=25,50,75,100, 125,150 µm </vt:lpstr>
      <vt:lpstr>Learning outcome #5 – Bend waveguide radius vs. loss – deep Find  neff_TE0 for wvl 1.55 µm, width 1.2 µm for R=25,50,75,100, 125,150 µm </vt:lpstr>
      <vt:lpstr>Parte Extra  </vt:lpstr>
      <vt:lpstr>Learning outcome #2 – Wavelength behavior. EXTRA. </vt:lpstr>
      <vt:lpstr>Learning outcome #3 – Width dependence. EXTRA. </vt:lpstr>
      <vt:lpstr>Learning outcome #5 – EXTRA</vt:lpstr>
      <vt:lpstr>Thank you</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creator>Mª Ester Calataytud</dc:creator>
  <cp:lastModifiedBy>Miranda Gimenez Ferrando</cp:lastModifiedBy>
  <cp:revision>30</cp:revision>
  <dcterms:created xsi:type="dcterms:W3CDTF">2025-01-27T02:46:57Z</dcterms:created>
  <dcterms:modified xsi:type="dcterms:W3CDTF">2026-03-13T19:54:09Z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eated">
    <vt:filetime>2024-09-16T00:00:00Z</vt:filetime>
  </property>
  <property fmtid="{D5CDD505-2E9C-101B-9397-08002B2CF9AE}" pid="3" name="Creator">
    <vt:lpwstr>Microsoft® PowerPoint® 2016</vt:lpwstr>
  </property>
  <property fmtid="{D5CDD505-2E9C-101B-9397-08002B2CF9AE}" pid="4" name="LastSaved">
    <vt:filetime>2025-01-27T00:00:00Z</vt:filetime>
  </property>
</Properties>
</file>